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72" r:id="rId2"/>
    <p:sldId id="310" r:id="rId3"/>
    <p:sldId id="311" r:id="rId4"/>
    <p:sldId id="320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95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9608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(c)www.revisecomputerscience.com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-1" y="9429750"/>
            <a:ext cx="5837237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***Single User Licence: Do Not Redistribute / Do Not Share Online***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65836" y="9429750"/>
            <a:ext cx="730251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B6002-47FB-4F16-92AE-F4D25294A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78608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(c)www.revisecomputerscience.com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C2631-AC97-4A73-A4D6-CCA7F3D957B9}" type="datetimeFigureOut">
              <a:rPr lang="en-GB" smtClean="0"/>
              <a:pPr/>
              <a:t>14/02/2024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***Single User Licence: Do Not Redistribute / Do Not Share Online***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90A5-5373-421F-B283-144185A24A0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04182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Google Shape;94;p13">
            <a:extLst>
              <a:ext uri="{FF2B5EF4-FFF2-40B4-BE49-F238E27FC236}">
                <a16:creationId xmlns:a16="http://schemas.microsoft.com/office/drawing/2014/main" id="{D6A18AFF-3125-0CDB-2F3D-9BA0F0DDCD1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30001" y="6139808"/>
            <a:ext cx="761999" cy="7181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8080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ew lear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1" y="0"/>
            <a:ext cx="12170063" cy="707090"/>
          </a:xfrm>
        </p:spPr>
        <p:txBody>
          <a:bodyPr/>
          <a:lstStyle/>
          <a:p>
            <a:r>
              <a:rPr lang="en-US" dirty="0"/>
              <a:t>New Learning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1026" name="Picture 2" descr="Learn With Us - Education For Health">
            <a:extLst>
              <a:ext uri="{FF2B5EF4-FFF2-40B4-BE49-F238E27FC236}">
                <a16:creationId xmlns:a16="http://schemas.microsoft.com/office/drawing/2014/main" id="{DC9BA3BD-5F77-39C2-CD60-492C56DC8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914" y="6042992"/>
            <a:ext cx="882525" cy="81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8410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Google Shape;96;p13">
            <a:extLst>
              <a:ext uri="{FF2B5EF4-FFF2-40B4-BE49-F238E27FC236}">
                <a16:creationId xmlns:a16="http://schemas.microsoft.com/office/drawing/2014/main" id="{3CD39AEA-E6D8-A262-199F-1B69404E055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61036" y="6042992"/>
            <a:ext cx="930965" cy="808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21605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050" name="Picture 2" descr="Key Sign」のベクター画像素材（ロイヤリティフリー） 217761721 | Shutterstock">
            <a:extLst>
              <a:ext uri="{FF2B5EF4-FFF2-40B4-BE49-F238E27FC236}">
                <a16:creationId xmlns:a16="http://schemas.microsoft.com/office/drawing/2014/main" id="{61833609-BCDA-A217-B513-26986A225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" t="16740" r="32039" b="23447"/>
          <a:stretch/>
        </p:blipFill>
        <p:spPr bwMode="auto">
          <a:xfrm>
            <a:off x="11235206" y="6109992"/>
            <a:ext cx="867343" cy="71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9066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ass 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Class discussion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Google Shape;90;p13">
            <a:extLst>
              <a:ext uri="{FF2B5EF4-FFF2-40B4-BE49-F238E27FC236}">
                <a16:creationId xmlns:a16="http://schemas.microsoft.com/office/drawing/2014/main" id="{670D3846-D8E9-2152-2CAD-1B4DAD6CA5D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39330" y="6142383"/>
            <a:ext cx="652671" cy="5926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0671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0867-0509-DA7D-2F91-896FBE307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Question</a:t>
            </a:r>
          </a:p>
        </p:txBody>
      </p:sp>
      <p:pic>
        <p:nvPicPr>
          <p:cNvPr id="6" name="Picture 5" descr="A blue question mark in a circle&#10;&#10;Description automatically generated">
            <a:extLst>
              <a:ext uri="{FF2B5EF4-FFF2-40B4-BE49-F238E27FC236}">
                <a16:creationId xmlns:a16="http://schemas.microsoft.com/office/drawing/2014/main" id="{24FAB632-E54C-6879-7B79-019C400FC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0" y="6099106"/>
            <a:ext cx="8636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850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Must know for exam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Google Shape;93;p13">
            <a:extLst>
              <a:ext uri="{FF2B5EF4-FFF2-40B4-BE49-F238E27FC236}">
                <a16:creationId xmlns:a16="http://schemas.microsoft.com/office/drawing/2014/main" id="{ED4A99D5-8043-6E8B-DC07-CFE3AB0F56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01400" y="6056356"/>
            <a:ext cx="854765" cy="7181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301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>
            <a:lvl1pPr>
              <a:defRPr>
                <a:solidFill>
                  <a:srgbClr val="1D1954"/>
                </a:solidFill>
              </a:defRPr>
            </a:lvl1pPr>
          </a:lstStyle>
          <a:p>
            <a:r>
              <a:rPr lang="en-US" dirty="0"/>
              <a:t>Activity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52089B-B04A-4638-9916-CB14FE9571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Google Shape;101;p13">
            <a:extLst>
              <a:ext uri="{FF2B5EF4-FFF2-40B4-BE49-F238E27FC236}">
                <a16:creationId xmlns:a16="http://schemas.microsoft.com/office/drawing/2014/main" id="{C1D1E344-44C0-789D-4B0D-32CCAF9E0D3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0306" y="6042994"/>
            <a:ext cx="626167" cy="685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5184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Video</a:t>
            </a:r>
          </a:p>
        </p:txBody>
      </p:sp>
      <p:pic>
        <p:nvPicPr>
          <p:cNvPr id="3" name="Google Shape;99;p13">
            <a:extLst>
              <a:ext uri="{FF2B5EF4-FFF2-40B4-BE49-F238E27FC236}">
                <a16:creationId xmlns:a16="http://schemas.microsoft.com/office/drawing/2014/main" id="{A522B0E8-5D8D-17B2-0C9F-EC58E1635A9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06810" y="6142383"/>
            <a:ext cx="679175" cy="608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9303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Answers</a:t>
            </a:r>
          </a:p>
        </p:txBody>
      </p:sp>
      <p:pic>
        <p:nvPicPr>
          <p:cNvPr id="4" name="Google Shape;86;p13">
            <a:extLst>
              <a:ext uri="{FF2B5EF4-FFF2-40B4-BE49-F238E27FC236}">
                <a16:creationId xmlns:a16="http://schemas.microsoft.com/office/drawing/2014/main" id="{577181C9-7E31-FBD3-345D-CBB062B90C2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41158" y="6065924"/>
            <a:ext cx="950844" cy="7181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52089B-B04A-4638-9916-CB14FE9571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6387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Check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52089B-B04A-4638-9916-CB14FE9571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Google Shape;89;p13">
            <a:extLst>
              <a:ext uri="{FF2B5EF4-FFF2-40B4-BE49-F238E27FC236}">
                <a16:creationId xmlns:a16="http://schemas.microsoft.com/office/drawing/2014/main" id="{6D3F05F6-96FF-B05A-C29E-B222F7F076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40548" y="6042992"/>
            <a:ext cx="715619" cy="723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13254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orer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Explorer Task</a:t>
            </a:r>
          </a:p>
        </p:txBody>
      </p:sp>
      <p:pic>
        <p:nvPicPr>
          <p:cNvPr id="3" name="Google Shape;92;p13">
            <a:extLst>
              <a:ext uri="{FF2B5EF4-FFF2-40B4-BE49-F238E27FC236}">
                <a16:creationId xmlns:a16="http://schemas.microsoft.com/office/drawing/2014/main" id="{602FCCA0-8FB4-6064-616C-ED21A260A1B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70366" y="6063500"/>
            <a:ext cx="725556" cy="7181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3B14A-C8D9-D540-222F-1E2217130B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805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ked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Worked Example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3B14A-C8D9-D540-222F-1E2217130B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748" y="1020159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Google Shape;100;p13">
            <a:extLst>
              <a:ext uri="{FF2B5EF4-FFF2-40B4-BE49-F238E27FC236}">
                <a16:creationId xmlns:a16="http://schemas.microsoft.com/office/drawing/2014/main" id="{A9315629-EA44-C630-2FCF-1765E76CA2B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19452" y="6042992"/>
            <a:ext cx="672549" cy="7195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2495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it tic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3B14A-C8D9-D540-222F-1E2217130B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063" y="1030097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Google Shape;91;p13">
            <a:extLst>
              <a:ext uri="{FF2B5EF4-FFF2-40B4-BE49-F238E27FC236}">
                <a16:creationId xmlns:a16="http://schemas.microsoft.com/office/drawing/2014/main" id="{479F79D8-9BC3-A7AF-BB53-D56DB58840B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70366" y="6052933"/>
            <a:ext cx="576468" cy="731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8665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plugg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718191"/>
          </a:xfrm>
        </p:spPr>
        <p:txBody>
          <a:bodyPr/>
          <a:lstStyle/>
          <a:p>
            <a:r>
              <a:rPr lang="en-US" dirty="0"/>
              <a:t>Unplugged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3B14A-C8D9-D540-222F-1E2217130B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063" y="1030097"/>
            <a:ext cx="11449879" cy="502283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6" name="Google Shape;98;p13">
            <a:extLst>
              <a:ext uri="{FF2B5EF4-FFF2-40B4-BE49-F238E27FC236}">
                <a16:creationId xmlns:a16="http://schemas.microsoft.com/office/drawing/2014/main" id="{56C5835A-D76E-C20A-4BFD-EB65631059E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39939" y="6152323"/>
            <a:ext cx="576471" cy="614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87129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195388"/>
            <a:ext cx="10972800" cy="863600"/>
          </a:xfrm>
          <a:prstGeom prst="rect">
            <a:avLst/>
          </a:prstGeom>
        </p:spPr>
        <p:txBody>
          <a:bodyPr/>
          <a:lstStyle>
            <a:lvl1pPr>
              <a:defRPr sz="2250"/>
            </a:lvl1pPr>
          </a:lstStyle>
          <a:p>
            <a:r>
              <a:rPr lang="en-GB" altLang="en-US"/>
              <a:t>Click to edit Master title style</a:t>
            </a:r>
            <a:endParaRPr lang="en-GB" alt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912286" y="2195516"/>
            <a:ext cx="10655300" cy="3609975"/>
          </a:xfrm>
          <a:prstGeom prst="rect">
            <a:avLst/>
          </a:prstGeo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buFont typeface="Arial" panose="020B0604020202020204" pitchFamily="34" charset="0"/>
              <a:buChar char="•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3B48A3A-8B16-22BC-BD74-354DA9C4A8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27158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B379-D225-FE13-2927-BEF3556AF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7E7A0-247C-76E2-2A2E-FFBF46A8A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6689-3BFD-90C4-550D-B55E31C7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F4A2-D376-1641-9074-03696C50FF19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F5BA2-2ECA-FA7C-A46A-58BA32C24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BEE1A-AC15-91EC-B0CD-7DC8062CC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A91CA-63A1-2E45-9916-D638317EB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358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50A1-4A4A-34A7-9E45-C7AC3876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2997-E99A-1529-ED0E-7908AC659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32640-9121-B03D-FA8E-F38076A4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F4A2-D376-1641-9074-03696C50FF19}" type="datetimeFigureOut">
              <a:rPr lang="en-GB" smtClean="0"/>
              <a:t>14/02/2024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0E507-7A3D-8810-09AD-2D736E0E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DED31-EEF2-A407-5EAE-A8ED7A42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A91CA-63A1-2E45-9916-D638317EB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26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DD4C1-08CF-4774-F2A2-BE24C606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" y="5177"/>
            <a:ext cx="12188687" cy="68103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6B0E9-B015-A0F2-1C6C-784CA336B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425" y="1020554"/>
            <a:ext cx="11615531" cy="4813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FD39F-F7B2-62B8-0499-0F1CE6031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3756" y="64060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A91CA-63A1-2E45-9916-D638317EB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6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fontAlgn="t">
              <a:buNone/>
            </a:pPr>
            <a:endParaRPr lang="en-GB" b="1" dirty="0"/>
          </a:p>
          <a:p>
            <a:pPr>
              <a:tabLst>
                <a:tab pos="457200" algn="l"/>
              </a:tabLst>
            </a:pPr>
            <a:r>
              <a:rPr lang="en-GB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 truth tables for a given logic statement (AND, OR NOT)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</a:tabLst>
            </a:pPr>
            <a:r>
              <a:rPr lang="en-GB" dirty="0"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Produce logic statements for a given problem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fontAlgn="t">
              <a:buNone/>
            </a:pPr>
            <a:endParaRPr lang="en-GB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669348"/>
              </p:ext>
            </p:extLst>
          </p:nvPr>
        </p:nvGraphicFramePr>
        <p:xfrm>
          <a:off x="1752600" y="2568916"/>
          <a:ext cx="8534400" cy="25364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2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2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55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Literacy – Key Words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42"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dk1"/>
                          </a:solidFill>
                          <a:effectLst/>
                        </a:rPr>
                        <a:t>Binary Logic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</a:rPr>
                        <a:t>Also known as Boolean Logic, it is the process of reducing values to either True or False, in order to perform calculations.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42"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dk1"/>
                          </a:solidFill>
                          <a:effectLst/>
                        </a:rPr>
                        <a:t>Logic Gate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</a:rPr>
                        <a:t>A logic gate is a building block of the digital circuitry found in a CPU. It performs a logical operation on the inputs it receives.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42"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dk1"/>
                          </a:solidFill>
                          <a:effectLst/>
                        </a:rPr>
                        <a:t>Truth Table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</a:rPr>
                        <a:t>A table showing all possible outputs from the various combinations of inputs that a gate can be supplied with.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66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D966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3600" dirty="0"/>
              <a:t>What is Logic? What is Binary Logic?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772885"/>
            <a:ext cx="11506200" cy="3701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050" dirty="0"/>
          </a:p>
          <a:p>
            <a:r>
              <a:rPr lang="en-GB" sz="1600" dirty="0"/>
              <a:t>Human logic works with rules / facts / statements which are either </a:t>
            </a:r>
            <a:r>
              <a:rPr lang="en-GB" sz="1600" b="1" dirty="0"/>
              <a:t>True</a:t>
            </a:r>
            <a:r>
              <a:rPr lang="en-GB" sz="1600" dirty="0"/>
              <a:t> or </a:t>
            </a:r>
            <a:r>
              <a:rPr lang="en-GB" sz="1600" b="1" dirty="0"/>
              <a:t>False</a:t>
            </a:r>
            <a:r>
              <a:rPr lang="en-GB" sz="1600" dirty="0"/>
              <a:t>.</a:t>
            </a:r>
          </a:p>
          <a:p>
            <a:endParaRPr lang="en-GB" sz="1600" dirty="0"/>
          </a:p>
          <a:p>
            <a:r>
              <a:rPr lang="en-GB" sz="1600" dirty="0"/>
              <a:t>Computers have been designed to do the same.</a:t>
            </a:r>
          </a:p>
          <a:p>
            <a:endParaRPr lang="en-GB" sz="1600" dirty="0"/>
          </a:p>
          <a:p>
            <a:r>
              <a:rPr lang="en-GB" sz="1600" dirty="0"/>
              <a:t>Binary logic is what a CPU uses to make decisions based on the inputs it receives.</a:t>
            </a:r>
          </a:p>
          <a:p>
            <a:endParaRPr lang="en-GB" sz="1600" dirty="0"/>
          </a:p>
          <a:p>
            <a:r>
              <a:rPr lang="en-GB" sz="1600" dirty="0"/>
              <a:t>The CPU (like us) will take inputs which may be true or false (1 or 0) and make a decision which will produce a particular output.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3124200"/>
            <a:ext cx="10293672" cy="253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5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70063" cy="707090"/>
          </a:xfrm>
          <a:solidFill>
            <a:srgbClr val="FFD966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Binary Logic gates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152400" y="743876"/>
            <a:ext cx="11963400" cy="5022835"/>
          </a:xfr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Electronics engineers have developed components that can carry out the AND, OR and NOT logic operations. The are made up of transistor switches arranged in particular ways.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84C949-2537-3151-B7A3-2F1AA3143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286509"/>
              </p:ext>
            </p:extLst>
          </p:nvPr>
        </p:nvGraphicFramePr>
        <p:xfrm>
          <a:off x="304800" y="1600200"/>
          <a:ext cx="1158240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826417236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3194645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88162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The NOT gate produces an output which is the reverse of the input.</a:t>
                      </a:r>
                    </a:p>
                    <a:p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Q = NOT A </a:t>
                      </a:r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721753"/>
                  </a:ext>
                </a:extLst>
              </a:tr>
              <a:tr h="1256538">
                <a:tc>
                  <a:txBody>
                    <a:bodyPr/>
                    <a:lstStyle/>
                    <a:p>
                      <a:pPr marL="0" marR="0" lvl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The rule for this gate is that if both A and B are True then the output is also True, otherwise it is False. </a:t>
                      </a:r>
                    </a:p>
                    <a:p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Q = A AND B</a:t>
                      </a:r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15238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800" dirty="0"/>
                        <a:t>The rule for this gate is that if </a:t>
                      </a:r>
                      <a:r>
                        <a:rPr lang="en-GB" sz="1800" b="1" dirty="0"/>
                        <a:t>either input, or both inputs</a:t>
                      </a:r>
                      <a:r>
                        <a:rPr lang="en-GB" sz="1800" dirty="0"/>
                        <a:t> are True then the output is also True. </a:t>
                      </a:r>
                    </a:p>
                    <a:p>
                      <a:pPr marL="0" indent="0">
                        <a:buNone/>
                      </a:pPr>
                      <a:endParaRPr lang="en-GB" sz="1800" dirty="0"/>
                    </a:p>
                    <a:p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Q = A OR B</a:t>
                      </a:r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  <a:p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7561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BF7FD3-E68C-7D9F-5764-1BCACADA0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244083"/>
              </p:ext>
            </p:extLst>
          </p:nvPr>
        </p:nvGraphicFramePr>
        <p:xfrm>
          <a:off x="7239000" y="1700247"/>
          <a:ext cx="130065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328">
                  <a:extLst>
                    <a:ext uri="{9D8B030D-6E8A-4147-A177-3AD203B41FA5}">
                      <a16:colId xmlns:a16="http://schemas.microsoft.com/office/drawing/2014/main" val="4175305842"/>
                    </a:ext>
                  </a:extLst>
                </a:gridCol>
                <a:gridCol w="650328">
                  <a:extLst>
                    <a:ext uri="{9D8B030D-6E8A-4147-A177-3AD203B41FA5}">
                      <a16:colId xmlns:a16="http://schemas.microsoft.com/office/drawing/2014/main" val="513379281"/>
                    </a:ext>
                  </a:extLst>
                </a:gridCol>
              </a:tblGrid>
              <a:tr h="308809">
                <a:tc>
                  <a:txBody>
                    <a:bodyPr/>
                    <a:lstStyle/>
                    <a:p>
                      <a:r>
                        <a:rPr lang="en-GB" sz="2000" dirty="0"/>
                        <a:t>A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Q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032722"/>
                  </a:ext>
                </a:extLst>
              </a:tr>
              <a:tr h="308809"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149089"/>
                  </a:ext>
                </a:extLst>
              </a:tr>
              <a:tr h="308809">
                <a:tc>
                  <a:txBody>
                    <a:bodyPr/>
                    <a:lstStyle/>
                    <a:p>
                      <a:r>
                        <a:rPr lang="en-GB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3683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B194D1-46BE-B8C3-094E-DE7532657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476035"/>
              </p:ext>
            </p:extLst>
          </p:nvPr>
        </p:nvGraphicFramePr>
        <p:xfrm>
          <a:off x="7157544" y="3137085"/>
          <a:ext cx="1834056" cy="1229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352">
                  <a:extLst>
                    <a:ext uri="{9D8B030D-6E8A-4147-A177-3AD203B41FA5}">
                      <a16:colId xmlns:a16="http://schemas.microsoft.com/office/drawing/2014/main" val="4175305842"/>
                    </a:ext>
                  </a:extLst>
                </a:gridCol>
                <a:gridCol w="611352">
                  <a:extLst>
                    <a:ext uri="{9D8B030D-6E8A-4147-A177-3AD203B41FA5}">
                      <a16:colId xmlns:a16="http://schemas.microsoft.com/office/drawing/2014/main" val="513379281"/>
                    </a:ext>
                  </a:extLst>
                </a:gridCol>
                <a:gridCol w="611352">
                  <a:extLst>
                    <a:ext uri="{9D8B030D-6E8A-4147-A177-3AD203B41FA5}">
                      <a16:colId xmlns:a16="http://schemas.microsoft.com/office/drawing/2014/main" val="394945622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Q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0327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1490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3683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28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6624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F1ABDA4-7198-079A-A2FC-81ACD7500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091232"/>
              </p:ext>
            </p:extLst>
          </p:nvPr>
        </p:nvGraphicFramePr>
        <p:xfrm>
          <a:off x="7157544" y="4785784"/>
          <a:ext cx="1834056" cy="1229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352">
                  <a:extLst>
                    <a:ext uri="{9D8B030D-6E8A-4147-A177-3AD203B41FA5}">
                      <a16:colId xmlns:a16="http://schemas.microsoft.com/office/drawing/2014/main" val="4175305842"/>
                    </a:ext>
                  </a:extLst>
                </a:gridCol>
                <a:gridCol w="611352">
                  <a:extLst>
                    <a:ext uri="{9D8B030D-6E8A-4147-A177-3AD203B41FA5}">
                      <a16:colId xmlns:a16="http://schemas.microsoft.com/office/drawing/2014/main" val="513379281"/>
                    </a:ext>
                  </a:extLst>
                </a:gridCol>
                <a:gridCol w="611352">
                  <a:extLst>
                    <a:ext uri="{9D8B030D-6E8A-4147-A177-3AD203B41FA5}">
                      <a16:colId xmlns:a16="http://schemas.microsoft.com/office/drawing/2014/main" val="285578888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Q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03272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14908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3683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28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66248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E6FD955-686F-845A-0AB1-F759BB2E4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133600"/>
            <a:ext cx="1736575" cy="6397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DBF63A-B181-5EAE-B37C-456C3CC9E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873" y="3495434"/>
            <a:ext cx="1861127" cy="8892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A13299-3FB2-10DE-865C-71806970C804}"/>
              </a:ext>
            </a:extLst>
          </p:cNvPr>
          <p:cNvSpPr txBox="1"/>
          <p:nvPr/>
        </p:nvSpPr>
        <p:spPr>
          <a:xfrm>
            <a:off x="4426796" y="5129634"/>
            <a:ext cx="338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FFB251-EEB6-DC9D-3B34-5D2060A26697}"/>
              </a:ext>
            </a:extLst>
          </p:cNvPr>
          <p:cNvSpPr txBox="1"/>
          <p:nvPr/>
        </p:nvSpPr>
        <p:spPr>
          <a:xfrm>
            <a:off x="5896694" y="5366601"/>
            <a:ext cx="376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42792-2919-BBCF-0B91-13C42EBAC746}"/>
              </a:ext>
            </a:extLst>
          </p:cNvPr>
          <p:cNvSpPr txBox="1"/>
          <p:nvPr/>
        </p:nvSpPr>
        <p:spPr>
          <a:xfrm>
            <a:off x="4396801" y="5599732"/>
            <a:ext cx="29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C1CA9E-3653-178A-1DB0-906CCFE33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374" y="5195223"/>
            <a:ext cx="1041818" cy="80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7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7CF109-9424-3181-B4D3-625BFCAA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Worked 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F680B7-C10F-59FB-1E68-3711D80DF9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748" y="1066800"/>
            <a:ext cx="11449879" cy="5022835"/>
          </a:xfrm>
        </p:spPr>
        <p:txBody>
          <a:bodyPr/>
          <a:lstStyle/>
          <a:p>
            <a:r>
              <a:rPr lang="en-GB" dirty="0"/>
              <a:t>The designer of the game stated that the game is over when health gets to 0 or lower </a:t>
            </a:r>
            <a:r>
              <a:rPr lang="en-GB" b="1" dirty="0"/>
              <a:t>and</a:t>
            </a:r>
            <a:r>
              <a:rPr lang="en-GB" dirty="0"/>
              <a:t> if the player only has one life left.</a:t>
            </a:r>
          </a:p>
          <a:p>
            <a:endParaRPr lang="en-GB" dirty="0"/>
          </a:p>
          <a:p>
            <a:r>
              <a:rPr lang="en-GB" dirty="0"/>
              <a:t>The two conditions for ending the game:</a:t>
            </a:r>
          </a:p>
          <a:p>
            <a:endParaRPr lang="en-GB" dirty="0"/>
          </a:p>
          <a:p>
            <a:r>
              <a:rPr lang="en-GB" dirty="0"/>
              <a:t>health &lt;=0</a:t>
            </a:r>
          </a:p>
          <a:p>
            <a:r>
              <a:rPr lang="en-GB" dirty="0"/>
              <a:t>life = 1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Both conditions must be True to end the game (AND)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8ED41-92D9-2E70-4A55-4E850F402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8" t="89690" r="37753" b="1983"/>
          <a:stretch/>
        </p:blipFill>
        <p:spPr>
          <a:xfrm>
            <a:off x="6364445" y="4038600"/>
            <a:ext cx="5240873" cy="8927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1AD067-F985-33D2-822A-193621433C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333" b="36183"/>
          <a:stretch/>
        </p:blipFill>
        <p:spPr>
          <a:xfrm>
            <a:off x="374373" y="3907879"/>
            <a:ext cx="5484715" cy="14047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AFADAD-63E7-9401-DA82-72CAC63E5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752600"/>
            <a:ext cx="2658495" cy="127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65598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heme" id="{E8C33567-857C-8843-9DD6-8BAABF61520A}" vid="{BFF8D275-75C1-2F41-8EBD-02C0309D79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0CF4CB767594CAB58E67B9F0BE67A" ma:contentTypeVersion="18" ma:contentTypeDescription="Create a new document." ma:contentTypeScope="" ma:versionID="70881b63283dcb08259cbbb6a38f3343">
  <xsd:schema xmlns:xsd="http://www.w3.org/2001/XMLSchema" xmlns:xs="http://www.w3.org/2001/XMLSchema" xmlns:p="http://schemas.microsoft.com/office/2006/metadata/properties" xmlns:ns2="af5a9b6f-90d1-4e94-ad6a-4d32e435a3f7" xmlns:ns3="ba822b70-6078-407b-9df2-075fd966bc17" targetNamespace="http://schemas.microsoft.com/office/2006/metadata/properties" ma:root="true" ma:fieldsID="3692b0e8f3d491ac1a41315643a6de56" ns2:_="" ns3:_="">
    <xsd:import namespace="af5a9b6f-90d1-4e94-ad6a-4d32e435a3f7"/>
    <xsd:import namespace="ba822b70-6078-407b-9df2-075fd966bc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5a9b6f-90d1-4e94-ad6a-4d32e435a3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2842fe2-0384-4868-9911-293adc3c59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822b70-6078-407b-9df2-075fd966bc1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fcce3-66d6-45c3-acef-c5498900e25c}" ma:internalName="TaxCatchAll" ma:showField="CatchAllData" ma:web="ba822b70-6078-407b-9df2-075fd966bc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af5a9b6f-90d1-4e94-ad6a-4d32e435a3f7" xsi:nil="true"/>
    <SharedWithUsers xmlns="ba822b70-6078-407b-9df2-075fd966bc17">
      <UserInfo>
        <DisplayName/>
        <AccountId xsi:nil="true"/>
        <AccountType/>
      </UserInfo>
    </SharedWithUsers>
    <TaxCatchAll xmlns="ba822b70-6078-407b-9df2-075fd966bc17" xsi:nil="true"/>
    <lcf76f155ced4ddcb4097134ff3c332f xmlns="af5a9b6f-90d1-4e94-ad6a-4d32e435a3f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36F4F2D-4C99-4E5B-B008-5E5BDBA63BAF}"/>
</file>

<file path=customXml/itemProps2.xml><?xml version="1.0" encoding="utf-8"?>
<ds:datastoreItem xmlns:ds="http://schemas.openxmlformats.org/officeDocument/2006/customXml" ds:itemID="{5940CD6A-EC5F-4945-AD14-D757A22660DD}"/>
</file>

<file path=customXml/itemProps3.xml><?xml version="1.0" encoding="utf-8"?>
<ds:datastoreItem xmlns:ds="http://schemas.openxmlformats.org/officeDocument/2006/customXml" ds:itemID="{CCA48069-74C6-4BCF-8865-F288A451EE24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1622</TotalTime>
  <Words>392</Words>
  <Application>Microsoft Macintosh PowerPoint</Application>
  <PresentationFormat>Widescreen</PresentationFormat>
  <Paragraphs>89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Century Gothic</vt:lpstr>
      <vt:lpstr>mytheme</vt:lpstr>
      <vt:lpstr>Lesson Objectives</vt:lpstr>
      <vt:lpstr>What is Logic? What is Binary Logic?</vt:lpstr>
      <vt:lpstr>Binary Logic gates</vt:lpstr>
      <vt:lpstr>Worked Example</vt:lpstr>
    </vt:vector>
  </TitlesOfParts>
  <Company>Sidmouth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</dc:creator>
  <cp:lastModifiedBy>Elizabeth Allgar</cp:lastModifiedBy>
  <cp:revision>186</cp:revision>
  <cp:lastPrinted>2017-10-06T17:01:56Z</cp:lastPrinted>
  <dcterms:created xsi:type="dcterms:W3CDTF">2013-09-11T18:04:43Z</dcterms:created>
  <dcterms:modified xsi:type="dcterms:W3CDTF">2024-02-14T15:22:17Z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167548</vt:lpwstr>
  </property>
  <property fmtid="{D5CDD505-2E9C-101B-9397-08002B2CF9AE}" pid="3" name="NXPowerLiteSettings">
    <vt:lpwstr>C74006B004C800</vt:lpwstr>
  </property>
  <property fmtid="{D5CDD505-2E9C-101B-9397-08002B2CF9AE}" pid="4" name="NXPowerLiteVersion">
    <vt:lpwstr>S7.0.8</vt:lpwstr>
  </property>
  <property fmtid="{D5CDD505-2E9C-101B-9397-08002B2CF9AE}" pid="5" name="ContentTypeId">
    <vt:lpwstr>0x0101004850CF4CB767594CAB58E67B9F0BE67A</vt:lpwstr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