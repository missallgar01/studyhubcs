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4"/>
  </p:sldMasterIdLst>
  <p:notesMasterIdLst>
    <p:notesMasterId r:id="rId27"/>
  </p:notesMasterIdLst>
  <p:sldIdLst>
    <p:sldId id="259" r:id="rId5"/>
    <p:sldId id="258" r:id="rId6"/>
    <p:sldId id="626" r:id="rId7"/>
    <p:sldId id="287" r:id="rId8"/>
    <p:sldId id="290" r:id="rId9"/>
    <p:sldId id="291" r:id="rId10"/>
    <p:sldId id="292" r:id="rId11"/>
    <p:sldId id="295" r:id="rId12"/>
    <p:sldId id="297" r:id="rId13"/>
    <p:sldId id="298" r:id="rId14"/>
    <p:sldId id="299" r:id="rId15"/>
    <p:sldId id="300" r:id="rId16"/>
    <p:sldId id="301" r:id="rId17"/>
    <p:sldId id="285" r:id="rId18"/>
    <p:sldId id="262" r:id="rId19"/>
    <p:sldId id="305" r:id="rId20"/>
    <p:sldId id="306" r:id="rId21"/>
    <p:sldId id="307" r:id="rId22"/>
    <p:sldId id="308" r:id="rId23"/>
    <p:sldId id="309" r:id="rId24"/>
    <p:sldId id="266"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79595-348C-E140-9D33-41746D632F85}" v="1" dt="2025-11-26T14:57:21.8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9"/>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abeth Allgar" userId="3f289184-9de6-4ddb-8aa3-0e56f37c2a8c" providerId="ADAL" clId="{797DCDEB-F2E7-55A6-BB30-B6CDE054984F}"/>
    <pc:docChg chg="addSld delSld modSld">
      <pc:chgData name="Elizabeth Allgar" userId="3f289184-9de6-4ddb-8aa3-0e56f37c2a8c" providerId="ADAL" clId="{797DCDEB-F2E7-55A6-BB30-B6CDE054984F}" dt="2025-11-26T14:57:21.879" v="3"/>
      <pc:docMkLst>
        <pc:docMk/>
      </pc:docMkLst>
      <pc:sldChg chg="del">
        <pc:chgData name="Elizabeth Allgar" userId="3f289184-9de6-4ddb-8aa3-0e56f37c2a8c" providerId="ADAL" clId="{797DCDEB-F2E7-55A6-BB30-B6CDE054984F}" dt="2025-11-26T14:57:14.772" v="0" actId="2696"/>
        <pc:sldMkLst>
          <pc:docMk/>
          <pc:sldMk cId="3458784574" sldId="286"/>
        </pc:sldMkLst>
      </pc:sldChg>
      <pc:sldChg chg="add del">
        <pc:chgData name="Elizabeth Allgar" userId="3f289184-9de6-4ddb-8aa3-0e56f37c2a8c" providerId="ADAL" clId="{797DCDEB-F2E7-55A6-BB30-B6CDE054984F}" dt="2025-11-26T14:57:21.879" v="3"/>
        <pc:sldMkLst>
          <pc:docMk/>
          <pc:sldMk cId="588466597" sldId="287"/>
        </pc:sldMkLst>
      </pc:sldChg>
      <pc:sldChg chg="del">
        <pc:chgData name="Elizabeth Allgar" userId="3f289184-9de6-4ddb-8aa3-0e56f37c2a8c" providerId="ADAL" clId="{797DCDEB-F2E7-55A6-BB30-B6CDE054984F}" dt="2025-11-26T14:57:18.236" v="2" actId="2696"/>
        <pc:sldMkLst>
          <pc:docMk/>
          <pc:sldMk cId="2132877569" sldId="288"/>
        </pc:sldMkLst>
      </pc:sldChg>
      <pc:sldChg chg="add">
        <pc:chgData name="Elizabeth Allgar" userId="3f289184-9de6-4ddb-8aa3-0e56f37c2a8c" providerId="ADAL" clId="{797DCDEB-F2E7-55A6-BB30-B6CDE054984F}" dt="2025-11-26T14:57:21.879" v="3"/>
        <pc:sldMkLst>
          <pc:docMk/>
          <pc:sldMk cId="1307661811" sldId="626"/>
        </pc:sldMkLst>
      </pc:sldChg>
    </pc:docChg>
  </pc:docChgLst>
  <pc:docChgLst>
    <pc:chgData name="E. Allgar" userId="3f289184-9de6-4ddb-8aa3-0e56f37c2a8c" providerId="ADAL" clId="{797DCDEB-F2E7-55A6-BB30-B6CDE054984F}"/>
    <pc:docChg chg="undo custSel addSld delSld modSld">
      <pc:chgData name="E. Allgar" userId="3f289184-9de6-4ddb-8aa3-0e56f37c2a8c" providerId="ADAL" clId="{797DCDEB-F2E7-55A6-BB30-B6CDE054984F}" dt="2025-11-16T16:50:10.114" v="27" actId="313"/>
      <pc:docMkLst>
        <pc:docMk/>
      </pc:docMkLst>
      <pc:sldChg chg="modSp mod">
        <pc:chgData name="E. Allgar" userId="3f289184-9de6-4ddb-8aa3-0e56f37c2a8c" providerId="ADAL" clId="{797DCDEB-F2E7-55A6-BB30-B6CDE054984F}" dt="2025-11-16T16:50:10.114" v="27" actId="313"/>
        <pc:sldMkLst>
          <pc:docMk/>
          <pc:sldMk cId="1446612029" sldId="258"/>
        </pc:sldMkLst>
        <pc:graphicFrameChg chg="modGraphic">
          <ac:chgData name="E. Allgar" userId="3f289184-9de6-4ddb-8aa3-0e56f37c2a8c" providerId="ADAL" clId="{797DCDEB-F2E7-55A6-BB30-B6CDE054984F}" dt="2025-11-16T16:50:10.114" v="27" actId="313"/>
          <ac:graphicFrameMkLst>
            <pc:docMk/>
            <pc:sldMk cId="1446612029" sldId="258"/>
            <ac:graphicFrameMk id="4" creationId="{CC8B6221-8E9F-27DF-44AC-591D19B837F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328E8D-78D1-DD4D-B4DD-FF825D0811BD}" type="datetimeFigureOut">
              <a:rPr lang="en-GB" smtClean="0"/>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D5FDA-95E3-1546-A222-22722D1298B5}" type="slidenum">
              <a:rPr lang="en-GB" smtClean="0"/>
              <a:t>‹#›</a:t>
            </a:fld>
            <a:endParaRPr lang="en-GB"/>
          </a:p>
        </p:txBody>
      </p:sp>
    </p:spTree>
    <p:extLst>
      <p:ext uri="{BB962C8B-B14F-4D97-AF65-F5344CB8AC3E}">
        <p14:creationId xmlns:p14="http://schemas.microsoft.com/office/powerpoint/2010/main" val="334843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D3D5FDA-95E3-1546-A222-22722D1298B5}" type="slidenum">
              <a:rPr lang="en-GB" smtClean="0"/>
              <a:t>1</a:t>
            </a:fld>
            <a:endParaRPr lang="en-GB"/>
          </a:p>
        </p:txBody>
      </p:sp>
    </p:spTree>
    <p:extLst>
      <p:ext uri="{BB962C8B-B14F-4D97-AF65-F5344CB8AC3E}">
        <p14:creationId xmlns:p14="http://schemas.microsoft.com/office/powerpoint/2010/main" val="175906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D3D5FDA-95E3-1546-A222-22722D1298B5}" type="slidenum">
              <a:rPr lang="en-GB" smtClean="0"/>
              <a:t>6</a:t>
            </a:fld>
            <a:endParaRPr lang="en-GB"/>
          </a:p>
        </p:txBody>
      </p:sp>
    </p:spTree>
    <p:extLst>
      <p:ext uri="{BB962C8B-B14F-4D97-AF65-F5344CB8AC3E}">
        <p14:creationId xmlns:p14="http://schemas.microsoft.com/office/powerpoint/2010/main" val="339551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D3D5FDA-95E3-1546-A222-22722D1298B5}" type="slidenum">
              <a:rPr lang="en-GB" smtClean="0"/>
              <a:t>10</a:t>
            </a:fld>
            <a:endParaRPr lang="en-GB"/>
          </a:p>
        </p:txBody>
      </p:sp>
    </p:spTree>
    <p:extLst>
      <p:ext uri="{BB962C8B-B14F-4D97-AF65-F5344CB8AC3E}">
        <p14:creationId xmlns:p14="http://schemas.microsoft.com/office/powerpoint/2010/main" val="1431629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a:t>
            </a:r>
          </a:p>
        </p:txBody>
      </p:sp>
      <p:sp>
        <p:nvSpPr>
          <p:cNvPr id="4" name="Slide Number Placeholder 3"/>
          <p:cNvSpPr>
            <a:spLocks noGrp="1"/>
          </p:cNvSpPr>
          <p:nvPr>
            <p:ph type="sldNum" sz="quarter" idx="5"/>
          </p:nvPr>
        </p:nvSpPr>
        <p:spPr/>
        <p:txBody>
          <a:bodyPr/>
          <a:lstStyle/>
          <a:p>
            <a:fld id="{DD3D5FDA-95E3-1546-A222-22722D1298B5}" type="slidenum">
              <a:rPr lang="en-GB" smtClean="0"/>
              <a:t>20</a:t>
            </a:fld>
            <a:endParaRPr lang="en-GB"/>
          </a:p>
        </p:txBody>
      </p:sp>
    </p:spTree>
    <p:extLst>
      <p:ext uri="{BB962C8B-B14F-4D97-AF65-F5344CB8AC3E}">
        <p14:creationId xmlns:p14="http://schemas.microsoft.com/office/powerpoint/2010/main" val="1533039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Learning Aim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Learning Aims</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CF3A3AC-8542-2129-D7FF-AC94B7338B30}"/>
              </a:ext>
            </a:extLst>
          </p:cNvPr>
          <p:cNvPicPr>
            <a:picLocks noChangeAspect="1"/>
          </p:cNvPicPr>
          <p:nvPr/>
        </p:nvPicPr>
        <p:blipFill>
          <a:blip r:embed="rId2"/>
          <a:stretch>
            <a:fillRect/>
          </a:stretch>
        </p:blipFill>
        <p:spPr>
          <a:xfrm>
            <a:off x="11290852" y="6062872"/>
            <a:ext cx="755916" cy="723900"/>
          </a:xfrm>
          <a:prstGeom prst="rect">
            <a:avLst/>
          </a:prstGeom>
        </p:spPr>
      </p:pic>
    </p:spTree>
    <p:extLst>
      <p:ext uri="{BB962C8B-B14F-4D97-AF65-F5344CB8AC3E}">
        <p14:creationId xmlns:p14="http://schemas.microsoft.com/office/powerpoint/2010/main" val="145182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o now">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4558937" y="1020159"/>
            <a:ext cx="7258690"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8846952D-51E8-8031-F9E5-FF040FD33E53}"/>
              </a:ext>
            </a:extLst>
          </p:cNvPr>
          <p:cNvPicPr>
            <a:picLocks noChangeAspect="1"/>
          </p:cNvPicPr>
          <p:nvPr/>
        </p:nvPicPr>
        <p:blipFill>
          <a:blip r:embed="rId2"/>
          <a:stretch>
            <a:fillRect/>
          </a:stretch>
        </p:blipFill>
        <p:spPr>
          <a:xfrm>
            <a:off x="11320670" y="5943599"/>
            <a:ext cx="860364" cy="804333"/>
          </a:xfrm>
          <a:prstGeom prst="rect">
            <a:avLst/>
          </a:prstGeom>
        </p:spPr>
      </p:pic>
      <p:pic>
        <p:nvPicPr>
          <p:cNvPr id="9" name="Picture 8" descr="A yellow and black text&#10;&#10;AI-generated content may be incorrect.">
            <a:extLst>
              <a:ext uri="{FF2B5EF4-FFF2-40B4-BE49-F238E27FC236}">
                <a16:creationId xmlns:a16="http://schemas.microsoft.com/office/drawing/2014/main" id="{4B14F04D-221C-C0D4-F9F4-7D1212C03F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73" y="1666330"/>
            <a:ext cx="3525339" cy="3525339"/>
          </a:xfrm>
          <a:prstGeom prst="rect">
            <a:avLst/>
          </a:prstGeom>
        </p:spPr>
      </p:pic>
    </p:spTree>
    <p:extLst>
      <p:ext uri="{BB962C8B-B14F-4D97-AF65-F5344CB8AC3E}">
        <p14:creationId xmlns:p14="http://schemas.microsoft.com/office/powerpoint/2010/main" val="703852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ink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19D-F0F4-E735-8A4C-AE9159C5F4DC}"/>
              </a:ext>
            </a:extLst>
          </p:cNvPr>
          <p:cNvSpPr>
            <a:spLocks noGrp="1"/>
          </p:cNvSpPr>
          <p:nvPr>
            <p:ph type="title" hasCustomPrompt="1"/>
          </p:nvPr>
        </p:nvSpPr>
        <p:spPr/>
        <p:txBody>
          <a:bodyPr/>
          <a:lstStyle/>
          <a:p>
            <a:r>
              <a:rPr lang="en-GB"/>
              <a:t>Run and Investigate</a:t>
            </a:r>
          </a:p>
        </p:txBody>
      </p:sp>
      <p:sp>
        <p:nvSpPr>
          <p:cNvPr id="6" name="AutoShape 2" descr="Process Vector SVG Icon (4) - SVG Repo">
            <a:extLst>
              <a:ext uri="{FF2B5EF4-FFF2-40B4-BE49-F238E27FC236}">
                <a16:creationId xmlns:a16="http://schemas.microsoft.com/office/drawing/2014/main" id="{4BD55E4C-8C76-7251-580A-90BDAE5EC4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B892C0C5-261A-35BF-1154-E7F9ADE12686}"/>
              </a:ext>
            </a:extLst>
          </p:cNvPr>
          <p:cNvPicPr>
            <a:picLocks noChangeAspect="1"/>
          </p:cNvPicPr>
          <p:nvPr/>
        </p:nvPicPr>
        <p:blipFill>
          <a:blip r:embed="rId2"/>
          <a:stretch>
            <a:fillRect/>
          </a:stretch>
        </p:blipFill>
        <p:spPr>
          <a:xfrm>
            <a:off x="11350487" y="6109252"/>
            <a:ext cx="748748" cy="748748"/>
          </a:xfrm>
          <a:prstGeom prst="rect">
            <a:avLst/>
          </a:prstGeom>
        </p:spPr>
      </p:pic>
      <p:sp>
        <p:nvSpPr>
          <p:cNvPr id="3" name="Content Placeholder 2">
            <a:extLst>
              <a:ext uri="{FF2B5EF4-FFF2-40B4-BE49-F238E27FC236}">
                <a16:creationId xmlns:a16="http://schemas.microsoft.com/office/drawing/2014/main" id="{D6CC8F4B-7CA7-C116-AAA8-2E85AA32AF45}"/>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69207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zizz">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52A2-AC8A-18EE-0351-83728C050202}"/>
              </a:ext>
            </a:extLst>
          </p:cNvPr>
          <p:cNvSpPr>
            <a:spLocks noGrp="1"/>
          </p:cNvSpPr>
          <p:nvPr>
            <p:ph type="title" hasCustomPrompt="1"/>
          </p:nvPr>
        </p:nvSpPr>
        <p:spPr/>
        <p:txBody>
          <a:bodyPr/>
          <a:lstStyle/>
          <a:p>
            <a:r>
              <a:rPr lang="en-GB"/>
              <a:t>Knowledge check</a:t>
            </a:r>
          </a:p>
        </p:txBody>
      </p:sp>
      <p:pic>
        <p:nvPicPr>
          <p:cNvPr id="2052" name="Picture 4" descr="Check - Free shapes and symbols icons">
            <a:extLst>
              <a:ext uri="{FF2B5EF4-FFF2-40B4-BE49-F238E27FC236}">
                <a16:creationId xmlns:a16="http://schemas.microsoft.com/office/drawing/2014/main" id="{33A86CE2-92E5-B958-1901-38334B829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0912" y="6069494"/>
            <a:ext cx="699053" cy="69905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916E56B-8A2D-8F18-9D64-D5BE0D9F0478}"/>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18415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ve co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73E2F-8E6C-BBE1-C7DB-12FCA85B2B17}"/>
              </a:ext>
            </a:extLst>
          </p:cNvPr>
          <p:cNvSpPr>
            <a:spLocks noGrp="1"/>
          </p:cNvSpPr>
          <p:nvPr>
            <p:ph type="title" hasCustomPrompt="1"/>
          </p:nvPr>
        </p:nvSpPr>
        <p:spPr/>
        <p:txBody>
          <a:bodyPr/>
          <a:lstStyle/>
          <a:p>
            <a:r>
              <a:rPr lang="en-GB"/>
              <a:t>Live coding</a:t>
            </a:r>
          </a:p>
        </p:txBody>
      </p:sp>
      <p:sp>
        <p:nvSpPr>
          <p:cNvPr id="3" name="Slide Number Placeholder 2">
            <a:extLst>
              <a:ext uri="{FF2B5EF4-FFF2-40B4-BE49-F238E27FC236}">
                <a16:creationId xmlns:a16="http://schemas.microsoft.com/office/drawing/2014/main" id="{6C1F2847-CFDD-F7E7-9324-B11EA7D36D34}"/>
              </a:ext>
            </a:extLst>
          </p:cNvPr>
          <p:cNvSpPr>
            <a:spLocks noGrp="1"/>
          </p:cNvSpPr>
          <p:nvPr>
            <p:ph type="sldNum" sz="quarter" idx="10"/>
          </p:nvPr>
        </p:nvSpPr>
        <p:spPr/>
        <p:txBody>
          <a:bodyPr/>
          <a:lstStyle/>
          <a:p>
            <a:fld id="{0C9D3FE3-F4AB-174D-91F3-756F51A26C03}" type="slidenum">
              <a:rPr lang="en-GB" smtClean="0"/>
              <a:t>‹#›</a:t>
            </a:fld>
            <a:endParaRPr lang="en-GB"/>
          </a:p>
        </p:txBody>
      </p:sp>
      <p:pic>
        <p:nvPicPr>
          <p:cNvPr id="4100" name="Picture 4" descr="Live Session Coding Icons - Free SVG &amp; PNG Live Session Coding Images -  Noun Project">
            <a:extLst>
              <a:ext uri="{FF2B5EF4-FFF2-40B4-BE49-F238E27FC236}">
                <a16:creationId xmlns:a16="http://schemas.microsoft.com/office/drawing/2014/main" id="{A3C44628-7F57-6033-4CA5-D917B3736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2572" y="5837841"/>
            <a:ext cx="1139428" cy="1139428"/>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2538BD3-2962-013F-2E3E-E15DFBCA9AB6}"/>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53151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llen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Challenge</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4E350B81-C37E-C697-9FA7-27016562AFEA}"/>
              </a:ext>
            </a:extLst>
          </p:cNvPr>
          <p:cNvPicPr>
            <a:picLocks noChangeAspect="1"/>
          </p:cNvPicPr>
          <p:nvPr/>
        </p:nvPicPr>
        <p:blipFill>
          <a:blip r:embed="rId2"/>
          <a:stretch>
            <a:fillRect/>
          </a:stretch>
        </p:blipFill>
        <p:spPr>
          <a:xfrm>
            <a:off x="10950222" y="5827903"/>
            <a:ext cx="1147444" cy="924512"/>
          </a:xfrm>
          <a:prstGeom prst="rect">
            <a:avLst/>
          </a:prstGeom>
        </p:spPr>
      </p:pic>
    </p:spTree>
    <p:extLst>
      <p:ext uri="{BB962C8B-B14F-4D97-AF65-F5344CB8AC3E}">
        <p14:creationId xmlns:p14="http://schemas.microsoft.com/office/powerpoint/2010/main" val="2276787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New learn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971" y="0"/>
            <a:ext cx="12170063" cy="707090"/>
          </a:xfrm>
        </p:spPr>
        <p:txBody>
          <a:bodyPr/>
          <a:lstStyle/>
          <a:p>
            <a:r>
              <a:rPr lang="en-US"/>
              <a:t>New Learning</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7" name="Picture 6" descr="A light bulb in a circle&#10;&#10;AI-generated content may be incorrect.">
            <a:extLst>
              <a:ext uri="{FF2B5EF4-FFF2-40B4-BE49-F238E27FC236}">
                <a16:creationId xmlns:a16="http://schemas.microsoft.com/office/drawing/2014/main" id="{BDA4CF71-E266-3DDE-D0B8-87CA1D185083}"/>
              </a:ext>
            </a:extLst>
          </p:cNvPr>
          <p:cNvPicPr>
            <a:picLocks noChangeAspect="1"/>
          </p:cNvPicPr>
          <p:nvPr/>
        </p:nvPicPr>
        <p:blipFill>
          <a:blip r:embed="rId2"/>
          <a:stretch>
            <a:fillRect/>
          </a:stretch>
        </p:blipFill>
        <p:spPr>
          <a:xfrm>
            <a:off x="11281122" y="6042993"/>
            <a:ext cx="910877" cy="824945"/>
          </a:xfrm>
          <a:prstGeom prst="rect">
            <a:avLst/>
          </a:prstGeom>
        </p:spPr>
      </p:pic>
    </p:spTree>
    <p:extLst>
      <p:ext uri="{BB962C8B-B14F-4D97-AF65-F5344CB8AC3E}">
        <p14:creationId xmlns:p14="http://schemas.microsoft.com/office/powerpoint/2010/main" val="235729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Re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Recap</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463CD49-476A-D166-A288-3838F9A36F04}"/>
              </a:ext>
            </a:extLst>
          </p:cNvPr>
          <p:cNvPicPr>
            <a:picLocks noChangeAspect="1"/>
          </p:cNvPicPr>
          <p:nvPr/>
        </p:nvPicPr>
        <p:blipFill>
          <a:blip r:embed="rId2"/>
          <a:stretch>
            <a:fillRect/>
          </a:stretch>
        </p:blipFill>
        <p:spPr>
          <a:xfrm>
            <a:off x="11208568" y="6045200"/>
            <a:ext cx="838200" cy="812800"/>
          </a:xfrm>
          <a:prstGeom prst="rect">
            <a:avLst/>
          </a:prstGeom>
        </p:spPr>
      </p:pic>
    </p:spTree>
    <p:extLst>
      <p:ext uri="{BB962C8B-B14F-4D97-AF65-F5344CB8AC3E}">
        <p14:creationId xmlns:p14="http://schemas.microsoft.com/office/powerpoint/2010/main" val="1760294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key term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Key Terms</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descr="A white key on a black background&#10;&#10;AI-generated content may be incorrect.">
            <a:extLst>
              <a:ext uri="{FF2B5EF4-FFF2-40B4-BE49-F238E27FC236}">
                <a16:creationId xmlns:a16="http://schemas.microsoft.com/office/drawing/2014/main" id="{F51F8EA9-0770-2D54-1BF2-62BC9A376370}"/>
              </a:ext>
            </a:extLst>
          </p:cNvPr>
          <p:cNvPicPr>
            <a:picLocks noChangeAspect="1"/>
          </p:cNvPicPr>
          <p:nvPr/>
        </p:nvPicPr>
        <p:blipFill>
          <a:blip r:embed="rId2"/>
          <a:stretch>
            <a:fillRect/>
          </a:stretch>
        </p:blipFill>
        <p:spPr>
          <a:xfrm>
            <a:off x="11493777" y="6171924"/>
            <a:ext cx="647700" cy="596900"/>
          </a:xfrm>
          <a:prstGeom prst="rect">
            <a:avLst/>
          </a:prstGeom>
        </p:spPr>
      </p:pic>
    </p:spTree>
    <p:extLst>
      <p:ext uri="{BB962C8B-B14F-4D97-AF65-F5344CB8AC3E}">
        <p14:creationId xmlns:p14="http://schemas.microsoft.com/office/powerpoint/2010/main" val="363957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lass discuss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Class discussion</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a:extLst>
              <a:ext uri="{FF2B5EF4-FFF2-40B4-BE49-F238E27FC236}">
                <a16:creationId xmlns:a16="http://schemas.microsoft.com/office/drawing/2014/main" id="{4C5FCB99-B8BC-8FB2-245B-99348E9E2930}"/>
              </a:ext>
            </a:extLst>
          </p:cNvPr>
          <p:cNvPicPr>
            <a:picLocks noChangeAspect="1"/>
          </p:cNvPicPr>
          <p:nvPr/>
        </p:nvPicPr>
        <p:blipFill>
          <a:blip r:embed="rId2"/>
          <a:stretch>
            <a:fillRect/>
          </a:stretch>
        </p:blipFill>
        <p:spPr>
          <a:xfrm>
            <a:off x="11310730" y="6042994"/>
            <a:ext cx="740354" cy="719210"/>
          </a:xfrm>
          <a:prstGeom prst="rect">
            <a:avLst/>
          </a:prstGeom>
        </p:spPr>
      </p:pic>
    </p:spTree>
    <p:extLst>
      <p:ext uri="{BB962C8B-B14F-4D97-AF65-F5344CB8AC3E}">
        <p14:creationId xmlns:p14="http://schemas.microsoft.com/office/powerpoint/2010/main" val="412280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0867-0509-DA7D-2F91-896FBE307B80}"/>
              </a:ext>
            </a:extLst>
          </p:cNvPr>
          <p:cNvSpPr>
            <a:spLocks noGrp="1"/>
          </p:cNvSpPr>
          <p:nvPr>
            <p:ph type="title" hasCustomPrompt="1"/>
          </p:nvPr>
        </p:nvSpPr>
        <p:spPr/>
        <p:txBody>
          <a:bodyPr/>
          <a:lstStyle>
            <a:lvl1pPr>
              <a:defRPr/>
            </a:lvl1pPr>
          </a:lstStyle>
          <a:p>
            <a:r>
              <a:rPr lang="en-GB"/>
              <a:t>Question</a:t>
            </a:r>
          </a:p>
        </p:txBody>
      </p:sp>
      <p:pic>
        <p:nvPicPr>
          <p:cNvPr id="3" name="Picture 2">
            <a:extLst>
              <a:ext uri="{FF2B5EF4-FFF2-40B4-BE49-F238E27FC236}">
                <a16:creationId xmlns:a16="http://schemas.microsoft.com/office/drawing/2014/main" id="{9435F5E5-85B6-A554-A88C-2118972C3752}"/>
              </a:ext>
            </a:extLst>
          </p:cNvPr>
          <p:cNvPicPr>
            <a:picLocks noChangeAspect="1"/>
          </p:cNvPicPr>
          <p:nvPr/>
        </p:nvPicPr>
        <p:blipFill>
          <a:blip r:embed="rId2"/>
          <a:stretch>
            <a:fillRect/>
          </a:stretch>
        </p:blipFill>
        <p:spPr>
          <a:xfrm>
            <a:off x="11280912" y="6129231"/>
            <a:ext cx="911087" cy="723900"/>
          </a:xfrm>
          <a:prstGeom prst="rect">
            <a:avLst/>
          </a:prstGeom>
        </p:spPr>
      </p:pic>
      <p:sp>
        <p:nvSpPr>
          <p:cNvPr id="4" name="Content Placeholder 2">
            <a:extLst>
              <a:ext uri="{FF2B5EF4-FFF2-40B4-BE49-F238E27FC236}">
                <a16:creationId xmlns:a16="http://schemas.microsoft.com/office/drawing/2014/main" id="{3A51E5FD-FDDC-BE08-4AB5-21612B579382}"/>
              </a:ext>
            </a:extLst>
          </p:cNvPr>
          <p:cNvSpPr>
            <a:spLocks noGrp="1"/>
          </p:cNvSpPr>
          <p:nvPr>
            <p:ph sz="quarter" idx="13"/>
          </p:nvPr>
        </p:nvSpPr>
        <p:spPr>
          <a:xfrm>
            <a:off x="367748" y="1020159"/>
            <a:ext cx="11449879" cy="5022835"/>
          </a:xfrm>
        </p:spPr>
        <p:txBody>
          <a:bodyPr/>
          <a:lstStyle>
            <a:lvl1pPr>
              <a:defRPr sz="2000">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378671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Exa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Must know for exam</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C96C84EE-12C4-9EBB-1792-3BF4BD1CD1A4}"/>
              </a:ext>
            </a:extLst>
          </p:cNvPr>
          <p:cNvPicPr>
            <a:picLocks noChangeAspect="1"/>
          </p:cNvPicPr>
          <p:nvPr/>
        </p:nvPicPr>
        <p:blipFill>
          <a:blip r:embed="rId2"/>
          <a:stretch>
            <a:fillRect/>
          </a:stretch>
        </p:blipFill>
        <p:spPr>
          <a:xfrm>
            <a:off x="11208578" y="6134100"/>
            <a:ext cx="927100" cy="723900"/>
          </a:xfrm>
          <a:prstGeom prst="rect">
            <a:avLst/>
          </a:prstGeom>
        </p:spPr>
      </p:pic>
    </p:spTree>
    <p:extLst>
      <p:ext uri="{BB962C8B-B14F-4D97-AF65-F5344CB8AC3E}">
        <p14:creationId xmlns:p14="http://schemas.microsoft.com/office/powerpoint/2010/main" val="65064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ctiv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Activity</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A0E8DDAF-2289-618F-0ED8-506839029A25}"/>
              </a:ext>
            </a:extLst>
          </p:cNvPr>
          <p:cNvPicPr>
            <a:picLocks noChangeAspect="1"/>
          </p:cNvPicPr>
          <p:nvPr/>
        </p:nvPicPr>
        <p:blipFill>
          <a:blip r:embed="rId2"/>
          <a:stretch>
            <a:fillRect/>
          </a:stretch>
        </p:blipFill>
        <p:spPr>
          <a:xfrm>
            <a:off x="11312828" y="6102627"/>
            <a:ext cx="736600" cy="685800"/>
          </a:xfrm>
          <a:prstGeom prst="rect">
            <a:avLst/>
          </a:prstGeom>
        </p:spPr>
      </p:pic>
    </p:spTree>
    <p:extLst>
      <p:ext uri="{BB962C8B-B14F-4D97-AF65-F5344CB8AC3E}">
        <p14:creationId xmlns:p14="http://schemas.microsoft.com/office/powerpoint/2010/main" val="2351230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Coding Activity</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4F0A8DB8-E5E7-7EF0-784C-E31F23CF01EE}"/>
              </a:ext>
            </a:extLst>
          </p:cNvPr>
          <p:cNvPicPr>
            <a:picLocks noChangeAspect="1"/>
          </p:cNvPicPr>
          <p:nvPr/>
        </p:nvPicPr>
        <p:blipFill>
          <a:blip r:embed="rId2"/>
          <a:stretch>
            <a:fillRect/>
          </a:stretch>
        </p:blipFill>
        <p:spPr>
          <a:xfrm>
            <a:off x="11136560" y="6105616"/>
            <a:ext cx="865242" cy="752384"/>
          </a:xfrm>
          <a:prstGeom prst="rect">
            <a:avLst/>
          </a:prstGeom>
        </p:spPr>
      </p:pic>
    </p:spTree>
    <p:extLst>
      <p:ext uri="{BB962C8B-B14F-4D97-AF65-F5344CB8AC3E}">
        <p14:creationId xmlns:p14="http://schemas.microsoft.com/office/powerpoint/2010/main" val="1623673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ow t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How to</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7950C9EE-96E3-4E11-225E-91893106FD8E}"/>
              </a:ext>
            </a:extLst>
          </p:cNvPr>
          <p:cNvPicPr>
            <a:picLocks noChangeAspect="1"/>
          </p:cNvPicPr>
          <p:nvPr/>
        </p:nvPicPr>
        <p:blipFill>
          <a:blip r:embed="rId2"/>
          <a:stretch>
            <a:fillRect/>
          </a:stretch>
        </p:blipFill>
        <p:spPr>
          <a:xfrm>
            <a:off x="11136560" y="6023116"/>
            <a:ext cx="986408" cy="800100"/>
          </a:xfrm>
          <a:prstGeom prst="rect">
            <a:avLst/>
          </a:prstGeom>
        </p:spPr>
      </p:pic>
    </p:spTree>
    <p:extLst>
      <p:ext uri="{BB962C8B-B14F-4D97-AF65-F5344CB8AC3E}">
        <p14:creationId xmlns:p14="http://schemas.microsoft.com/office/powerpoint/2010/main" val="867914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Video</a:t>
            </a:r>
          </a:p>
        </p:txBody>
      </p:sp>
      <p:pic>
        <p:nvPicPr>
          <p:cNvPr id="4" name="Picture 3">
            <a:extLst>
              <a:ext uri="{FF2B5EF4-FFF2-40B4-BE49-F238E27FC236}">
                <a16:creationId xmlns:a16="http://schemas.microsoft.com/office/drawing/2014/main" id="{80CD42CF-47B4-832D-000A-09D647F072CF}"/>
              </a:ext>
            </a:extLst>
          </p:cNvPr>
          <p:cNvPicPr>
            <a:picLocks noChangeAspect="1"/>
          </p:cNvPicPr>
          <p:nvPr/>
        </p:nvPicPr>
        <p:blipFill>
          <a:blip r:embed="rId2"/>
          <a:stretch>
            <a:fillRect/>
          </a:stretch>
        </p:blipFill>
        <p:spPr>
          <a:xfrm>
            <a:off x="11208568" y="5995504"/>
            <a:ext cx="889000" cy="812800"/>
          </a:xfrm>
          <a:prstGeom prst="rect">
            <a:avLst/>
          </a:prstGeom>
        </p:spPr>
      </p:pic>
    </p:spTree>
    <p:extLst>
      <p:ext uri="{BB962C8B-B14F-4D97-AF65-F5344CB8AC3E}">
        <p14:creationId xmlns:p14="http://schemas.microsoft.com/office/powerpoint/2010/main" val="3226092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r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dirty="0"/>
              <a:t>Reading</a:t>
            </a:r>
          </a:p>
        </p:txBody>
      </p:sp>
      <p:pic>
        <p:nvPicPr>
          <p:cNvPr id="5" name="Picture 4" descr="A black background with a black square&#10;&#10;AI-generated content may be incorrect.">
            <a:extLst>
              <a:ext uri="{FF2B5EF4-FFF2-40B4-BE49-F238E27FC236}">
                <a16:creationId xmlns:a16="http://schemas.microsoft.com/office/drawing/2014/main" id="{DA816F24-76F7-2781-F560-481E2FB3CCF8}"/>
              </a:ext>
            </a:extLst>
          </p:cNvPr>
          <p:cNvPicPr>
            <a:picLocks noChangeAspect="1"/>
          </p:cNvPicPr>
          <p:nvPr/>
        </p:nvPicPr>
        <p:blipFill>
          <a:blip r:embed="rId2"/>
          <a:srcRect t="14534" b="27759"/>
          <a:stretch/>
        </p:blipFill>
        <p:spPr>
          <a:xfrm>
            <a:off x="10782360" y="5931725"/>
            <a:ext cx="1409640" cy="813459"/>
          </a:xfrm>
          <a:prstGeom prst="rect">
            <a:avLst/>
          </a:prstGeom>
        </p:spPr>
      </p:pic>
    </p:spTree>
    <p:extLst>
      <p:ext uri="{BB962C8B-B14F-4D97-AF65-F5344CB8AC3E}">
        <p14:creationId xmlns:p14="http://schemas.microsoft.com/office/powerpoint/2010/main" val="30469200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nsw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Answers</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CC509D04-5DCC-9882-46EC-B371493656F1}"/>
              </a:ext>
            </a:extLst>
          </p:cNvPr>
          <p:cNvPicPr>
            <a:picLocks noChangeAspect="1"/>
          </p:cNvPicPr>
          <p:nvPr/>
        </p:nvPicPr>
        <p:blipFill>
          <a:blip r:embed="rId2"/>
          <a:stretch>
            <a:fillRect/>
          </a:stretch>
        </p:blipFill>
        <p:spPr>
          <a:xfrm>
            <a:off x="11084891" y="5925862"/>
            <a:ext cx="1130300" cy="838200"/>
          </a:xfrm>
          <a:prstGeom prst="rect">
            <a:avLst/>
          </a:prstGeom>
        </p:spPr>
      </p:pic>
    </p:spTree>
    <p:extLst>
      <p:ext uri="{BB962C8B-B14F-4D97-AF65-F5344CB8AC3E}">
        <p14:creationId xmlns:p14="http://schemas.microsoft.com/office/powerpoint/2010/main" val="1113538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hec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Check</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EDCEFB13-8B3F-2FA4-650C-4169E8C4B413}"/>
              </a:ext>
            </a:extLst>
          </p:cNvPr>
          <p:cNvPicPr>
            <a:picLocks noChangeAspect="1"/>
          </p:cNvPicPr>
          <p:nvPr/>
        </p:nvPicPr>
        <p:blipFill>
          <a:blip r:embed="rId2"/>
          <a:stretch>
            <a:fillRect/>
          </a:stretch>
        </p:blipFill>
        <p:spPr>
          <a:xfrm>
            <a:off x="11352584" y="6134100"/>
            <a:ext cx="787400" cy="723900"/>
          </a:xfrm>
          <a:prstGeom prst="rect">
            <a:avLst/>
          </a:prstGeom>
        </p:spPr>
      </p:pic>
    </p:spTree>
    <p:extLst>
      <p:ext uri="{BB962C8B-B14F-4D97-AF65-F5344CB8AC3E}">
        <p14:creationId xmlns:p14="http://schemas.microsoft.com/office/powerpoint/2010/main" val="40906196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plorer tas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Explorer Task</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93F4B5F1-8CC8-4849-AA12-78E526DC925F}"/>
              </a:ext>
            </a:extLst>
          </p:cNvPr>
          <p:cNvPicPr>
            <a:picLocks noChangeAspect="1"/>
          </p:cNvPicPr>
          <p:nvPr/>
        </p:nvPicPr>
        <p:blipFill>
          <a:blip r:embed="rId2"/>
          <a:stretch>
            <a:fillRect/>
          </a:stretch>
        </p:blipFill>
        <p:spPr>
          <a:xfrm>
            <a:off x="11280576" y="6067740"/>
            <a:ext cx="825500" cy="723900"/>
          </a:xfrm>
          <a:prstGeom prst="rect">
            <a:avLst/>
          </a:prstGeom>
        </p:spPr>
      </p:pic>
    </p:spTree>
    <p:extLst>
      <p:ext uri="{BB962C8B-B14F-4D97-AF65-F5344CB8AC3E}">
        <p14:creationId xmlns:p14="http://schemas.microsoft.com/office/powerpoint/2010/main" val="405612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Worked Examp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Worked Example</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8982A035-E0B4-FA78-50D4-767740BE0A38}"/>
              </a:ext>
            </a:extLst>
          </p:cNvPr>
          <p:cNvPicPr>
            <a:picLocks noChangeAspect="1"/>
          </p:cNvPicPr>
          <p:nvPr/>
        </p:nvPicPr>
        <p:blipFill>
          <a:blip r:embed="rId2"/>
          <a:stretch>
            <a:fillRect/>
          </a:stretch>
        </p:blipFill>
        <p:spPr>
          <a:xfrm>
            <a:off x="11277600" y="6134100"/>
            <a:ext cx="914400" cy="723900"/>
          </a:xfrm>
          <a:prstGeom prst="rect">
            <a:avLst/>
          </a:prstGeom>
        </p:spPr>
      </p:pic>
    </p:spTree>
    <p:extLst>
      <p:ext uri="{BB962C8B-B14F-4D97-AF65-F5344CB8AC3E}">
        <p14:creationId xmlns:p14="http://schemas.microsoft.com/office/powerpoint/2010/main" val="24066326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it tick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Exit ticket</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7917711D-C09C-CCAD-4EC9-B1C85FAF2987}"/>
              </a:ext>
            </a:extLst>
          </p:cNvPr>
          <p:cNvPicPr>
            <a:picLocks noChangeAspect="1"/>
          </p:cNvPicPr>
          <p:nvPr/>
        </p:nvPicPr>
        <p:blipFill>
          <a:blip r:embed="rId2"/>
          <a:stretch>
            <a:fillRect/>
          </a:stretch>
        </p:blipFill>
        <p:spPr>
          <a:xfrm>
            <a:off x="11280576" y="6134100"/>
            <a:ext cx="812800" cy="723900"/>
          </a:xfrm>
          <a:prstGeom prst="rect">
            <a:avLst/>
          </a:prstGeom>
        </p:spPr>
      </p:pic>
    </p:spTree>
    <p:extLst>
      <p:ext uri="{BB962C8B-B14F-4D97-AF65-F5344CB8AC3E}">
        <p14:creationId xmlns:p14="http://schemas.microsoft.com/office/powerpoint/2010/main" val="112439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unplugg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Unplugged</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F9148094-2464-3D13-F7C1-FDA43750083D}"/>
              </a:ext>
            </a:extLst>
          </p:cNvPr>
          <p:cNvPicPr>
            <a:picLocks noChangeAspect="1"/>
          </p:cNvPicPr>
          <p:nvPr/>
        </p:nvPicPr>
        <p:blipFill>
          <a:blip r:embed="rId2"/>
          <a:stretch>
            <a:fillRect/>
          </a:stretch>
        </p:blipFill>
        <p:spPr>
          <a:xfrm>
            <a:off x="11280576" y="6134100"/>
            <a:ext cx="812800" cy="723900"/>
          </a:xfrm>
          <a:prstGeom prst="rect">
            <a:avLst/>
          </a:prstGeom>
        </p:spPr>
      </p:pic>
    </p:spTree>
    <p:extLst>
      <p:ext uri="{BB962C8B-B14F-4D97-AF65-F5344CB8AC3E}">
        <p14:creationId xmlns:p14="http://schemas.microsoft.com/office/powerpoint/2010/main" val="663887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ui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Build</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F5699C5B-F20A-28CC-BA77-CAA64351175A}"/>
              </a:ext>
            </a:extLst>
          </p:cNvPr>
          <p:cNvPicPr>
            <a:picLocks noChangeAspect="1"/>
          </p:cNvPicPr>
          <p:nvPr/>
        </p:nvPicPr>
        <p:blipFill>
          <a:blip r:embed="rId2"/>
          <a:stretch>
            <a:fillRect/>
          </a:stretch>
        </p:blipFill>
        <p:spPr>
          <a:xfrm>
            <a:off x="10851419" y="5827903"/>
            <a:ext cx="1174858" cy="973756"/>
          </a:xfrm>
          <a:prstGeom prst="rect">
            <a:avLst/>
          </a:prstGeom>
        </p:spPr>
      </p:pic>
    </p:spTree>
    <p:extLst>
      <p:ext uri="{BB962C8B-B14F-4D97-AF65-F5344CB8AC3E}">
        <p14:creationId xmlns:p14="http://schemas.microsoft.com/office/powerpoint/2010/main" val="156604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429B-368A-DD7F-A675-B5B9432D3FA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908D99B-14C7-1201-8CF0-821802917D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340ECA4-92A0-6282-814D-6F847E655F68}"/>
              </a:ext>
            </a:extLst>
          </p:cNvPr>
          <p:cNvSpPr>
            <a:spLocks noGrp="1"/>
          </p:cNvSpPr>
          <p:nvPr>
            <p:ph type="dt" sz="half" idx="10"/>
          </p:nvPr>
        </p:nvSpPr>
        <p:spPr/>
        <p:txBody>
          <a:bodyPr/>
          <a:lstStyle/>
          <a:p>
            <a:fld id="{FF25AE62-4B0D-2841-9E21-C4E4B67A41FE}" type="datetimeFigureOut">
              <a:rPr lang="en-GB" smtClean="0"/>
              <a:t>26/11/2025</a:t>
            </a:fld>
            <a:endParaRPr lang="en-GB"/>
          </a:p>
        </p:txBody>
      </p:sp>
      <p:sp>
        <p:nvSpPr>
          <p:cNvPr id="5" name="Footer Placeholder 4">
            <a:extLst>
              <a:ext uri="{FF2B5EF4-FFF2-40B4-BE49-F238E27FC236}">
                <a16:creationId xmlns:a16="http://schemas.microsoft.com/office/drawing/2014/main" id="{D6FF0AF8-BD6F-167E-FF90-47414CB684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26E845-E9E9-B406-FE15-B108B513A444}"/>
              </a:ext>
            </a:extLst>
          </p:cNvPr>
          <p:cNvSpPr>
            <a:spLocks noGrp="1"/>
          </p:cNvSpPr>
          <p:nvPr>
            <p:ph type="sldNum" sz="quarter" idx="12"/>
          </p:nvPr>
        </p:nvSpPr>
        <p:spPr/>
        <p:txBody>
          <a:bodyPr/>
          <a:lstStyle/>
          <a:p>
            <a:fld id="{0C9D3FE3-F4AB-174D-91F3-756F51A26C03}" type="slidenum">
              <a:rPr lang="en-GB" smtClean="0"/>
              <a:t>‹#›</a:t>
            </a:fld>
            <a:endParaRPr lang="en-GB"/>
          </a:p>
        </p:txBody>
      </p:sp>
    </p:spTree>
    <p:extLst>
      <p:ext uri="{BB962C8B-B14F-4D97-AF65-F5344CB8AC3E}">
        <p14:creationId xmlns:p14="http://schemas.microsoft.com/office/powerpoint/2010/main" val="24738129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50A1-4A4A-34A7-9E45-C7AC3876C5EB}"/>
              </a:ext>
            </a:extLst>
          </p:cNvPr>
          <p:cNvSpPr>
            <a:spLocks noGrp="1"/>
          </p:cNvSpPr>
          <p:nvPr>
            <p:ph type="title"/>
          </p:nvPr>
        </p:nvSpPr>
        <p:spPr>
          <a:xfrm>
            <a:off x="3314" y="16835"/>
            <a:ext cx="12188687" cy="681037"/>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26682997-E99A-1529-ED0E-7908AC659E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B32640-9121-B03D-FA8E-F38076A494D1}"/>
              </a:ext>
            </a:extLst>
          </p:cNvPr>
          <p:cNvSpPr>
            <a:spLocks noGrp="1"/>
          </p:cNvSpPr>
          <p:nvPr>
            <p:ph type="dt" sz="half" idx="10"/>
          </p:nvPr>
        </p:nvSpPr>
        <p:spPr/>
        <p:txBody>
          <a:bodyPr/>
          <a:lstStyle/>
          <a:p>
            <a:fld id="{EFB9778F-DEDE-6A42-900B-8C22BA44777F}" type="datetimeFigureOut">
              <a:rPr lang="en-GB" smtClean="0"/>
              <a:t>26/11/2025</a:t>
            </a:fld>
            <a:endParaRPr lang="en-GB"/>
          </a:p>
        </p:txBody>
      </p:sp>
      <p:sp>
        <p:nvSpPr>
          <p:cNvPr id="5" name="Footer Placeholder 4">
            <a:extLst>
              <a:ext uri="{FF2B5EF4-FFF2-40B4-BE49-F238E27FC236}">
                <a16:creationId xmlns:a16="http://schemas.microsoft.com/office/drawing/2014/main" id="{D8B0E507-7A3D-8810-09AD-2D736E0E64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5DED31-EEF2-A407-5EAE-A8ED7A42EF0D}"/>
              </a:ext>
            </a:extLst>
          </p:cNvPr>
          <p:cNvSpPr>
            <a:spLocks noGrp="1"/>
          </p:cNvSpPr>
          <p:nvPr>
            <p:ph type="sldNum" sz="quarter" idx="12"/>
          </p:nvPr>
        </p:nvSpPr>
        <p:spPr/>
        <p:txBody>
          <a:bodyPr/>
          <a:lstStyle/>
          <a:p>
            <a:fld id="{0C9D3FE3-F4AB-174D-91F3-756F51A26C03}" type="slidenum">
              <a:rPr lang="en-GB" smtClean="0"/>
              <a:t>‹#›</a:t>
            </a:fld>
            <a:endParaRPr lang="en-GB"/>
          </a:p>
        </p:txBody>
      </p:sp>
    </p:spTree>
    <p:extLst>
      <p:ext uri="{BB962C8B-B14F-4D97-AF65-F5344CB8AC3E}">
        <p14:creationId xmlns:p14="http://schemas.microsoft.com/office/powerpoint/2010/main" val="39453113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m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dirty="0"/>
              <a:t>Mu</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2" y="1030096"/>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3" name="Picture 2" descr="Mu · GitHub">
            <a:extLst>
              <a:ext uri="{FF2B5EF4-FFF2-40B4-BE49-F238E27FC236}">
                <a16:creationId xmlns:a16="http://schemas.microsoft.com/office/drawing/2014/main" id="{BD0D65EE-4F5F-D302-7336-DD8A1EF17738}"/>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769600" y="5435600"/>
            <a:ext cx="1422400" cy="142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0823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0867-0509-DA7D-2F91-896FBE307B80}"/>
              </a:ext>
            </a:extLst>
          </p:cNvPr>
          <p:cNvSpPr>
            <a:spLocks noGrp="1"/>
          </p:cNvSpPr>
          <p:nvPr>
            <p:ph type="title" hasCustomPrompt="1"/>
          </p:nvPr>
        </p:nvSpPr>
        <p:spPr/>
        <p:txBody>
          <a:bodyPr/>
          <a:lstStyle>
            <a:lvl1pPr>
              <a:defRPr/>
            </a:lvl1pPr>
          </a:lstStyle>
          <a:p>
            <a:r>
              <a:rPr lang="en-GB"/>
              <a:t>Question</a:t>
            </a:r>
          </a:p>
        </p:txBody>
      </p:sp>
    </p:spTree>
    <p:extLst>
      <p:ext uri="{BB962C8B-B14F-4D97-AF65-F5344CB8AC3E}">
        <p14:creationId xmlns:p14="http://schemas.microsoft.com/office/powerpoint/2010/main" val="27948480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_trink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19D-F0F4-E735-8A4C-AE9159C5F4DC}"/>
              </a:ext>
            </a:extLst>
          </p:cNvPr>
          <p:cNvSpPr>
            <a:spLocks noGrp="1"/>
          </p:cNvSpPr>
          <p:nvPr>
            <p:ph type="title" hasCustomPrompt="1"/>
          </p:nvPr>
        </p:nvSpPr>
        <p:spPr/>
        <p:txBody>
          <a:bodyPr/>
          <a:lstStyle/>
          <a:p>
            <a:r>
              <a:rPr lang="en-GB"/>
              <a:t>Run and Investigate</a:t>
            </a:r>
          </a:p>
        </p:txBody>
      </p:sp>
    </p:spTree>
    <p:extLst>
      <p:ext uri="{BB962C8B-B14F-4D97-AF65-F5344CB8AC3E}">
        <p14:creationId xmlns:p14="http://schemas.microsoft.com/office/powerpoint/2010/main" val="1410124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9DD4C1-08CF-4774-F2A2-BE24C6064C25}"/>
              </a:ext>
            </a:extLst>
          </p:cNvPr>
          <p:cNvSpPr>
            <a:spLocks noGrp="1"/>
          </p:cNvSpPr>
          <p:nvPr>
            <p:ph type="title"/>
          </p:nvPr>
        </p:nvSpPr>
        <p:spPr>
          <a:xfrm>
            <a:off x="3314" y="1"/>
            <a:ext cx="12188687" cy="681037"/>
          </a:xfrm>
          <a:prstGeom prst="rect">
            <a:avLst/>
          </a:prstGeom>
          <a:solidFill>
            <a:schemeClr val="accent4">
              <a:lumMod val="60000"/>
              <a:lumOff val="40000"/>
            </a:schemeClr>
          </a:solidFill>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0C6B0E9-B015-A0F2-1C6C-784CA336B8A4}"/>
              </a:ext>
            </a:extLst>
          </p:cNvPr>
          <p:cNvSpPr>
            <a:spLocks noGrp="1"/>
          </p:cNvSpPr>
          <p:nvPr>
            <p:ph type="body" idx="1"/>
          </p:nvPr>
        </p:nvSpPr>
        <p:spPr>
          <a:xfrm>
            <a:off x="311425" y="1020554"/>
            <a:ext cx="11615531" cy="481371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Slide Number Placeholder 5">
            <a:extLst>
              <a:ext uri="{FF2B5EF4-FFF2-40B4-BE49-F238E27FC236}">
                <a16:creationId xmlns:a16="http://schemas.microsoft.com/office/drawing/2014/main" id="{032FD39F-F7B2-62B8-0499-0F1CE60316B9}"/>
              </a:ext>
            </a:extLst>
          </p:cNvPr>
          <p:cNvSpPr>
            <a:spLocks noGrp="1"/>
          </p:cNvSpPr>
          <p:nvPr>
            <p:ph type="sldNum" sz="quarter" idx="4"/>
          </p:nvPr>
        </p:nvSpPr>
        <p:spPr>
          <a:xfrm>
            <a:off x="9183756" y="6406050"/>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0C9D3FE3-F4AB-174D-91F3-756F51A26C03}" type="slidenum">
              <a:rPr lang="en-GB" smtClean="0"/>
              <a:t>‹#›</a:t>
            </a:fld>
            <a:endParaRPr lang="en-GB"/>
          </a:p>
        </p:txBody>
      </p:sp>
    </p:spTree>
    <p:extLst>
      <p:ext uri="{BB962C8B-B14F-4D97-AF65-F5344CB8AC3E}">
        <p14:creationId xmlns:p14="http://schemas.microsoft.com/office/powerpoint/2010/main" val="5521330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Lst>
  <p:txStyles>
    <p:titleStyle>
      <a:lvl1pPr algn="l" defTabSz="514350" rtl="0" eaLnBrk="1" latinLnBrk="0" hangingPunct="1">
        <a:lnSpc>
          <a:spcPct val="90000"/>
        </a:lnSpc>
        <a:spcBef>
          <a:spcPct val="0"/>
        </a:spcBef>
        <a:buNone/>
        <a:defRPr sz="2475" kern="1200">
          <a:solidFill>
            <a:srgbClr val="0A0A0A"/>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2000" kern="1200">
          <a:solidFill>
            <a:srgbClr val="0A0A0A"/>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rgbClr val="0A0A0A"/>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rgbClr val="0A0A0A"/>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rgbClr val="0A0A0A"/>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rgbClr val="0A0A0A"/>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1EE5-ECD0-8194-C6BD-2895F564F063}"/>
              </a:ext>
            </a:extLst>
          </p:cNvPr>
          <p:cNvSpPr>
            <a:spLocks noGrp="1"/>
          </p:cNvSpPr>
          <p:nvPr>
            <p:ph type="title"/>
          </p:nvPr>
        </p:nvSpPr>
        <p:spPr/>
        <p:txBody>
          <a:bodyPr/>
          <a:lstStyle/>
          <a:p>
            <a:r>
              <a:rPr lang="en-GB"/>
              <a:t>Learning Aims</a:t>
            </a:r>
          </a:p>
        </p:txBody>
      </p:sp>
      <p:sp>
        <p:nvSpPr>
          <p:cNvPr id="3" name="Content Placeholder 2">
            <a:extLst>
              <a:ext uri="{FF2B5EF4-FFF2-40B4-BE49-F238E27FC236}">
                <a16:creationId xmlns:a16="http://schemas.microsoft.com/office/drawing/2014/main" id="{E873B0CD-1D21-9BCE-1F3C-291E2E3246AF}"/>
              </a:ext>
            </a:extLst>
          </p:cNvPr>
          <p:cNvSpPr>
            <a:spLocks noGrp="1"/>
          </p:cNvSpPr>
          <p:nvPr>
            <p:ph sz="quarter" idx="13"/>
          </p:nvPr>
        </p:nvSpPr>
        <p:spPr/>
        <p:txBody>
          <a:bodyPr>
            <a:normAutofit/>
          </a:bodyPr>
          <a:lstStyle/>
          <a:p>
            <a:r>
              <a:rPr lang="en-GB" sz="2400" dirty="0"/>
              <a:t>Describe different input devices</a:t>
            </a:r>
          </a:p>
          <a:p>
            <a:r>
              <a:rPr lang="en-GB" sz="2400" dirty="0"/>
              <a:t>Explain how different input devices can be applied as a solution to different problems</a:t>
            </a:r>
          </a:p>
          <a:p>
            <a:r>
              <a:rPr lang="en-GB" sz="2400" dirty="0"/>
              <a:t>Describe how different output devices can be applied as a solution to different problems</a:t>
            </a:r>
          </a:p>
        </p:txBody>
      </p:sp>
    </p:spTree>
    <p:extLst>
      <p:ext uri="{BB962C8B-B14F-4D97-AF65-F5344CB8AC3E}">
        <p14:creationId xmlns:p14="http://schemas.microsoft.com/office/powerpoint/2010/main" val="548807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6273A-F856-CE27-24C8-DC0E726E182A}"/>
              </a:ext>
            </a:extLst>
          </p:cNvPr>
          <p:cNvSpPr>
            <a:spLocks noGrp="1"/>
          </p:cNvSpPr>
          <p:nvPr>
            <p:ph type="title"/>
          </p:nvPr>
        </p:nvSpPr>
        <p:spPr/>
        <p:txBody>
          <a:bodyPr/>
          <a:lstStyle/>
          <a:p>
            <a:r>
              <a:rPr lang="en-GB"/>
              <a:t>Input Devices</a:t>
            </a:r>
          </a:p>
        </p:txBody>
      </p:sp>
      <p:graphicFrame>
        <p:nvGraphicFramePr>
          <p:cNvPr id="4" name="Table 3">
            <a:extLst>
              <a:ext uri="{FF2B5EF4-FFF2-40B4-BE49-F238E27FC236}">
                <a16:creationId xmlns:a16="http://schemas.microsoft.com/office/drawing/2014/main" id="{CC8B6221-8E9F-27DF-44AC-591D19B837F4}"/>
              </a:ext>
            </a:extLst>
          </p:cNvPr>
          <p:cNvGraphicFramePr>
            <a:graphicFrameLocks noGrp="1"/>
          </p:cNvGraphicFramePr>
          <p:nvPr>
            <p:extLst>
              <p:ext uri="{D42A27DB-BD31-4B8C-83A1-F6EECF244321}">
                <p14:modId xmlns:p14="http://schemas.microsoft.com/office/powerpoint/2010/main" val="4109908064"/>
              </p:ext>
            </p:extLst>
          </p:nvPr>
        </p:nvGraphicFramePr>
        <p:xfrm>
          <a:off x="451243" y="948194"/>
          <a:ext cx="10979808" cy="4572000"/>
        </p:xfrm>
        <a:graphic>
          <a:graphicData uri="http://schemas.openxmlformats.org/drawingml/2006/table">
            <a:tbl>
              <a:tblPr firstRow="1" bandRow="1">
                <a:tableStyleId>{5940675A-B579-460E-94D1-54222C63F5DA}</a:tableStyleId>
              </a:tblPr>
              <a:tblGrid>
                <a:gridCol w="5489904">
                  <a:extLst>
                    <a:ext uri="{9D8B030D-6E8A-4147-A177-3AD203B41FA5}">
                      <a16:colId xmlns:a16="http://schemas.microsoft.com/office/drawing/2014/main" val="1783888996"/>
                    </a:ext>
                  </a:extLst>
                </a:gridCol>
                <a:gridCol w="5489904">
                  <a:extLst>
                    <a:ext uri="{9D8B030D-6E8A-4147-A177-3AD203B41FA5}">
                      <a16:colId xmlns:a16="http://schemas.microsoft.com/office/drawing/2014/main" val="3431221144"/>
                    </a:ext>
                  </a:extLst>
                </a:gridCol>
              </a:tblGrid>
              <a:tr h="0">
                <a:tc>
                  <a:txBody>
                    <a:bodyPr/>
                    <a:lstStyle/>
                    <a:p>
                      <a:r>
                        <a:rPr lang="en-GB" sz="1800" b="1" dirty="0"/>
                        <a:t>Manual</a:t>
                      </a:r>
                    </a:p>
                  </a:txBody>
                  <a:tcPr/>
                </a:tc>
                <a:tc>
                  <a:txBody>
                    <a:bodyPr/>
                    <a:lstStyle/>
                    <a:p>
                      <a:r>
                        <a:rPr lang="en-GB" sz="1800" b="1"/>
                        <a:t>Automatic</a:t>
                      </a:r>
                    </a:p>
                  </a:txBody>
                  <a:tcPr/>
                </a:tc>
                <a:extLst>
                  <a:ext uri="{0D108BD9-81ED-4DB2-BD59-A6C34878D82A}">
                    <a16:rowId xmlns:a16="http://schemas.microsoft.com/office/drawing/2014/main" val="2561783089"/>
                  </a:ext>
                </a:extLst>
              </a:tr>
              <a:tr h="370840">
                <a:tc>
                  <a:txBody>
                    <a:bodyPr/>
                    <a:lstStyle/>
                    <a:p>
                      <a:r>
                        <a:rPr lang="en-GB" sz="1800" dirty="0"/>
                        <a:t>Keyboards</a:t>
                      </a:r>
                    </a:p>
                    <a:p>
                      <a:r>
                        <a:rPr lang="en-GB" sz="1800" b="1" i="0" kern="1200" dirty="0">
                          <a:solidFill>
                            <a:schemeClr val="tx1"/>
                          </a:solidFill>
                          <a:effectLst/>
                          <a:latin typeface="+mn-lt"/>
                          <a:ea typeface="+mn-ea"/>
                          <a:cs typeface="+mn-cs"/>
                        </a:rPr>
                        <a:t>Touch-sensitive keyboards and concept keyboards</a:t>
                      </a:r>
                      <a:endParaRPr lang="en-GB" sz="1800" dirty="0"/>
                    </a:p>
                    <a:p>
                      <a:r>
                        <a:rPr lang="en-GB" sz="1800" dirty="0"/>
                        <a:t>Touch screens</a:t>
                      </a:r>
                    </a:p>
                    <a:p>
                      <a:r>
                        <a:rPr lang="en-GB" sz="1800" dirty="0"/>
                        <a:t>Graphical tablets</a:t>
                      </a:r>
                    </a:p>
                    <a:p>
                      <a:r>
                        <a:rPr lang="en-GB" sz="1800" dirty="0"/>
                        <a:t>Mice</a:t>
                      </a:r>
                    </a:p>
                    <a:p>
                      <a:r>
                        <a:rPr lang="en-GB" sz="1800" dirty="0"/>
                        <a:t>Image capture</a:t>
                      </a:r>
                    </a:p>
                    <a:p>
                      <a:r>
                        <a:rPr lang="en-GB" sz="1800" dirty="0"/>
                        <a:t>Web Cams </a:t>
                      </a:r>
                      <a:r>
                        <a:rPr lang="en-GB" sz="1800"/>
                        <a:t>and microphones</a:t>
                      </a:r>
                      <a:endParaRPr lang="en-GB" sz="1800" dirty="0"/>
                    </a:p>
                    <a:p>
                      <a:r>
                        <a:rPr lang="en-GB" sz="1800" dirty="0"/>
                        <a:t>Voice recognition</a:t>
                      </a:r>
                    </a:p>
                    <a:p>
                      <a:r>
                        <a:rPr lang="en-GB" sz="1800" dirty="0"/>
                        <a:t>Scanners</a:t>
                      </a:r>
                    </a:p>
                    <a:p>
                      <a:r>
                        <a:rPr lang="en-GB" sz="1800" dirty="0"/>
                        <a:t>Digital Cameras</a:t>
                      </a:r>
                    </a:p>
                    <a:p>
                      <a:r>
                        <a:rPr lang="en-GB" sz="1800" b="1" i="0" kern="1200" dirty="0">
                          <a:solidFill>
                            <a:schemeClr val="tx1"/>
                          </a:solidFill>
                          <a:effectLst/>
                          <a:latin typeface="+mn-lt"/>
                          <a:ea typeface="+mn-ea"/>
                          <a:cs typeface="+mn-cs"/>
                        </a:rPr>
                        <a:t>Biometric devices – F</a:t>
                      </a:r>
                      <a:r>
                        <a:rPr lang="en-GB" sz="1800" b="0" i="0" kern="1200" dirty="0">
                          <a:solidFill>
                            <a:schemeClr val="tx1"/>
                          </a:solidFill>
                          <a:effectLst/>
                          <a:latin typeface="+mn-lt"/>
                          <a:ea typeface="+mn-ea"/>
                          <a:cs typeface="+mn-cs"/>
                        </a:rPr>
                        <a:t>ingerprint, facial, and retinal scanning</a:t>
                      </a:r>
                      <a:endParaRPr lang="en-GB" sz="1800" dirty="0"/>
                    </a:p>
                  </a:txBody>
                  <a:tcPr/>
                </a:tc>
                <a:tc>
                  <a:txBody>
                    <a:bodyPr/>
                    <a:lstStyle/>
                    <a:p>
                      <a:r>
                        <a:rPr lang="en-GB" sz="1800" b="1" i="0" kern="1200" dirty="0">
                          <a:solidFill>
                            <a:schemeClr val="tx1"/>
                          </a:solidFill>
                          <a:effectLst/>
                          <a:latin typeface="+mn-lt"/>
                          <a:ea typeface="+mn-ea"/>
                          <a:cs typeface="+mn-cs"/>
                        </a:rPr>
                        <a:t>Automatic data input methods:</a:t>
                      </a:r>
                    </a:p>
                    <a:p>
                      <a:endParaRPr lang="en-GB" sz="1800" b="1" i="0" kern="1200" dirty="0">
                        <a:solidFill>
                          <a:schemeClr val="tx1"/>
                        </a:solidFill>
                        <a:effectLst/>
                        <a:latin typeface="+mn-lt"/>
                        <a:ea typeface="+mn-ea"/>
                        <a:cs typeface="+mn-cs"/>
                      </a:endParaRPr>
                    </a:p>
                    <a:p>
                      <a:r>
                        <a:rPr lang="en-GB" sz="1800" b="0" i="0" kern="1200" dirty="0">
                          <a:solidFill>
                            <a:schemeClr val="tx1"/>
                          </a:solidFill>
                          <a:effectLst/>
                          <a:latin typeface="+mn-lt"/>
                          <a:ea typeface="+mn-ea"/>
                          <a:cs typeface="+mn-cs"/>
                        </a:rPr>
                        <a:t>Bar codes</a:t>
                      </a:r>
                    </a:p>
                    <a:p>
                      <a:r>
                        <a:rPr lang="en-GB" sz="1800" b="0" i="0" kern="1200" dirty="0">
                          <a:solidFill>
                            <a:schemeClr val="tx1"/>
                          </a:solidFill>
                          <a:effectLst/>
                          <a:latin typeface="+mn-lt"/>
                          <a:ea typeface="+mn-ea"/>
                          <a:cs typeface="+mn-cs"/>
                        </a:rPr>
                        <a:t>Laser scanners</a:t>
                      </a:r>
                    </a:p>
                    <a:p>
                      <a:r>
                        <a:rPr lang="en-GB" sz="1800" b="0" i="0" kern="1200" dirty="0">
                          <a:solidFill>
                            <a:schemeClr val="tx1"/>
                          </a:solidFill>
                          <a:effectLst/>
                          <a:latin typeface="+mn-lt"/>
                          <a:ea typeface="+mn-ea"/>
                          <a:cs typeface="+mn-cs"/>
                        </a:rPr>
                        <a:t>Camera based readers</a:t>
                      </a:r>
                    </a:p>
                    <a:p>
                      <a:r>
                        <a:rPr lang="en-GB" sz="1800" b="0" i="0" kern="1200" dirty="0">
                          <a:solidFill>
                            <a:schemeClr val="tx1"/>
                          </a:solidFill>
                          <a:effectLst/>
                          <a:latin typeface="+mn-lt"/>
                          <a:ea typeface="+mn-ea"/>
                          <a:cs typeface="+mn-cs"/>
                        </a:rPr>
                        <a:t>Radio Frequency Identification (RFID)</a:t>
                      </a:r>
                    </a:p>
                    <a:p>
                      <a:endParaRPr lang="en-GB" sz="1800" b="1" i="0" kern="1200" dirty="0">
                        <a:solidFill>
                          <a:schemeClr val="tx1"/>
                        </a:solidFill>
                        <a:effectLst/>
                        <a:latin typeface="+mn-lt"/>
                        <a:ea typeface="+mn-ea"/>
                        <a:cs typeface="+mn-cs"/>
                      </a:endParaRPr>
                    </a:p>
                    <a:p>
                      <a:r>
                        <a:rPr lang="en-GB" sz="1800" b="1" i="0" kern="1200" dirty="0">
                          <a:solidFill>
                            <a:schemeClr val="tx1"/>
                          </a:solidFill>
                          <a:effectLst/>
                          <a:latin typeface="+mn-lt"/>
                          <a:ea typeface="+mn-ea"/>
                          <a:cs typeface="+mn-cs"/>
                        </a:rPr>
                        <a:t>Data logging:</a:t>
                      </a:r>
                    </a:p>
                    <a:p>
                      <a:endParaRPr lang="en-GB" sz="1800" b="1" i="0" kern="1200" dirty="0">
                        <a:solidFill>
                          <a:schemeClr val="tx1"/>
                        </a:solidFill>
                        <a:effectLst/>
                        <a:latin typeface="+mn-lt"/>
                        <a:ea typeface="+mn-ea"/>
                        <a:cs typeface="+mn-cs"/>
                      </a:endParaRPr>
                    </a:p>
                    <a:p>
                      <a:r>
                        <a:rPr lang="en-GB" sz="1800" dirty="0"/>
                        <a:t>Heart rate sensor</a:t>
                      </a:r>
                    </a:p>
                    <a:p>
                      <a:r>
                        <a:rPr lang="en-GB" sz="1800" dirty="0"/>
                        <a:t>GPS (receiver)</a:t>
                      </a:r>
                    </a:p>
                    <a:p>
                      <a:r>
                        <a:rPr lang="en-GB" sz="1800" dirty="0"/>
                        <a:t>Accelerometer/gyroscope/motion sensor</a:t>
                      </a:r>
                    </a:p>
                    <a:p>
                      <a:r>
                        <a:rPr lang="en-GB" sz="1800" b="0" i="0" kern="1200" dirty="0">
                          <a:solidFill>
                            <a:schemeClr val="tx1"/>
                          </a:solidFill>
                          <a:effectLst/>
                          <a:latin typeface="+mn-lt"/>
                          <a:ea typeface="+mn-ea"/>
                          <a:cs typeface="+mn-cs"/>
                        </a:rPr>
                        <a:t>Thermometers, light and UV sensors, skin response sensors, magnetometers, </a:t>
                      </a:r>
                      <a:r>
                        <a:rPr lang="en-GB" sz="1800" b="0" i="0" kern="1200" dirty="0" err="1">
                          <a:solidFill>
                            <a:schemeClr val="tx1"/>
                          </a:solidFill>
                          <a:effectLst/>
                          <a:latin typeface="+mn-lt"/>
                          <a:ea typeface="+mn-ea"/>
                          <a:cs typeface="+mn-cs"/>
                        </a:rPr>
                        <a:t>gyrometer</a:t>
                      </a:r>
                      <a:r>
                        <a:rPr lang="en-GB" sz="1800" b="0" i="0" kern="1200" dirty="0">
                          <a:solidFill>
                            <a:schemeClr val="tx1"/>
                          </a:solidFill>
                          <a:effectLst/>
                          <a:latin typeface="+mn-lt"/>
                          <a:ea typeface="+mn-ea"/>
                          <a:cs typeface="+mn-cs"/>
                        </a:rPr>
                        <a:t>, ECG etc.</a:t>
                      </a:r>
                    </a:p>
                  </a:txBody>
                  <a:tcPr/>
                </a:tc>
                <a:extLst>
                  <a:ext uri="{0D108BD9-81ED-4DB2-BD59-A6C34878D82A}">
                    <a16:rowId xmlns:a16="http://schemas.microsoft.com/office/drawing/2014/main" val="2119635329"/>
                  </a:ext>
                </a:extLst>
              </a:tr>
            </a:tbl>
          </a:graphicData>
        </a:graphic>
      </p:graphicFrame>
    </p:spTree>
    <p:extLst>
      <p:ext uri="{BB962C8B-B14F-4D97-AF65-F5344CB8AC3E}">
        <p14:creationId xmlns:p14="http://schemas.microsoft.com/office/powerpoint/2010/main" val="1446612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EF68-804F-EE73-E29A-132178247406}"/>
              </a:ext>
            </a:extLst>
          </p:cNvPr>
          <p:cNvSpPr>
            <a:spLocks noGrp="1"/>
          </p:cNvSpPr>
          <p:nvPr>
            <p:ph type="title"/>
          </p:nvPr>
        </p:nvSpPr>
        <p:spPr/>
        <p:txBody>
          <a:bodyPr/>
          <a:lstStyle/>
          <a:p>
            <a:r>
              <a:rPr lang="en-GB" dirty="0"/>
              <a:t>Optical recognition</a:t>
            </a:r>
          </a:p>
        </p:txBody>
      </p:sp>
      <p:sp>
        <p:nvSpPr>
          <p:cNvPr id="3" name="Content Placeholder 2">
            <a:extLst>
              <a:ext uri="{FF2B5EF4-FFF2-40B4-BE49-F238E27FC236}">
                <a16:creationId xmlns:a16="http://schemas.microsoft.com/office/drawing/2014/main" id="{4F6BC760-425F-D37B-69D7-C62BE1F3B8B4}"/>
              </a:ext>
            </a:extLst>
          </p:cNvPr>
          <p:cNvSpPr>
            <a:spLocks noGrp="1"/>
          </p:cNvSpPr>
          <p:nvPr>
            <p:ph sz="quarter" idx="13"/>
          </p:nvPr>
        </p:nvSpPr>
        <p:spPr/>
        <p:txBody>
          <a:bodyPr>
            <a:normAutofit fontScale="62500" lnSpcReduction="20000"/>
          </a:bodyPr>
          <a:lstStyle/>
          <a:p>
            <a:pPr marL="0" indent="0">
              <a:buNone/>
            </a:pPr>
            <a:r>
              <a:rPr lang="en-GB" dirty="0"/>
              <a:t>Optical recognition refers to technologies that enable computers to identify and interpret visual information.</a:t>
            </a:r>
          </a:p>
          <a:p>
            <a:pPr marL="0" indent="0">
              <a:buNone/>
            </a:pPr>
            <a:endParaRPr lang="en-GB" dirty="0"/>
          </a:p>
          <a:p>
            <a:pPr marL="0" indent="0">
              <a:buNone/>
            </a:pPr>
            <a:r>
              <a:rPr lang="en-GB" b="1" dirty="0"/>
              <a:t>1. Optical Character Recognition (OCR)</a:t>
            </a:r>
          </a:p>
          <a:p>
            <a:pPr marL="0" indent="0">
              <a:buNone/>
            </a:pPr>
            <a:r>
              <a:rPr lang="en-GB" dirty="0"/>
              <a:t>Recognizes </a:t>
            </a:r>
            <a:r>
              <a:rPr lang="en-GB" b="1" dirty="0"/>
              <a:t>printed or handwritten text</a:t>
            </a:r>
            <a:r>
              <a:rPr lang="en-GB" dirty="0"/>
              <a:t> in images or documents.</a:t>
            </a:r>
          </a:p>
          <a:p>
            <a:pPr marL="0" indent="0">
              <a:buNone/>
            </a:pPr>
            <a:r>
              <a:rPr lang="en-GB" dirty="0"/>
              <a:t>Used for: document scanning, digitizing books, extracting text from images.</a:t>
            </a:r>
          </a:p>
          <a:p>
            <a:pPr marL="0" indent="0">
              <a:buNone/>
            </a:pPr>
            <a:br>
              <a:rPr lang="en-GB" dirty="0"/>
            </a:br>
            <a:endParaRPr lang="en-GB" dirty="0"/>
          </a:p>
          <a:p>
            <a:pPr marL="0" indent="0">
              <a:buNone/>
            </a:pPr>
            <a:r>
              <a:rPr lang="en-GB" b="1" dirty="0"/>
              <a:t>2. Intelligent Character Recognition (ICR)</a:t>
            </a:r>
          </a:p>
          <a:p>
            <a:pPr marL="0" indent="0">
              <a:buNone/>
            </a:pPr>
            <a:r>
              <a:rPr lang="en-GB" dirty="0"/>
              <a:t>An advanced form of OCR that recognizes </a:t>
            </a:r>
            <a:r>
              <a:rPr lang="en-GB" b="1" dirty="0"/>
              <a:t>handwritten characters</a:t>
            </a:r>
            <a:r>
              <a:rPr lang="en-GB" dirty="0"/>
              <a:t> more accurately.</a:t>
            </a:r>
          </a:p>
          <a:p>
            <a:pPr marL="0" indent="0">
              <a:buNone/>
            </a:pPr>
            <a:r>
              <a:rPr lang="en-GB" dirty="0"/>
              <a:t>Used for: handwritten forms, surveys, notes.</a:t>
            </a:r>
          </a:p>
          <a:p>
            <a:pPr marL="0" indent="0">
              <a:buNone/>
            </a:pPr>
            <a:endParaRPr lang="en-GB" dirty="0"/>
          </a:p>
          <a:p>
            <a:pPr marL="0" indent="0">
              <a:buNone/>
            </a:pPr>
            <a:r>
              <a:rPr lang="en-GB" b="1" dirty="0"/>
              <a:t>3. Optical Mark Recognition (OMR)</a:t>
            </a:r>
          </a:p>
          <a:p>
            <a:r>
              <a:rPr lang="en-GB" dirty="0"/>
              <a:t>Detects </a:t>
            </a:r>
            <a:r>
              <a:rPr lang="en-GB" b="1" dirty="0"/>
              <a:t>marks or checkboxes</a:t>
            </a:r>
            <a:r>
              <a:rPr lang="en-GB" dirty="0"/>
              <a:t> on paper forms.</a:t>
            </a:r>
          </a:p>
          <a:p>
            <a:r>
              <a:rPr lang="en-GB" dirty="0"/>
              <a:t>Used for: multiple-choice tests, ballots, surveys.</a:t>
            </a:r>
          </a:p>
          <a:p>
            <a:pPr marL="0" indent="0">
              <a:buNone/>
            </a:pPr>
            <a:br>
              <a:rPr lang="en-GB" dirty="0"/>
            </a:br>
            <a:endParaRPr lang="en-GB" dirty="0"/>
          </a:p>
          <a:p>
            <a:pPr marL="0" indent="0">
              <a:buNone/>
            </a:pPr>
            <a:r>
              <a:rPr lang="en-GB" b="1" dirty="0"/>
              <a:t>4. Optical Barcode Recognition</a:t>
            </a:r>
          </a:p>
          <a:p>
            <a:r>
              <a:rPr lang="en-GB" dirty="0"/>
              <a:t>Reads </a:t>
            </a:r>
            <a:r>
              <a:rPr lang="en-GB" b="1" dirty="0"/>
              <a:t>1D barcodes</a:t>
            </a:r>
            <a:r>
              <a:rPr lang="en-GB" dirty="0"/>
              <a:t> (e.g., UPC, EAN).</a:t>
            </a:r>
          </a:p>
          <a:p>
            <a:r>
              <a:rPr lang="en-GB" dirty="0"/>
              <a:t>Used for: retail checkout, inventory systems.</a:t>
            </a:r>
          </a:p>
          <a:p>
            <a:pPr marL="0" indent="0">
              <a:buNone/>
            </a:pPr>
            <a:br>
              <a:rPr lang="en-GB" dirty="0"/>
            </a:br>
            <a:endParaRPr lang="en-GB" dirty="0"/>
          </a:p>
          <a:p>
            <a:pPr marL="0" indent="0">
              <a:buNone/>
            </a:pPr>
            <a:r>
              <a:rPr lang="en-GB" b="1" dirty="0"/>
              <a:t>5. QR Code Recognition</a:t>
            </a:r>
          </a:p>
          <a:p>
            <a:r>
              <a:rPr lang="en-GB" dirty="0"/>
              <a:t>Detects and decodes </a:t>
            </a:r>
            <a:r>
              <a:rPr lang="en-GB" b="1" dirty="0"/>
              <a:t>2D QR codes</a:t>
            </a:r>
            <a:r>
              <a:rPr lang="en-GB" dirty="0"/>
              <a:t>.</a:t>
            </a:r>
          </a:p>
          <a:p>
            <a:r>
              <a:rPr lang="en-GB" dirty="0"/>
              <a:t>Used for: payments, authentication, linking URLs.</a:t>
            </a:r>
          </a:p>
          <a:p>
            <a:pPr marL="0" indent="0">
              <a:buNone/>
            </a:pPr>
            <a:endParaRPr lang="en-GB" dirty="0"/>
          </a:p>
          <a:p>
            <a:pPr marL="0" indent="0">
              <a:buNone/>
            </a:pPr>
            <a:endParaRPr lang="en-GB" dirty="0"/>
          </a:p>
          <a:p>
            <a:pPr marL="0" indent="0">
              <a:buNone/>
            </a:pPr>
            <a:endParaRPr lang="en-GB" dirty="0"/>
          </a:p>
        </p:txBody>
      </p:sp>
      <p:pic>
        <p:nvPicPr>
          <p:cNvPr id="4" name="Picture 3" descr="A qr code on a white background&#10;&#10;Description automatically generated">
            <a:extLst>
              <a:ext uri="{FF2B5EF4-FFF2-40B4-BE49-F238E27FC236}">
                <a16:creationId xmlns:a16="http://schemas.microsoft.com/office/drawing/2014/main" id="{AA799A1A-CAFF-DB6C-EE33-E69AB7801D2A}"/>
              </a:ext>
            </a:extLst>
          </p:cNvPr>
          <p:cNvPicPr>
            <a:picLocks noChangeAspect="1"/>
          </p:cNvPicPr>
          <p:nvPr/>
        </p:nvPicPr>
        <p:blipFill>
          <a:blip r:embed="rId2"/>
          <a:stretch>
            <a:fillRect/>
          </a:stretch>
        </p:blipFill>
        <p:spPr>
          <a:xfrm>
            <a:off x="5861645" y="4337978"/>
            <a:ext cx="2421118" cy="2334833"/>
          </a:xfrm>
          <a:prstGeom prst="rect">
            <a:avLst/>
          </a:prstGeom>
        </p:spPr>
      </p:pic>
      <p:pic>
        <p:nvPicPr>
          <p:cNvPr id="1028" name="Picture 4" descr="Python Optical Character Recognition (OCR): A Tutorial | Built In">
            <a:extLst>
              <a:ext uri="{FF2B5EF4-FFF2-40B4-BE49-F238E27FC236}">
                <a16:creationId xmlns:a16="http://schemas.microsoft.com/office/drawing/2014/main" id="{A5666317-9EC5-58B3-0AA7-5EEA2512F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3424" y="1384981"/>
            <a:ext cx="4056557" cy="2146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661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9060-0B81-397D-B3A0-D69F3BFBC38E}"/>
              </a:ext>
            </a:extLst>
          </p:cNvPr>
          <p:cNvSpPr>
            <a:spLocks noGrp="1"/>
          </p:cNvSpPr>
          <p:nvPr>
            <p:ph type="title"/>
          </p:nvPr>
        </p:nvSpPr>
        <p:spPr/>
        <p:txBody>
          <a:bodyPr/>
          <a:lstStyle/>
          <a:p>
            <a:r>
              <a:rPr lang="en-GB" dirty="0"/>
              <a:t>Readers</a:t>
            </a:r>
          </a:p>
        </p:txBody>
      </p:sp>
      <p:pic>
        <p:nvPicPr>
          <p:cNvPr id="8" name="Picture 7" descr="A hand holding a plastic bag of strawberries&#10;&#10;Description automatically generated">
            <a:extLst>
              <a:ext uri="{FF2B5EF4-FFF2-40B4-BE49-F238E27FC236}">
                <a16:creationId xmlns:a16="http://schemas.microsoft.com/office/drawing/2014/main" id="{D10AF212-A10A-008A-4166-3507A9D58634}"/>
              </a:ext>
            </a:extLst>
          </p:cNvPr>
          <p:cNvPicPr>
            <a:picLocks noChangeAspect="1"/>
          </p:cNvPicPr>
          <p:nvPr/>
        </p:nvPicPr>
        <p:blipFill>
          <a:blip r:embed="rId2"/>
          <a:stretch>
            <a:fillRect/>
          </a:stretch>
        </p:blipFill>
        <p:spPr>
          <a:xfrm>
            <a:off x="10324214" y="825011"/>
            <a:ext cx="1154863" cy="1141382"/>
          </a:xfrm>
          <a:prstGeom prst="rect">
            <a:avLst/>
          </a:prstGeom>
        </p:spPr>
      </p:pic>
      <p:sp>
        <p:nvSpPr>
          <p:cNvPr id="5" name="TextBox 4">
            <a:extLst>
              <a:ext uri="{FF2B5EF4-FFF2-40B4-BE49-F238E27FC236}">
                <a16:creationId xmlns:a16="http://schemas.microsoft.com/office/drawing/2014/main" id="{FE3F6C61-71B7-781B-B235-0CC28581D37C}"/>
              </a:ext>
            </a:extLst>
          </p:cNvPr>
          <p:cNvSpPr txBox="1"/>
          <p:nvPr/>
        </p:nvSpPr>
        <p:spPr>
          <a:xfrm>
            <a:off x="176191" y="825010"/>
            <a:ext cx="10722181" cy="5724644"/>
          </a:xfrm>
          <a:prstGeom prst="rect">
            <a:avLst/>
          </a:prstGeom>
          <a:noFill/>
        </p:spPr>
        <p:txBody>
          <a:bodyPr wrap="square">
            <a:spAutoFit/>
          </a:bodyPr>
          <a:lstStyle/>
          <a:p>
            <a:r>
              <a:rPr lang="en-GB" b="1" dirty="0"/>
              <a:t>Laser Scanners</a:t>
            </a:r>
          </a:p>
          <a:p>
            <a:endParaRPr lang="en-GB" dirty="0"/>
          </a:p>
          <a:p>
            <a:r>
              <a:rPr lang="en-GB" dirty="0"/>
              <a:t>Laser scanners work like pen scanners but use a laser beam as the light source. They are commonly seen in supermarket checkout counters. They are reliable, low-cost, and suitable for low-volume scanning.</a:t>
            </a:r>
          </a:p>
          <a:p>
            <a:endParaRPr lang="en-GB" b="1" dirty="0"/>
          </a:p>
          <a:p>
            <a:r>
              <a:rPr lang="en-GB" b="1" dirty="0"/>
              <a:t>Camera-Based Readers</a:t>
            </a:r>
          </a:p>
          <a:p>
            <a:endParaRPr lang="en-GB" dirty="0"/>
          </a:p>
          <a:p>
            <a:r>
              <a:rPr lang="en-GB" dirty="0"/>
              <a:t>These scanners use a camera and image processing to read 1D and 2D barcodes. They can scan barcodes from paper, screens, or damaged labels.</a:t>
            </a:r>
          </a:p>
          <a:p>
            <a:r>
              <a:rPr lang="en-GB" dirty="0"/>
              <a:t>They are used for:</a:t>
            </a:r>
          </a:p>
          <a:p>
            <a:r>
              <a:rPr lang="en-GB" dirty="0"/>
              <a:t>	•	Age verification (e.g., scanning a driver’s licence)</a:t>
            </a:r>
          </a:p>
          <a:p>
            <a:r>
              <a:rPr lang="en-GB" dirty="0"/>
              <a:t>	•	Digital couponing (scanning 2D codes from phones at checkout)</a:t>
            </a:r>
          </a:p>
          <a:p>
            <a:r>
              <a:rPr lang="en-GB" dirty="0"/>
              <a:t>	•	Event ticketing (scanning electronic tickets from screens)</a:t>
            </a:r>
          </a:p>
          <a:p>
            <a:endParaRPr lang="en-GB" dirty="0"/>
          </a:p>
          <a:p>
            <a:r>
              <a:rPr lang="en-GB" dirty="0"/>
              <a:t>Consumers can also use smartphone cameras to scan QR codes to:</a:t>
            </a:r>
          </a:p>
          <a:p>
            <a:r>
              <a:rPr lang="en-GB" dirty="0"/>
              <a:t>	•	View catalogues</a:t>
            </a:r>
          </a:p>
          <a:p>
            <a:r>
              <a:rPr lang="en-GB" dirty="0"/>
              <a:t>	•	Play media</a:t>
            </a:r>
          </a:p>
          <a:p>
            <a:r>
              <a:rPr lang="en-GB" dirty="0"/>
              <a:t>	•	Access product information</a:t>
            </a:r>
          </a:p>
          <a:p>
            <a:endParaRPr lang="en-GB" sz="1200" dirty="0"/>
          </a:p>
          <a:p>
            <a:endParaRPr lang="en-GB" sz="1200" dirty="0"/>
          </a:p>
        </p:txBody>
      </p:sp>
    </p:spTree>
    <p:extLst>
      <p:ext uri="{BB962C8B-B14F-4D97-AF65-F5344CB8AC3E}">
        <p14:creationId xmlns:p14="http://schemas.microsoft.com/office/powerpoint/2010/main" val="58846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90814-9D5B-3D06-8F3A-A5B0FF65120B}"/>
              </a:ext>
            </a:extLst>
          </p:cNvPr>
          <p:cNvSpPr>
            <a:spLocks noGrp="1"/>
          </p:cNvSpPr>
          <p:nvPr>
            <p:ph type="title"/>
          </p:nvPr>
        </p:nvSpPr>
        <p:spPr/>
        <p:txBody>
          <a:bodyPr/>
          <a:lstStyle/>
          <a:p>
            <a:r>
              <a:rPr lang="en-GB"/>
              <a:t>Question</a:t>
            </a:r>
          </a:p>
        </p:txBody>
      </p:sp>
      <p:sp>
        <p:nvSpPr>
          <p:cNvPr id="4" name="Content Placeholder 3">
            <a:extLst>
              <a:ext uri="{FF2B5EF4-FFF2-40B4-BE49-F238E27FC236}">
                <a16:creationId xmlns:a16="http://schemas.microsoft.com/office/drawing/2014/main" id="{35E64BB0-DF0C-6547-0C6E-E6A9048740E3}"/>
              </a:ext>
            </a:extLst>
          </p:cNvPr>
          <p:cNvSpPr txBox="1">
            <a:spLocks noGrp="1"/>
          </p:cNvSpPr>
          <p:nvPr>
            <p:ph sz="quarter" idx="4294967295"/>
          </p:nvPr>
        </p:nvSpPr>
        <p:spPr>
          <a:xfrm>
            <a:off x="515635" y="856108"/>
            <a:ext cx="11449050" cy="3119437"/>
          </a:xfrm>
          <a:prstGeom prst="rect">
            <a:avLst/>
          </a:prstGeom>
          <a:noFill/>
        </p:spPr>
        <p:txBody>
          <a:bodyPr wrap="square">
            <a:spAutoFit/>
          </a:bodyPr>
          <a:lstStyle/>
          <a:p>
            <a:r>
              <a:rPr lang="en-GB" dirty="0"/>
              <a:t>Mastercard is testing a new app that allows customers to make purchases online by taking a selfie rather than entering a password. </a:t>
            </a:r>
          </a:p>
          <a:p>
            <a:r>
              <a:rPr lang="en-GB" dirty="0"/>
              <a:t>Currently, Mastercard customers enter a password at the point of sale to verify their identity, but these can be forgotten, stolen or intercepted.</a:t>
            </a:r>
          </a:p>
          <a:p>
            <a:r>
              <a:rPr lang="en-GB" dirty="0"/>
              <a:t>Participants in the trial are prompted to take a photograph of their face using the Mastercard app, which is then converted to a binary code using facial recognition technology. </a:t>
            </a:r>
          </a:p>
          <a:p>
            <a:r>
              <a:rPr lang="en-GB" dirty="0"/>
              <a:t>This is then compared with a stored code and if the two match up, the purchase is approved.</a:t>
            </a:r>
          </a:p>
        </p:txBody>
      </p:sp>
      <p:sp>
        <p:nvSpPr>
          <p:cNvPr id="6" name="TextBox 5">
            <a:extLst>
              <a:ext uri="{FF2B5EF4-FFF2-40B4-BE49-F238E27FC236}">
                <a16:creationId xmlns:a16="http://schemas.microsoft.com/office/drawing/2014/main" id="{6FF3396B-6B12-DEBB-175F-FFEAA5100823}"/>
              </a:ext>
            </a:extLst>
          </p:cNvPr>
          <p:cNvSpPr txBox="1"/>
          <p:nvPr/>
        </p:nvSpPr>
        <p:spPr>
          <a:xfrm>
            <a:off x="801042" y="3688950"/>
            <a:ext cx="10985938" cy="923330"/>
          </a:xfrm>
          <a:prstGeom prst="rect">
            <a:avLst/>
          </a:prstGeom>
          <a:noFill/>
        </p:spPr>
        <p:txBody>
          <a:bodyPr wrap="square">
            <a:spAutoFit/>
          </a:bodyPr>
          <a:lstStyle/>
          <a:p>
            <a:r>
              <a:rPr lang="en-GB" b="1" dirty="0"/>
              <a:t>1. Do you see any problems with this procedure?</a:t>
            </a:r>
          </a:p>
          <a:p>
            <a:r>
              <a:rPr lang="en-GB" b="1" dirty="0"/>
              <a:t>2. What other forms of identification could be used for this application rather than entering a</a:t>
            </a:r>
          </a:p>
          <a:p>
            <a:r>
              <a:rPr lang="en-GB" b="1" dirty="0"/>
              <a:t>password?</a:t>
            </a:r>
          </a:p>
        </p:txBody>
      </p:sp>
      <p:sp>
        <p:nvSpPr>
          <p:cNvPr id="8" name="TextBox 7">
            <a:extLst>
              <a:ext uri="{FF2B5EF4-FFF2-40B4-BE49-F238E27FC236}">
                <a16:creationId xmlns:a16="http://schemas.microsoft.com/office/drawing/2014/main" id="{86189CFF-C9E0-1E9E-1878-9B21A9F5333D}"/>
              </a:ext>
            </a:extLst>
          </p:cNvPr>
          <p:cNvSpPr txBox="1"/>
          <p:nvPr/>
        </p:nvSpPr>
        <p:spPr>
          <a:xfrm>
            <a:off x="801042" y="4752210"/>
            <a:ext cx="10415123" cy="1631216"/>
          </a:xfrm>
          <a:prstGeom prst="rect">
            <a:avLst/>
          </a:prstGeom>
          <a:noFill/>
        </p:spPr>
        <p:txBody>
          <a:bodyPr wrap="square">
            <a:spAutoFit/>
          </a:bodyPr>
          <a:lstStyle/>
          <a:p>
            <a:pPr marL="269875" indent="-269875">
              <a:spcAft>
                <a:spcPts val="600"/>
              </a:spcAft>
              <a:tabLst>
                <a:tab pos="270510" algn="l"/>
                <a:tab pos="540385" algn="l"/>
                <a:tab pos="900430" algn="l"/>
                <a:tab pos="1260475" algn="l"/>
                <a:tab pos="5671185" algn="r"/>
              </a:tabLst>
            </a:pPr>
            <a:r>
              <a:rPr lang="en-GB" sz="1800" dirty="0">
                <a:effectLst/>
                <a:latin typeface="+mj-lt"/>
                <a:ea typeface="Times New Roman" panose="02020603050405020304" pitchFamily="18" charset="0"/>
              </a:rPr>
              <a:t>Some users may not know how to take a photo on their phone, or may not have a mobile phone. </a:t>
            </a:r>
          </a:p>
          <a:p>
            <a:pPr marL="269875" indent="-269875">
              <a:spcAft>
                <a:spcPts val="600"/>
              </a:spcAft>
              <a:tabLst>
                <a:tab pos="270510" algn="l"/>
                <a:tab pos="540385" algn="l"/>
                <a:tab pos="900430" algn="l"/>
                <a:tab pos="1260475" algn="l"/>
                <a:tab pos="5671185" algn="r"/>
              </a:tabLst>
            </a:pPr>
            <a:r>
              <a:rPr lang="en-GB" sz="1800" dirty="0">
                <a:effectLst/>
                <a:latin typeface="+mj-lt"/>
                <a:ea typeface="Times New Roman" panose="02020603050405020304" pitchFamily="18" charset="0"/>
              </a:rPr>
              <a:t>Some phones may be out of battery power. </a:t>
            </a:r>
          </a:p>
          <a:p>
            <a:pPr marL="269875" indent="-269875">
              <a:spcAft>
                <a:spcPts val="600"/>
              </a:spcAft>
              <a:tabLst>
                <a:tab pos="270510" algn="l"/>
                <a:tab pos="540385" algn="l"/>
                <a:tab pos="900430" algn="l"/>
                <a:tab pos="1260475" algn="l"/>
                <a:tab pos="5671185" algn="r"/>
              </a:tabLst>
            </a:pPr>
            <a:r>
              <a:rPr lang="en-GB" sz="1800" dirty="0">
                <a:effectLst/>
                <a:latin typeface="+mj-lt"/>
                <a:ea typeface="Times New Roman" panose="02020603050405020304" pitchFamily="18" charset="0"/>
              </a:rPr>
              <a:t>The software may not recognise the face if a beard has been grown, hair style changed, etc.</a:t>
            </a:r>
          </a:p>
        </p:txBody>
      </p:sp>
    </p:spTree>
    <p:extLst>
      <p:ext uri="{BB962C8B-B14F-4D97-AF65-F5344CB8AC3E}">
        <p14:creationId xmlns:p14="http://schemas.microsoft.com/office/powerpoint/2010/main" val="248832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0BBD5-839C-10EC-FC75-EED6FFEADE6C}"/>
              </a:ext>
            </a:extLst>
          </p:cNvPr>
          <p:cNvSpPr>
            <a:spLocks noGrp="1"/>
          </p:cNvSpPr>
          <p:nvPr>
            <p:ph type="title"/>
          </p:nvPr>
        </p:nvSpPr>
        <p:spPr/>
        <p:txBody>
          <a:bodyPr/>
          <a:lstStyle/>
          <a:p>
            <a:r>
              <a:rPr lang="en-GB"/>
              <a:t>Radio Frequency Identification (RFID)</a:t>
            </a:r>
          </a:p>
        </p:txBody>
      </p:sp>
      <p:sp>
        <p:nvSpPr>
          <p:cNvPr id="3" name="Content Placeholder 2">
            <a:extLst>
              <a:ext uri="{FF2B5EF4-FFF2-40B4-BE49-F238E27FC236}">
                <a16:creationId xmlns:a16="http://schemas.microsoft.com/office/drawing/2014/main" id="{6BB9099F-3F49-C4AB-E431-D693C3B58EC9}"/>
              </a:ext>
            </a:extLst>
          </p:cNvPr>
          <p:cNvSpPr>
            <a:spLocks noGrp="1"/>
          </p:cNvSpPr>
          <p:nvPr>
            <p:ph sz="quarter" idx="13"/>
          </p:nvPr>
        </p:nvSpPr>
        <p:spPr>
          <a:xfrm>
            <a:off x="367748" y="1020157"/>
            <a:ext cx="7750641" cy="5689562"/>
          </a:xfrm>
        </p:spPr>
        <p:txBody>
          <a:bodyPr>
            <a:normAutofit/>
          </a:bodyPr>
          <a:lstStyle/>
          <a:p>
            <a:r>
              <a:rPr lang="en-GB" sz="1800" dirty="0"/>
              <a:t>RFID technology uses both input and output. A reader picks up signals from an RFID chip, and an active RFID tag can also send signals back.</a:t>
            </a:r>
            <a:br>
              <a:rPr lang="en-GB" sz="1800" dirty="0"/>
            </a:br>
            <a:endParaRPr lang="en-GB" sz="1800" dirty="0"/>
          </a:p>
          <a:p>
            <a:r>
              <a:rPr lang="en-GB" sz="1800" dirty="0"/>
              <a:t>Like barcodes, RFID tags are used to identify and track many things—products, cars, bank cards, and even animals.</a:t>
            </a:r>
          </a:p>
          <a:p>
            <a:pPr marL="0" indent="0">
              <a:buNone/>
            </a:pPr>
            <a:endParaRPr lang="en-GB" sz="1800" dirty="0"/>
          </a:p>
          <a:p>
            <a:r>
              <a:rPr lang="en-GB" sz="1800" dirty="0"/>
              <a:t>But unlike barcodes, RFID tags do </a:t>
            </a:r>
            <a:r>
              <a:rPr lang="en-GB" sz="1800" b="1" dirty="0"/>
              <a:t>not</a:t>
            </a:r>
            <a:r>
              <a:rPr lang="en-GB" sz="1800" dirty="0"/>
              <a:t> need a line of sight and can be read from up to </a:t>
            </a:r>
            <a:r>
              <a:rPr lang="en-GB" sz="1800" b="1" dirty="0"/>
              <a:t>300 metres away</a:t>
            </a:r>
            <a:r>
              <a:rPr lang="en-GB" sz="1800" dirty="0"/>
              <a:t>. They can also send stored data to the receiver and sometimes receive data back.</a:t>
            </a:r>
            <a:br>
              <a:rPr lang="en-GB" sz="1800" dirty="0"/>
            </a:br>
            <a:endParaRPr lang="en-GB" sz="1800" dirty="0"/>
          </a:p>
          <a:p>
            <a:pPr marL="0" indent="0">
              <a:buNone/>
            </a:pPr>
            <a:r>
              <a:rPr lang="en-GB" sz="1800" dirty="0"/>
              <a:t>An RFID tag has two main parts:</a:t>
            </a:r>
          </a:p>
          <a:p>
            <a:r>
              <a:rPr lang="en-GB" sz="1800" dirty="0"/>
              <a:t>a tiny microchip (often smaller than 1 mm)</a:t>
            </a:r>
          </a:p>
          <a:p>
            <a:r>
              <a:rPr lang="en-GB" sz="1800" dirty="0"/>
              <a:t>an antenna (which must be larger to allow communication)</a:t>
            </a:r>
          </a:p>
          <a:p>
            <a:pPr marL="0" indent="0">
              <a:buNone/>
            </a:pPr>
            <a:br>
              <a:rPr lang="en-GB" sz="1800" dirty="0"/>
            </a:br>
            <a:endParaRPr lang="en-GB" sz="1800" dirty="0"/>
          </a:p>
          <a:p>
            <a:r>
              <a:rPr lang="en-GB" sz="1800" dirty="0"/>
              <a:t>Because of the antenna, the smallest tags are about the size of a grain of rice. These are often placed in capsules and implanted under the skin of pets for identification.</a:t>
            </a:r>
          </a:p>
        </p:txBody>
      </p:sp>
      <p:pic>
        <p:nvPicPr>
          <p:cNvPr id="5" name="Picture 4" descr="Close-up of a medical equipment&#10;&#10;Description automatically generated">
            <a:extLst>
              <a:ext uri="{FF2B5EF4-FFF2-40B4-BE49-F238E27FC236}">
                <a16:creationId xmlns:a16="http://schemas.microsoft.com/office/drawing/2014/main" id="{2CB4B546-3E6D-D8B3-5CFB-811A2C57DC3B}"/>
              </a:ext>
            </a:extLst>
          </p:cNvPr>
          <p:cNvPicPr>
            <a:picLocks noChangeAspect="1"/>
          </p:cNvPicPr>
          <p:nvPr/>
        </p:nvPicPr>
        <p:blipFill>
          <a:blip r:embed="rId3"/>
          <a:srcRect l="50000"/>
          <a:stretch/>
        </p:blipFill>
        <p:spPr>
          <a:xfrm>
            <a:off x="8266670" y="3157151"/>
            <a:ext cx="3314700" cy="2298700"/>
          </a:xfrm>
          <a:prstGeom prst="rect">
            <a:avLst/>
          </a:prstGeom>
        </p:spPr>
      </p:pic>
      <p:pic>
        <p:nvPicPr>
          <p:cNvPr id="6" name="Picture 5" descr="Close-up of a medical equipment&#10;&#10;Description automatically generated">
            <a:extLst>
              <a:ext uri="{FF2B5EF4-FFF2-40B4-BE49-F238E27FC236}">
                <a16:creationId xmlns:a16="http://schemas.microsoft.com/office/drawing/2014/main" id="{32CCEECB-4666-1235-0F52-769BBF69A789}"/>
              </a:ext>
            </a:extLst>
          </p:cNvPr>
          <p:cNvPicPr>
            <a:picLocks noChangeAspect="1"/>
          </p:cNvPicPr>
          <p:nvPr/>
        </p:nvPicPr>
        <p:blipFill>
          <a:blip r:embed="rId3"/>
          <a:srcRect r="50808"/>
          <a:stretch/>
        </p:blipFill>
        <p:spPr>
          <a:xfrm>
            <a:off x="8171934" y="858451"/>
            <a:ext cx="3261155" cy="2298700"/>
          </a:xfrm>
          <a:prstGeom prst="rect">
            <a:avLst/>
          </a:prstGeom>
        </p:spPr>
      </p:pic>
    </p:spTree>
    <p:extLst>
      <p:ext uri="{BB962C8B-B14F-4D97-AF65-F5344CB8AC3E}">
        <p14:creationId xmlns:p14="http://schemas.microsoft.com/office/powerpoint/2010/main" val="1402337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A88A-0EAA-0228-259B-9282461D01DA}"/>
              </a:ext>
            </a:extLst>
          </p:cNvPr>
          <p:cNvSpPr>
            <a:spLocks noGrp="1"/>
          </p:cNvSpPr>
          <p:nvPr>
            <p:ph type="title"/>
          </p:nvPr>
        </p:nvSpPr>
        <p:spPr/>
        <p:txBody>
          <a:bodyPr>
            <a:normAutofit/>
          </a:bodyPr>
          <a:lstStyle/>
          <a:p>
            <a:r>
              <a:rPr lang="en-GB"/>
              <a:t>Passive and active tags</a:t>
            </a:r>
          </a:p>
        </p:txBody>
      </p:sp>
      <p:sp>
        <p:nvSpPr>
          <p:cNvPr id="3" name="Content Placeholder 2">
            <a:extLst>
              <a:ext uri="{FF2B5EF4-FFF2-40B4-BE49-F238E27FC236}">
                <a16:creationId xmlns:a16="http://schemas.microsoft.com/office/drawing/2014/main" id="{451468C2-2623-A91F-2E92-52B08FDF18DA}"/>
              </a:ext>
            </a:extLst>
          </p:cNvPr>
          <p:cNvSpPr>
            <a:spLocks noGrp="1"/>
          </p:cNvSpPr>
          <p:nvPr>
            <p:ph sz="quarter" idx="13"/>
          </p:nvPr>
        </p:nvSpPr>
        <p:spPr/>
        <p:txBody>
          <a:bodyPr>
            <a:normAutofit/>
          </a:bodyPr>
          <a:lstStyle/>
          <a:p>
            <a:pPr marL="0" indent="0">
              <a:buNone/>
            </a:pPr>
            <a:endParaRPr lang="en-GB" b="1"/>
          </a:p>
          <a:p>
            <a:pPr marL="0" indent="0">
              <a:buNone/>
            </a:pPr>
            <a:endParaRPr lang="en-GB" b="1"/>
          </a:p>
        </p:txBody>
      </p:sp>
      <p:graphicFrame>
        <p:nvGraphicFramePr>
          <p:cNvPr id="4" name="Table 3">
            <a:extLst>
              <a:ext uri="{FF2B5EF4-FFF2-40B4-BE49-F238E27FC236}">
                <a16:creationId xmlns:a16="http://schemas.microsoft.com/office/drawing/2014/main" id="{C6654CB2-59F4-44FB-D783-4F5DB47FDB30}"/>
              </a:ext>
            </a:extLst>
          </p:cNvPr>
          <p:cNvGraphicFramePr>
            <a:graphicFrameLocks noGrp="1"/>
          </p:cNvGraphicFramePr>
          <p:nvPr>
            <p:extLst>
              <p:ext uri="{D42A27DB-BD31-4B8C-83A1-F6EECF244321}">
                <p14:modId xmlns:p14="http://schemas.microsoft.com/office/powerpoint/2010/main" val="1097088263"/>
              </p:ext>
            </p:extLst>
          </p:nvPr>
        </p:nvGraphicFramePr>
        <p:xfrm>
          <a:off x="182179" y="1002033"/>
          <a:ext cx="11635448" cy="5577840"/>
        </p:xfrm>
        <a:graphic>
          <a:graphicData uri="http://schemas.openxmlformats.org/drawingml/2006/table">
            <a:tbl>
              <a:tblPr firstRow="1" bandRow="1">
                <a:tableStyleId>{5940675A-B579-460E-94D1-54222C63F5DA}</a:tableStyleId>
              </a:tblPr>
              <a:tblGrid>
                <a:gridCol w="5817724">
                  <a:extLst>
                    <a:ext uri="{9D8B030D-6E8A-4147-A177-3AD203B41FA5}">
                      <a16:colId xmlns:a16="http://schemas.microsoft.com/office/drawing/2014/main" val="321975100"/>
                    </a:ext>
                  </a:extLst>
                </a:gridCol>
                <a:gridCol w="5817724">
                  <a:extLst>
                    <a:ext uri="{9D8B030D-6E8A-4147-A177-3AD203B41FA5}">
                      <a16:colId xmlns:a16="http://schemas.microsoft.com/office/drawing/2014/main" val="3755863190"/>
                    </a:ext>
                  </a:extLst>
                </a:gridCol>
              </a:tblGrid>
              <a:tr h="4757636">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2000" b="1"/>
                        <a:t>Active tags </a:t>
                      </a:r>
                      <a:r>
                        <a:rPr lang="en-GB" sz="2000"/>
                        <a:t>are physically larger as they include a battery to power the tag so that it actively transmits a signal for a reader to pick up.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2000"/>
                    </a:p>
                    <a:p>
                      <a:pPr marL="0" marR="0" lvl="0" indent="0" algn="l" defTabSz="685800" rtl="0" eaLnBrk="1" fontAlgn="auto" latinLnBrk="0" hangingPunct="1">
                        <a:lnSpc>
                          <a:spcPct val="100000"/>
                        </a:lnSpc>
                        <a:spcBef>
                          <a:spcPts val="0"/>
                        </a:spcBef>
                        <a:spcAft>
                          <a:spcPts val="0"/>
                        </a:spcAft>
                        <a:buClrTx/>
                        <a:buSzTx/>
                        <a:buFontTx/>
                        <a:buNone/>
                        <a:tabLst/>
                        <a:defRPr/>
                      </a:pPr>
                      <a:r>
                        <a:rPr lang="en-GB" sz="2000"/>
                        <a:t>These are used to track things likely to be read from further away, such as cars as they pass through a motorway toll booth or runners in a marathon as they pass mile markers.</a:t>
                      </a:r>
                    </a:p>
                    <a:p>
                      <a:endParaRPr lang="en-GB" sz="2000"/>
                    </a:p>
                    <a:p>
                      <a:endParaRPr lang="en-GB" sz="2000"/>
                    </a:p>
                    <a:p>
                      <a:endParaRPr lang="en-GB" sz="2000"/>
                    </a:p>
                    <a:p>
                      <a:endParaRPr lang="en-GB" sz="2000"/>
                    </a:p>
                    <a:p>
                      <a:endParaRPr lang="en-GB" sz="2000"/>
                    </a:p>
                    <a:p>
                      <a:endParaRPr lang="en-GB" sz="2000"/>
                    </a:p>
                    <a:p>
                      <a:endParaRPr lang="en-GB" sz="2000"/>
                    </a:p>
                    <a:p>
                      <a:endParaRPr lang="en-GB" sz="2000"/>
                    </a:p>
                  </a:txBody>
                  <a:tcPr/>
                </a:tc>
                <a:tc>
                  <a:txBody>
                    <a:bodyPr/>
                    <a:lstStyle/>
                    <a:p>
                      <a:pPr marL="0" indent="0">
                        <a:buNone/>
                      </a:pPr>
                      <a:r>
                        <a:rPr lang="en-GB" sz="2000" b="1"/>
                        <a:t>Passive tags </a:t>
                      </a:r>
                      <a:r>
                        <a:rPr lang="en-GB" sz="2000"/>
                        <a:t>are much cheaper to produce as they do not have a battery. </a:t>
                      </a:r>
                    </a:p>
                    <a:p>
                      <a:pPr marL="0" indent="0">
                        <a:buNone/>
                      </a:pPr>
                      <a:endParaRPr lang="en-GB" sz="2000"/>
                    </a:p>
                    <a:p>
                      <a:pPr marL="0" indent="0">
                        <a:buNone/>
                      </a:pPr>
                      <a:r>
                        <a:rPr lang="en-GB" sz="2000"/>
                        <a:t>They rely on the radio waves emitted from a reader up to a metre away to provide sufficient electromagnetic power to the card using its coiled antenna. </a:t>
                      </a:r>
                    </a:p>
                    <a:p>
                      <a:pPr marL="0" indent="0">
                        <a:buNone/>
                      </a:pPr>
                      <a:endParaRPr lang="en-GB" sz="2000"/>
                    </a:p>
                    <a:p>
                      <a:pPr marL="0" indent="0">
                        <a:buNone/>
                      </a:pPr>
                      <a:r>
                        <a:rPr lang="en-GB" sz="2000"/>
                        <a:t>Once energised, the transponder inside the RFID tag can send its data to the reader</a:t>
                      </a:r>
                    </a:p>
                    <a:p>
                      <a:pPr marL="0" indent="0">
                        <a:buNone/>
                      </a:pPr>
                      <a:r>
                        <a:rPr lang="en-GB" sz="2000"/>
                        <a:t>nearby. </a:t>
                      </a:r>
                    </a:p>
                    <a:p>
                      <a:pPr marL="0" indent="0">
                        <a:buNone/>
                      </a:pPr>
                      <a:endParaRPr lang="en-GB" sz="2000"/>
                    </a:p>
                    <a:p>
                      <a:pPr marL="0" indent="0">
                        <a:buNone/>
                      </a:pPr>
                      <a:r>
                        <a:rPr lang="en-GB" sz="2000"/>
                        <a:t>These are most common in tagging items such as some groceries, music CDs, and for smart cards such as Transport for London’s Oyster Card or a </a:t>
                      </a:r>
                      <a:r>
                        <a:rPr lang="en-GB" sz="2000" b="1"/>
                        <a:t>contactless bank card</a:t>
                      </a:r>
                      <a:r>
                        <a:rPr lang="en-GB" sz="2000"/>
                        <a:t>.</a:t>
                      </a:r>
                    </a:p>
                    <a:p>
                      <a:endParaRPr lang="en-GB" sz="2000"/>
                    </a:p>
                  </a:txBody>
                  <a:tcPr/>
                </a:tc>
                <a:extLst>
                  <a:ext uri="{0D108BD9-81ED-4DB2-BD59-A6C34878D82A}">
                    <a16:rowId xmlns:a16="http://schemas.microsoft.com/office/drawing/2014/main" val="95772486"/>
                  </a:ext>
                </a:extLst>
              </a:tr>
            </a:tbl>
          </a:graphicData>
        </a:graphic>
      </p:graphicFrame>
      <p:pic>
        <p:nvPicPr>
          <p:cNvPr id="3074" name="Picture 2" descr="What if a radar speed gun records you speeding? - Car Keys">
            <a:extLst>
              <a:ext uri="{FF2B5EF4-FFF2-40B4-BE49-F238E27FC236}">
                <a16:creationId xmlns:a16="http://schemas.microsoft.com/office/drawing/2014/main" id="{98451C59-3473-04D0-5B86-A73C77367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975" y="4225159"/>
            <a:ext cx="3074276" cy="2049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323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C9FD-62DA-9F3D-158E-885E7A6407AC}"/>
              </a:ext>
            </a:extLst>
          </p:cNvPr>
          <p:cNvSpPr>
            <a:spLocks noGrp="1"/>
          </p:cNvSpPr>
          <p:nvPr>
            <p:ph type="title"/>
          </p:nvPr>
        </p:nvSpPr>
        <p:spPr/>
        <p:txBody>
          <a:bodyPr>
            <a:normAutofit/>
          </a:bodyPr>
          <a:lstStyle/>
          <a:p>
            <a:r>
              <a:rPr lang="en-GB"/>
              <a:t>Output devices</a:t>
            </a:r>
          </a:p>
        </p:txBody>
      </p:sp>
      <p:sp>
        <p:nvSpPr>
          <p:cNvPr id="3" name="Content Placeholder 2">
            <a:extLst>
              <a:ext uri="{FF2B5EF4-FFF2-40B4-BE49-F238E27FC236}">
                <a16:creationId xmlns:a16="http://schemas.microsoft.com/office/drawing/2014/main" id="{987967E1-C92B-1FE1-C472-7F41C516938C}"/>
              </a:ext>
            </a:extLst>
          </p:cNvPr>
          <p:cNvSpPr>
            <a:spLocks noGrp="1"/>
          </p:cNvSpPr>
          <p:nvPr>
            <p:ph sz="quarter" idx="13"/>
          </p:nvPr>
        </p:nvSpPr>
        <p:spPr/>
        <p:txBody>
          <a:bodyPr/>
          <a:lstStyle/>
          <a:p>
            <a:r>
              <a:rPr lang="en-GB"/>
              <a:t>Output devices take data produced by the computer and turn it into a form that humans can understand.</a:t>
            </a:r>
          </a:p>
          <a:p>
            <a:r>
              <a:rPr lang="en-GB"/>
              <a:t>This could be, for example, written or spoken text, an image on a screen, music or a multimedia presentation. </a:t>
            </a:r>
          </a:p>
          <a:p>
            <a:r>
              <a:rPr lang="en-GB"/>
              <a:t>A different type of output device is an actuator, which might respond to an input signal to turn on a sprinkler, open or close windows in a greenhouse, or perform any number of other actions.</a:t>
            </a:r>
          </a:p>
          <a:p>
            <a:r>
              <a:rPr lang="en-GB"/>
              <a:t>Common output devices include screens, printers, multimedia projectors, speakers and actuators.</a:t>
            </a:r>
          </a:p>
        </p:txBody>
      </p:sp>
    </p:spTree>
    <p:extLst>
      <p:ext uri="{BB962C8B-B14F-4D97-AF65-F5344CB8AC3E}">
        <p14:creationId xmlns:p14="http://schemas.microsoft.com/office/powerpoint/2010/main" val="427606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1E21B-D28E-018E-3594-B3D466EDCF8E}"/>
              </a:ext>
            </a:extLst>
          </p:cNvPr>
          <p:cNvSpPr>
            <a:spLocks noGrp="1"/>
          </p:cNvSpPr>
          <p:nvPr>
            <p:ph type="title"/>
          </p:nvPr>
        </p:nvSpPr>
        <p:spPr/>
        <p:txBody>
          <a:bodyPr>
            <a:normAutofit/>
          </a:bodyPr>
          <a:lstStyle/>
          <a:p>
            <a:r>
              <a:rPr lang="en-GB" b="1"/>
              <a:t>Organic LED (OLED) screens</a:t>
            </a:r>
            <a:endParaRPr lang="en-GB"/>
          </a:p>
        </p:txBody>
      </p:sp>
      <p:sp>
        <p:nvSpPr>
          <p:cNvPr id="3" name="Content Placeholder 2">
            <a:extLst>
              <a:ext uri="{FF2B5EF4-FFF2-40B4-BE49-F238E27FC236}">
                <a16:creationId xmlns:a16="http://schemas.microsoft.com/office/drawing/2014/main" id="{69C3A9BD-8A49-DDCA-94CB-CB85D7D6EEC6}"/>
              </a:ext>
            </a:extLst>
          </p:cNvPr>
          <p:cNvSpPr>
            <a:spLocks noGrp="1"/>
          </p:cNvSpPr>
          <p:nvPr>
            <p:ph sz="quarter" idx="13"/>
          </p:nvPr>
        </p:nvSpPr>
        <p:spPr>
          <a:xfrm>
            <a:off x="367749" y="1020157"/>
            <a:ext cx="6579589" cy="5748505"/>
          </a:xfrm>
        </p:spPr>
        <p:txBody>
          <a:bodyPr>
            <a:normAutofit fontScale="85000" lnSpcReduction="20000"/>
          </a:bodyPr>
          <a:lstStyle/>
          <a:p>
            <a:r>
              <a:rPr lang="en-GB" dirty="0"/>
              <a:t>OLED screens are </a:t>
            </a:r>
            <a:r>
              <a:rPr lang="en-GB" b="1" dirty="0"/>
              <a:t>brighter, thinner, and lighter</a:t>
            </a:r>
            <a:r>
              <a:rPr lang="en-GB" dirty="0"/>
              <a:t> than traditional LCD or LED screens. They use </a:t>
            </a:r>
            <a:r>
              <a:rPr lang="en-GB" b="1" dirty="0"/>
              <a:t>plastic instead of glass</a:t>
            </a:r>
            <a:r>
              <a:rPr lang="en-GB" dirty="0"/>
              <a:t>, which makes them flexible.</a:t>
            </a:r>
            <a:br>
              <a:rPr lang="en-GB" dirty="0"/>
            </a:br>
            <a:endParaRPr lang="en-GB" dirty="0"/>
          </a:p>
          <a:p>
            <a:r>
              <a:rPr lang="en-GB" dirty="0"/>
              <a:t>OLEDs can be used anywhere LCDs are used, such as TVs, computer monitors, phones, and MP3 players. In the future, they could be used for flexible billboards, ultra-thin e-book pages, wall-sized digital art, or even clothing as part of </a:t>
            </a:r>
            <a:r>
              <a:rPr lang="en-GB" b="1" dirty="0"/>
              <a:t>wearable technology</a:t>
            </a:r>
            <a:r>
              <a:rPr lang="en-GB" dirty="0"/>
              <a:t>.</a:t>
            </a:r>
            <a:br>
              <a:rPr lang="en-GB" dirty="0"/>
            </a:br>
            <a:endParaRPr lang="en-GB" dirty="0"/>
          </a:p>
          <a:p>
            <a:pPr marL="0" indent="0">
              <a:buNone/>
            </a:pPr>
            <a:r>
              <a:rPr lang="en-GB" b="1" dirty="0"/>
              <a:t>Advantages of OLEDs over LCDs</a:t>
            </a:r>
          </a:p>
          <a:p>
            <a:r>
              <a:rPr lang="en-GB" dirty="0"/>
              <a:t>Can be flexible when made from plastic</a:t>
            </a:r>
          </a:p>
          <a:p>
            <a:r>
              <a:rPr lang="en-GB" dirty="0"/>
              <a:t>Much thinner</a:t>
            </a:r>
          </a:p>
          <a:p>
            <a:r>
              <a:rPr lang="en-GB" dirty="0"/>
              <a:t>Brighter and do not need backlighting, so they use less power and save battery</a:t>
            </a:r>
          </a:p>
          <a:p>
            <a:r>
              <a:rPr lang="en-GB" dirty="0"/>
              <a:t>Refresh much faster (up to 200 times faster), useful for fast-moving images</a:t>
            </a:r>
          </a:p>
          <a:p>
            <a:r>
              <a:rPr lang="en-GB" dirty="0"/>
              <a:t>Better, more accurate colours, even when viewed from the side</a:t>
            </a:r>
          </a:p>
          <a:p>
            <a:pPr marL="0" indent="0">
              <a:buNone/>
            </a:pPr>
            <a:br>
              <a:rPr lang="en-GB" dirty="0"/>
            </a:br>
            <a:endParaRPr lang="en-GB" dirty="0"/>
          </a:p>
          <a:p>
            <a:r>
              <a:rPr lang="en-GB" b="1" dirty="0"/>
              <a:t>Drawback</a:t>
            </a:r>
          </a:p>
          <a:p>
            <a:r>
              <a:rPr lang="en-GB" dirty="0"/>
              <a:t>They don’t last as long—wearing out about four times faster than LCDs</a:t>
            </a:r>
          </a:p>
          <a:p>
            <a:r>
              <a:rPr lang="en-GB" dirty="0"/>
              <a:t>Very sensitive to water, which can be a problem for devices like phones</a:t>
            </a:r>
          </a:p>
          <a:p>
            <a:pPr marL="0" indent="0">
              <a:buNone/>
            </a:pPr>
            <a:endParaRPr lang="en-GB" dirty="0"/>
          </a:p>
        </p:txBody>
      </p:sp>
      <p:pic>
        <p:nvPicPr>
          <p:cNvPr id="5" name="Picture 4" descr="A person holding a curved screen&#10;&#10;Description automatically generated">
            <a:extLst>
              <a:ext uri="{FF2B5EF4-FFF2-40B4-BE49-F238E27FC236}">
                <a16:creationId xmlns:a16="http://schemas.microsoft.com/office/drawing/2014/main" id="{FF4D5097-135D-9E6E-BB6A-B09F874E926B}"/>
              </a:ext>
            </a:extLst>
          </p:cNvPr>
          <p:cNvPicPr>
            <a:picLocks noChangeAspect="1"/>
          </p:cNvPicPr>
          <p:nvPr/>
        </p:nvPicPr>
        <p:blipFill>
          <a:blip r:embed="rId2"/>
          <a:stretch>
            <a:fillRect/>
          </a:stretch>
        </p:blipFill>
        <p:spPr>
          <a:xfrm>
            <a:off x="7073900" y="1020157"/>
            <a:ext cx="5118100" cy="2857500"/>
          </a:xfrm>
          <a:prstGeom prst="rect">
            <a:avLst/>
          </a:prstGeom>
        </p:spPr>
      </p:pic>
    </p:spTree>
    <p:extLst>
      <p:ext uri="{BB962C8B-B14F-4D97-AF65-F5344CB8AC3E}">
        <p14:creationId xmlns:p14="http://schemas.microsoft.com/office/powerpoint/2010/main" val="706053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08396-5D7B-AD0C-58CD-4C397F1D0376}"/>
              </a:ext>
            </a:extLst>
          </p:cNvPr>
          <p:cNvSpPr>
            <a:spLocks noGrp="1"/>
          </p:cNvSpPr>
          <p:nvPr>
            <p:ph type="title"/>
          </p:nvPr>
        </p:nvSpPr>
        <p:spPr/>
        <p:txBody>
          <a:bodyPr/>
          <a:lstStyle/>
          <a:p>
            <a:r>
              <a:rPr lang="en-GB"/>
              <a:t>Printers</a:t>
            </a:r>
          </a:p>
        </p:txBody>
      </p:sp>
      <p:graphicFrame>
        <p:nvGraphicFramePr>
          <p:cNvPr id="4" name="Content Placeholder 3">
            <a:extLst>
              <a:ext uri="{FF2B5EF4-FFF2-40B4-BE49-F238E27FC236}">
                <a16:creationId xmlns:a16="http://schemas.microsoft.com/office/drawing/2014/main" id="{16A2C035-F29A-CB6C-28A2-C5F5761A79F7}"/>
              </a:ext>
            </a:extLst>
          </p:cNvPr>
          <p:cNvGraphicFramePr>
            <a:graphicFrameLocks noGrp="1"/>
          </p:cNvGraphicFramePr>
          <p:nvPr>
            <p:ph sz="quarter" idx="13"/>
            <p:extLst>
              <p:ext uri="{D42A27DB-BD31-4B8C-83A1-F6EECF244321}">
                <p14:modId xmlns:p14="http://schemas.microsoft.com/office/powerpoint/2010/main" val="2048264047"/>
              </p:ext>
            </p:extLst>
          </p:nvPr>
        </p:nvGraphicFramePr>
        <p:xfrm>
          <a:off x="168603" y="831577"/>
          <a:ext cx="11928804" cy="5281653"/>
        </p:xfrm>
        <a:graphic>
          <a:graphicData uri="http://schemas.openxmlformats.org/drawingml/2006/table">
            <a:tbl>
              <a:tblPr firstRow="1" bandRow="1">
                <a:tableStyleId>{5940675A-B579-460E-94D1-54222C63F5DA}</a:tableStyleId>
              </a:tblPr>
              <a:tblGrid>
                <a:gridCol w="5964402">
                  <a:extLst>
                    <a:ext uri="{9D8B030D-6E8A-4147-A177-3AD203B41FA5}">
                      <a16:colId xmlns:a16="http://schemas.microsoft.com/office/drawing/2014/main" val="1680768688"/>
                    </a:ext>
                  </a:extLst>
                </a:gridCol>
                <a:gridCol w="5964402">
                  <a:extLst>
                    <a:ext uri="{9D8B030D-6E8A-4147-A177-3AD203B41FA5}">
                      <a16:colId xmlns:a16="http://schemas.microsoft.com/office/drawing/2014/main" val="215691206"/>
                    </a:ext>
                  </a:extLst>
                </a:gridCol>
              </a:tblGrid>
              <a:tr h="2983678">
                <a:tc>
                  <a:txBody>
                    <a:bodyPr/>
                    <a:lstStyle/>
                    <a:p>
                      <a:r>
                        <a:rPr lang="en-GB" sz="1200" b="1" dirty="0"/>
                        <a:t>Laser printers</a:t>
                      </a:r>
                    </a:p>
                    <a:p>
                      <a:r>
                        <a:rPr lang="en-GB" sz="1200" dirty="0"/>
                        <a:t>Laser printers offer high-quality, high-speed printing. </a:t>
                      </a:r>
                    </a:p>
                    <a:p>
                      <a:pPr marL="285750" indent="-285750">
                        <a:buFont typeface="Arial" panose="020B0604020202020204" pitchFamily="34" charset="0"/>
                        <a:buChar char="•"/>
                      </a:pPr>
                      <a:r>
                        <a:rPr lang="en-GB" sz="1200" dirty="0"/>
                        <a:t>Their function is similar to that of a photocopier, using powdered ink called toner.</a:t>
                      </a:r>
                    </a:p>
                    <a:p>
                      <a:pPr marL="285750" indent="-285750">
                        <a:buFont typeface="Arial" panose="020B0604020202020204" pitchFamily="34" charset="0"/>
                        <a:buChar char="•"/>
                      </a:pPr>
                      <a:r>
                        <a:rPr lang="en-GB" sz="1200" dirty="0"/>
                        <a:t>This type of printer is becoming increasingly affordable and is frequently used as a home printer, in businesses and in professional printing services. </a:t>
                      </a:r>
                    </a:p>
                    <a:p>
                      <a:pPr marL="285750" indent="-285750">
                        <a:buFont typeface="Arial" panose="020B0604020202020204" pitchFamily="34" charset="0"/>
                        <a:buChar char="•"/>
                      </a:pPr>
                      <a:r>
                        <a:rPr lang="en-GB" sz="1200" dirty="0"/>
                        <a:t>Colour laser printers are far more expensive to run than black and white versions. They contain four toner cartridges (Cyan, Magenta, Yellow and Black or CMYK) and the paper must go through a similar process to the black-only printer four times; once for each colour.</a:t>
                      </a:r>
                    </a:p>
                    <a:p>
                      <a:pPr marL="285750" indent="-285750">
                        <a:buFont typeface="Arial" panose="020B0604020202020204" pitchFamily="34" charset="0"/>
                        <a:buChar char="•"/>
                      </a:pPr>
                      <a:r>
                        <a:rPr lang="en-GB" sz="1200" dirty="0"/>
                        <a:t>The usage of laser printers for print jobs other than text is limited by the quality of the print produced, which at about 1200 dpi makes photorealistic prints impossible and best left to inkjet printers.</a:t>
                      </a:r>
                    </a:p>
                  </a:txBody>
                  <a:tcPr/>
                </a:tc>
                <a:tc>
                  <a:txBody>
                    <a:bodyPr/>
                    <a:lstStyle/>
                    <a:p>
                      <a:r>
                        <a:rPr lang="en-GB" sz="1200" b="1" dirty="0"/>
                        <a:t>Inkjet printers</a:t>
                      </a:r>
                    </a:p>
                    <a:p>
                      <a:endParaRPr lang="en-GB" sz="1200" b="1" dirty="0"/>
                    </a:p>
                    <a:p>
                      <a:pPr marL="285750" indent="-285750">
                        <a:buFont typeface="Arial" panose="020B0604020202020204" pitchFamily="34" charset="0"/>
                        <a:buChar char="•"/>
                      </a:pPr>
                      <a:r>
                        <a:rPr lang="en-GB" sz="1200" dirty="0"/>
                        <a:t>Inkjet printers work by spraying minute dots of ink onto paper to create an image. Depending on the resolution (dots per inch) of the model, the number of colour cartridges used and the quality of the paper being used, they can produce excellent, photo-realistic images. </a:t>
                      </a:r>
                    </a:p>
                    <a:p>
                      <a:pPr marL="285750" indent="-285750">
                        <a:buFont typeface="Arial" panose="020B0604020202020204" pitchFamily="34" charset="0"/>
                        <a:buChar char="•"/>
                      </a:pPr>
                      <a:r>
                        <a:rPr lang="en-GB" sz="1200" dirty="0"/>
                        <a:t>They are cheaper than laser printers but much slower, and the ink cartridges have to be replaced quite frequently.</a:t>
                      </a:r>
                    </a:p>
                    <a:p>
                      <a:pPr marL="285750" indent="-285750">
                        <a:buFont typeface="Arial" panose="020B0604020202020204" pitchFamily="34" charset="0"/>
                        <a:buChar char="•"/>
                      </a:pPr>
                      <a:r>
                        <a:rPr lang="en-GB" sz="1200" dirty="0"/>
                        <a:t>Given the choice, it is preferable to use a laser printer when a lot of text needs to be printed, and an inkjet printer to produce high quality photographic images.</a:t>
                      </a:r>
                    </a:p>
                  </a:txBody>
                  <a:tcPr/>
                </a:tc>
                <a:extLst>
                  <a:ext uri="{0D108BD9-81ED-4DB2-BD59-A6C34878D82A}">
                    <a16:rowId xmlns:a16="http://schemas.microsoft.com/office/drawing/2014/main" val="520453315"/>
                  </a:ext>
                </a:extLst>
              </a:tr>
              <a:tr h="2297975">
                <a:tc>
                  <a:txBody>
                    <a:bodyPr/>
                    <a:lstStyle/>
                    <a:p>
                      <a:r>
                        <a:rPr lang="en-GB" sz="1200" b="1"/>
                        <a:t>Dot matrix printers</a:t>
                      </a:r>
                    </a:p>
                    <a:p>
                      <a:endParaRPr lang="en-GB" sz="1200" b="1"/>
                    </a:p>
                    <a:p>
                      <a:pPr marL="285750" indent="-285750">
                        <a:buFont typeface="Arial" panose="020B0604020202020204" pitchFamily="34" charset="0"/>
                        <a:buChar char="•"/>
                      </a:pPr>
                      <a:r>
                        <a:rPr lang="en-GB" sz="1200"/>
                        <a:t>These are known as impact printers. The print head has a matrix of pins which strike the surface of the paper through an inked ribbon to form letters. </a:t>
                      </a:r>
                    </a:p>
                    <a:p>
                      <a:pPr marL="285750" indent="-285750">
                        <a:buFont typeface="Arial" panose="020B0604020202020204" pitchFamily="34" charset="0"/>
                        <a:buChar char="•"/>
                      </a:pPr>
                      <a:r>
                        <a:rPr lang="en-GB" sz="1200"/>
                        <a:t>These printers are useful when multi-part stationery is required, and they can operate in damp or dirty environments.</a:t>
                      </a:r>
                    </a:p>
                    <a:p>
                      <a:pPr marL="285750" indent="-285750">
                        <a:buFont typeface="Arial" panose="020B0604020202020204" pitchFamily="34" charset="0"/>
                        <a:buChar char="•"/>
                      </a:pPr>
                      <a:r>
                        <a:rPr lang="en-GB" sz="1200"/>
                        <a:t>However, they are noisy, slow and the print quality is poor.</a:t>
                      </a:r>
                    </a:p>
                  </a:txBody>
                  <a:tcPr/>
                </a:tc>
                <a:tc>
                  <a:txBody>
                    <a:bodyPr/>
                    <a:lstStyle/>
                    <a:p>
                      <a:r>
                        <a:rPr lang="en-GB" sz="1200" b="1" dirty="0"/>
                        <a:t>3-D printers</a:t>
                      </a:r>
                    </a:p>
                    <a:p>
                      <a:endParaRPr lang="en-GB" sz="1200" b="1" dirty="0"/>
                    </a:p>
                    <a:p>
                      <a:pPr marL="285750" indent="-285750">
                        <a:buFont typeface="Arial" panose="020B0604020202020204" pitchFamily="34" charset="0"/>
                        <a:buChar char="•"/>
                      </a:pPr>
                      <a:r>
                        <a:rPr lang="en-GB" sz="1200" dirty="0"/>
                        <a:t>3D printers have been used to create car and aeroplane parts, medical equipment, prosthetic limbs, fashion accessories and a multitude of other items. They have even, controversially, been used to produce working firearms and other weapons.</a:t>
                      </a:r>
                    </a:p>
                    <a:p>
                      <a:pPr marL="285750" indent="-285750">
                        <a:buFont typeface="Arial" panose="020B0604020202020204" pitchFamily="34" charset="0"/>
                        <a:buChar char="•"/>
                      </a:pPr>
                      <a:r>
                        <a:rPr lang="en-GB" sz="1200" dirty="0"/>
                        <a:t>They are used for creating spare parts for obsolete equipment and to produce prototypes of new products. </a:t>
                      </a:r>
                    </a:p>
                    <a:p>
                      <a:pPr marL="285750" indent="-285750">
                        <a:buFont typeface="Arial" panose="020B0604020202020204" pitchFamily="34" charset="0"/>
                        <a:buChar char="•"/>
                      </a:pPr>
                      <a:r>
                        <a:rPr lang="en-GB" sz="1200" dirty="0"/>
                        <a:t>They can be used in many situations where a one-off item is required, for example to fill in the missing parts of a dinosaur skeleton or a 2000-year old artefact.</a:t>
                      </a:r>
                    </a:p>
                  </a:txBody>
                  <a:tcPr/>
                </a:tc>
                <a:extLst>
                  <a:ext uri="{0D108BD9-81ED-4DB2-BD59-A6C34878D82A}">
                    <a16:rowId xmlns:a16="http://schemas.microsoft.com/office/drawing/2014/main" val="3220614133"/>
                  </a:ext>
                </a:extLst>
              </a:tr>
            </a:tbl>
          </a:graphicData>
        </a:graphic>
      </p:graphicFrame>
    </p:spTree>
    <p:extLst>
      <p:ext uri="{BB962C8B-B14F-4D97-AF65-F5344CB8AC3E}">
        <p14:creationId xmlns:p14="http://schemas.microsoft.com/office/powerpoint/2010/main" val="1476191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0467-1C13-651B-6043-34D568D4A495}"/>
              </a:ext>
            </a:extLst>
          </p:cNvPr>
          <p:cNvSpPr>
            <a:spLocks noGrp="1"/>
          </p:cNvSpPr>
          <p:nvPr>
            <p:ph type="title"/>
          </p:nvPr>
        </p:nvSpPr>
        <p:spPr/>
        <p:txBody>
          <a:bodyPr>
            <a:normAutofit/>
          </a:bodyPr>
          <a:lstStyle/>
          <a:p>
            <a:r>
              <a:rPr lang="en-GB"/>
              <a:t>Multimedia projectors</a:t>
            </a:r>
          </a:p>
        </p:txBody>
      </p:sp>
      <p:sp>
        <p:nvSpPr>
          <p:cNvPr id="3" name="Content Placeholder 2">
            <a:extLst>
              <a:ext uri="{FF2B5EF4-FFF2-40B4-BE49-F238E27FC236}">
                <a16:creationId xmlns:a16="http://schemas.microsoft.com/office/drawing/2014/main" id="{D5EC738B-3C9B-B50C-75E6-8044B063C400}"/>
              </a:ext>
            </a:extLst>
          </p:cNvPr>
          <p:cNvSpPr>
            <a:spLocks noGrp="1"/>
          </p:cNvSpPr>
          <p:nvPr>
            <p:ph sz="quarter" idx="13"/>
          </p:nvPr>
        </p:nvSpPr>
        <p:spPr>
          <a:xfrm>
            <a:off x="367748" y="1020157"/>
            <a:ext cx="11449879" cy="5627778"/>
          </a:xfrm>
        </p:spPr>
        <p:txBody>
          <a:bodyPr>
            <a:normAutofit fontScale="92500" lnSpcReduction="10000"/>
          </a:bodyPr>
          <a:lstStyle/>
          <a:p>
            <a:pPr marL="0" indent="0">
              <a:buNone/>
            </a:pPr>
            <a:r>
              <a:rPr lang="en-GB" b="1" dirty="0"/>
              <a:t>What are the benefits of using a multimedia presentation in a classroom? </a:t>
            </a:r>
          </a:p>
          <a:p>
            <a:pPr marL="0" indent="0">
              <a:buNone/>
            </a:pPr>
            <a:endParaRPr lang="en-GB" dirty="0"/>
          </a:p>
          <a:p>
            <a:pPr marL="0" indent="0">
              <a:buNone/>
            </a:pPr>
            <a:r>
              <a:rPr lang="en-GB" dirty="0"/>
              <a:t>There are many benefits both to teachers and students:</a:t>
            </a:r>
          </a:p>
          <a:p>
            <a:r>
              <a:rPr lang="en-GB" dirty="0"/>
              <a:t>in the bad old days 20 or more students would crowd around a desk trying to catch a glimpse of what the teacher was demonstrating on a 16” screen.</a:t>
            </a:r>
          </a:p>
          <a:p>
            <a:r>
              <a:rPr lang="en-GB" dirty="0"/>
              <a:t>copying down notes written on a chalkboard or whiteboard was a chore</a:t>
            </a:r>
          </a:p>
          <a:p>
            <a:r>
              <a:rPr lang="en-GB" dirty="0"/>
              <a:t>having an image to focus on while the teacher is explaining something can aid concentration</a:t>
            </a:r>
          </a:p>
          <a:p>
            <a:r>
              <a:rPr lang="en-GB" dirty="0"/>
              <a:t>watching educational videos or even live webcams adds interest to the lesson</a:t>
            </a:r>
          </a:p>
          <a:p>
            <a:endParaRPr lang="en-GB" dirty="0"/>
          </a:p>
          <a:p>
            <a:pPr marL="0" indent="0">
              <a:buNone/>
            </a:pPr>
            <a:r>
              <a:rPr lang="en-GB" dirty="0"/>
              <a:t>From the teacher’s point of view, being able to prepare the lesson in advance and deliver it to several different groups without having to write the same thing on the board every lesson, means the lessons are consistent in quality. </a:t>
            </a:r>
          </a:p>
          <a:p>
            <a:pPr marL="0" indent="0">
              <a:buNone/>
            </a:pPr>
            <a:endParaRPr lang="en-GB" dirty="0"/>
          </a:p>
          <a:p>
            <a:pPr marL="0" indent="0">
              <a:buNone/>
            </a:pPr>
            <a:r>
              <a:rPr lang="en-GB" dirty="0"/>
              <a:t>With the aid of a projector, the teacher can present text, graphics, audio and video on the screen, display images or videos from the Internet, display PC applications or programs, and use the screen interactively, adding impact to every lesson.</a:t>
            </a:r>
          </a:p>
          <a:p>
            <a:pPr marL="0" indent="0">
              <a:buNone/>
            </a:pPr>
            <a:endParaRPr lang="en-GB" dirty="0"/>
          </a:p>
          <a:p>
            <a:pPr marL="0" indent="0">
              <a:buNone/>
            </a:pPr>
            <a:r>
              <a:rPr lang="en-GB" dirty="0"/>
              <a:t>Multimedia projectors are now viewed as essential classroom tools.</a:t>
            </a:r>
          </a:p>
        </p:txBody>
      </p:sp>
    </p:spTree>
    <p:extLst>
      <p:ext uri="{BB962C8B-B14F-4D97-AF65-F5344CB8AC3E}">
        <p14:creationId xmlns:p14="http://schemas.microsoft.com/office/powerpoint/2010/main" val="4097088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327D-4469-3043-EECF-6FF338A704EE}"/>
              </a:ext>
            </a:extLst>
          </p:cNvPr>
          <p:cNvSpPr>
            <a:spLocks noGrp="1"/>
          </p:cNvSpPr>
          <p:nvPr>
            <p:ph type="title"/>
          </p:nvPr>
        </p:nvSpPr>
        <p:spPr/>
        <p:txBody>
          <a:bodyPr>
            <a:normAutofit/>
          </a:bodyPr>
          <a:lstStyle/>
          <a:p>
            <a:r>
              <a:rPr lang="en-GB"/>
              <a:t>Computer speakers</a:t>
            </a:r>
          </a:p>
        </p:txBody>
      </p:sp>
      <p:sp>
        <p:nvSpPr>
          <p:cNvPr id="3" name="Content Placeholder 2">
            <a:extLst>
              <a:ext uri="{FF2B5EF4-FFF2-40B4-BE49-F238E27FC236}">
                <a16:creationId xmlns:a16="http://schemas.microsoft.com/office/drawing/2014/main" id="{BB3BE4AE-2226-A457-EA98-FB382CEBD02C}"/>
              </a:ext>
            </a:extLst>
          </p:cNvPr>
          <p:cNvSpPr>
            <a:spLocks noGrp="1"/>
          </p:cNvSpPr>
          <p:nvPr>
            <p:ph sz="quarter" idx="13"/>
          </p:nvPr>
        </p:nvSpPr>
        <p:spPr>
          <a:xfrm>
            <a:off x="367749" y="1020157"/>
            <a:ext cx="7898922" cy="5022835"/>
          </a:xfrm>
        </p:spPr>
        <p:txBody>
          <a:bodyPr/>
          <a:lstStyle/>
          <a:p>
            <a:pPr marL="0" indent="0">
              <a:buNone/>
            </a:pPr>
            <a:r>
              <a:rPr lang="en-GB"/>
              <a:t>PCs, smartphones and other portable devices generally have a basic inbuilt speaker which can be used to output music, voice or sound tracks from a video. </a:t>
            </a:r>
          </a:p>
          <a:p>
            <a:pPr marL="0" indent="0">
              <a:buNone/>
            </a:pPr>
            <a:endParaRPr lang="en-GB"/>
          </a:p>
          <a:p>
            <a:pPr marL="0" indent="0">
              <a:buNone/>
            </a:pPr>
            <a:r>
              <a:rPr lang="en-GB"/>
              <a:t>High quality speakers can be bought separately and when in use, they disable the inbuilt speakers.</a:t>
            </a:r>
          </a:p>
          <a:p>
            <a:pPr marL="0" indent="0">
              <a:buNone/>
            </a:pPr>
            <a:endParaRPr lang="en-GB"/>
          </a:p>
          <a:p>
            <a:pPr marL="0" indent="0">
              <a:buNone/>
            </a:pPr>
            <a:r>
              <a:rPr lang="en-GB"/>
              <a:t>Apart from playing music and video soundtracks, uses include giving verbal instructions in a sat-nav system, reading text from the screen for visually impaired people, giving warning beeps and notification alerts (e.g. when you receive an email).</a:t>
            </a:r>
          </a:p>
        </p:txBody>
      </p:sp>
      <p:pic>
        <p:nvPicPr>
          <p:cNvPr id="5" name="Picture 4" descr="A pair of speakers next to a computer&#10;&#10;Description automatically generated">
            <a:extLst>
              <a:ext uri="{FF2B5EF4-FFF2-40B4-BE49-F238E27FC236}">
                <a16:creationId xmlns:a16="http://schemas.microsoft.com/office/drawing/2014/main" id="{2BD832E4-5A88-5D38-8418-08F6869B2548}"/>
              </a:ext>
            </a:extLst>
          </p:cNvPr>
          <p:cNvPicPr>
            <a:picLocks noChangeAspect="1"/>
          </p:cNvPicPr>
          <p:nvPr/>
        </p:nvPicPr>
        <p:blipFill>
          <a:blip r:embed="rId2"/>
          <a:stretch>
            <a:fillRect/>
          </a:stretch>
        </p:blipFill>
        <p:spPr>
          <a:xfrm>
            <a:off x="8266670" y="1428197"/>
            <a:ext cx="3924793" cy="2674246"/>
          </a:xfrm>
          <a:prstGeom prst="rect">
            <a:avLst/>
          </a:prstGeom>
        </p:spPr>
      </p:pic>
    </p:spTree>
    <p:extLst>
      <p:ext uri="{BB962C8B-B14F-4D97-AF65-F5344CB8AC3E}">
        <p14:creationId xmlns:p14="http://schemas.microsoft.com/office/powerpoint/2010/main" val="1553810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95D8-AC11-D221-ACDF-3A1B60866F4C}"/>
              </a:ext>
            </a:extLst>
          </p:cNvPr>
          <p:cNvSpPr>
            <a:spLocks noGrp="1"/>
          </p:cNvSpPr>
          <p:nvPr>
            <p:ph type="title"/>
          </p:nvPr>
        </p:nvSpPr>
        <p:spPr/>
        <p:txBody>
          <a:bodyPr>
            <a:normAutofit/>
          </a:bodyPr>
          <a:lstStyle/>
          <a:p>
            <a:r>
              <a:rPr lang="en-GB" dirty="0"/>
              <a:t>Actuators</a:t>
            </a:r>
          </a:p>
        </p:txBody>
      </p:sp>
      <p:sp>
        <p:nvSpPr>
          <p:cNvPr id="3" name="Content Placeholder 2">
            <a:extLst>
              <a:ext uri="{FF2B5EF4-FFF2-40B4-BE49-F238E27FC236}">
                <a16:creationId xmlns:a16="http://schemas.microsoft.com/office/drawing/2014/main" id="{DB481700-4C61-BFBE-E072-A753C7B1EA57}"/>
              </a:ext>
            </a:extLst>
          </p:cNvPr>
          <p:cNvSpPr>
            <a:spLocks noGrp="1"/>
          </p:cNvSpPr>
          <p:nvPr>
            <p:ph sz="quarter" idx="13"/>
          </p:nvPr>
        </p:nvSpPr>
        <p:spPr/>
        <p:txBody>
          <a:bodyPr/>
          <a:lstStyle/>
          <a:p>
            <a:pPr marL="0" indent="0">
              <a:buNone/>
            </a:pPr>
            <a:r>
              <a:rPr lang="en-GB"/>
              <a:t>Actuators are motors that are commonly used in</a:t>
            </a:r>
          </a:p>
          <a:p>
            <a:pPr marL="0" indent="0">
              <a:buNone/>
            </a:pPr>
            <a:r>
              <a:rPr lang="en-GB"/>
              <a:t>conjunction with sensors to control a mechanism,</a:t>
            </a:r>
          </a:p>
          <a:p>
            <a:pPr marL="0" indent="0">
              <a:buNone/>
            </a:pPr>
            <a:r>
              <a:rPr lang="en-GB"/>
              <a:t>for example:</a:t>
            </a:r>
          </a:p>
          <a:p>
            <a:pPr marL="0" indent="0">
              <a:buNone/>
            </a:pPr>
            <a:r>
              <a:rPr lang="en-GB"/>
              <a:t>• opening a window or valve</a:t>
            </a:r>
          </a:p>
          <a:p>
            <a:pPr marL="0" indent="0">
              <a:buNone/>
            </a:pPr>
            <a:r>
              <a:rPr lang="en-GB"/>
              <a:t>• starting or stopping a pump</a:t>
            </a:r>
          </a:p>
          <a:p>
            <a:pPr marL="0" indent="0">
              <a:buNone/>
            </a:pPr>
            <a:r>
              <a:rPr lang="en-GB"/>
              <a:t>• turning a wheel</a:t>
            </a:r>
          </a:p>
          <a:p>
            <a:pPr marL="0" indent="0">
              <a:buNone/>
            </a:pPr>
            <a:r>
              <a:rPr lang="en-GB"/>
              <a:t>• moving an aircraft aileron</a:t>
            </a:r>
          </a:p>
          <a:p>
            <a:pPr marL="0" indent="0">
              <a:buNone/>
            </a:pPr>
            <a:r>
              <a:rPr lang="en-GB"/>
              <a:t>• controlling devices in a “smart home”</a:t>
            </a:r>
          </a:p>
        </p:txBody>
      </p:sp>
      <p:pic>
        <p:nvPicPr>
          <p:cNvPr id="5" name="Picture 4" descr="A person holding a tablet with a remote home control&#10;&#10;Description automatically generated">
            <a:extLst>
              <a:ext uri="{FF2B5EF4-FFF2-40B4-BE49-F238E27FC236}">
                <a16:creationId xmlns:a16="http://schemas.microsoft.com/office/drawing/2014/main" id="{446DA6A2-F57F-64C4-69C9-CB82DA4B8E0D}"/>
              </a:ext>
            </a:extLst>
          </p:cNvPr>
          <p:cNvPicPr>
            <a:picLocks noChangeAspect="1"/>
          </p:cNvPicPr>
          <p:nvPr/>
        </p:nvPicPr>
        <p:blipFill>
          <a:blip r:embed="rId2"/>
          <a:stretch>
            <a:fillRect/>
          </a:stretch>
        </p:blipFill>
        <p:spPr>
          <a:xfrm>
            <a:off x="7322527" y="1020157"/>
            <a:ext cx="3378200" cy="2070100"/>
          </a:xfrm>
          <a:prstGeom prst="rect">
            <a:avLst/>
          </a:prstGeom>
        </p:spPr>
      </p:pic>
    </p:spTree>
    <p:extLst>
      <p:ext uri="{BB962C8B-B14F-4D97-AF65-F5344CB8AC3E}">
        <p14:creationId xmlns:p14="http://schemas.microsoft.com/office/powerpoint/2010/main" val="3468613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914EC3-1B45-DE25-BF33-11F49402E9B1}"/>
              </a:ext>
            </a:extLst>
          </p:cNvPr>
          <p:cNvSpPr>
            <a:spLocks noGrp="1"/>
          </p:cNvSpPr>
          <p:nvPr>
            <p:ph type="title"/>
          </p:nvPr>
        </p:nvSpPr>
        <p:spPr/>
        <p:txBody>
          <a:bodyPr/>
          <a:lstStyle/>
          <a:p>
            <a:r>
              <a:rPr lang="en-GB"/>
              <a:t>Learning Aims</a:t>
            </a:r>
          </a:p>
        </p:txBody>
      </p:sp>
      <p:sp>
        <p:nvSpPr>
          <p:cNvPr id="5" name="Content Placeholder 4">
            <a:extLst>
              <a:ext uri="{FF2B5EF4-FFF2-40B4-BE49-F238E27FC236}">
                <a16:creationId xmlns:a16="http://schemas.microsoft.com/office/drawing/2014/main" id="{CBF4774A-BE2A-9303-2BD8-FFB0510B5155}"/>
              </a:ext>
            </a:extLst>
          </p:cNvPr>
          <p:cNvSpPr>
            <a:spLocks noGrp="1"/>
          </p:cNvSpPr>
          <p:nvPr>
            <p:ph sz="quarter" idx="13"/>
          </p:nvPr>
        </p:nvSpPr>
        <p:spPr/>
        <p:txBody>
          <a:bodyPr/>
          <a:lstStyle/>
          <a:p>
            <a:pPr marL="0" indent="0">
              <a:buNone/>
            </a:pPr>
            <a:r>
              <a:rPr lang="en-GB" sz="2800" b="1"/>
              <a:t>Storage devices</a:t>
            </a:r>
          </a:p>
          <a:p>
            <a:pPr marL="0" indent="0">
              <a:buNone/>
            </a:pPr>
            <a:r>
              <a:rPr lang="en-GB" sz="2800"/>
              <a:t>• Know the main uses of magnetic, flash and optical storage devices</a:t>
            </a:r>
          </a:p>
          <a:p>
            <a:pPr marL="0" indent="0">
              <a:buNone/>
            </a:pPr>
            <a:endParaRPr lang="en-GB"/>
          </a:p>
        </p:txBody>
      </p:sp>
    </p:spTree>
    <p:extLst>
      <p:ext uri="{BB962C8B-B14F-4D97-AF65-F5344CB8AC3E}">
        <p14:creationId xmlns:p14="http://schemas.microsoft.com/office/powerpoint/2010/main" val="158563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D928-9947-20D8-902D-D5938F180E88}"/>
              </a:ext>
            </a:extLst>
          </p:cNvPr>
          <p:cNvSpPr>
            <a:spLocks noGrp="1"/>
          </p:cNvSpPr>
          <p:nvPr>
            <p:ph type="title"/>
          </p:nvPr>
        </p:nvSpPr>
        <p:spPr/>
        <p:txBody>
          <a:bodyPr/>
          <a:lstStyle/>
          <a:p>
            <a:r>
              <a:rPr lang="en-GB"/>
              <a:t>Common storage technologies</a:t>
            </a:r>
          </a:p>
        </p:txBody>
      </p:sp>
      <p:sp>
        <p:nvSpPr>
          <p:cNvPr id="3" name="Content Placeholder 2">
            <a:extLst>
              <a:ext uri="{FF2B5EF4-FFF2-40B4-BE49-F238E27FC236}">
                <a16:creationId xmlns:a16="http://schemas.microsoft.com/office/drawing/2014/main" id="{9FCCBB4A-E537-F921-D6C0-D4EEE4328F31}"/>
              </a:ext>
            </a:extLst>
          </p:cNvPr>
          <p:cNvSpPr>
            <a:spLocks noGrp="1"/>
          </p:cNvSpPr>
          <p:nvPr>
            <p:ph sz="quarter" idx="13"/>
          </p:nvPr>
        </p:nvSpPr>
        <p:spPr/>
        <p:txBody>
          <a:bodyPr>
            <a:normAutofit/>
          </a:bodyPr>
          <a:lstStyle/>
          <a:p>
            <a:pPr marL="0" indent="0">
              <a:buNone/>
            </a:pPr>
            <a:r>
              <a:rPr lang="en-GB" sz="3200"/>
              <a:t>There are three main types of technology for storage. </a:t>
            </a:r>
          </a:p>
          <a:p>
            <a:pPr marL="0" indent="0">
              <a:buNone/>
            </a:pPr>
            <a:endParaRPr lang="en-GB" sz="3200"/>
          </a:p>
          <a:p>
            <a:pPr marL="0" indent="0">
              <a:buNone/>
            </a:pPr>
            <a:r>
              <a:rPr lang="en-GB" sz="3200"/>
              <a:t>These are solid state, magnetic and optical.</a:t>
            </a:r>
          </a:p>
        </p:txBody>
      </p:sp>
    </p:spTree>
    <p:extLst>
      <p:ext uri="{BB962C8B-B14F-4D97-AF65-F5344CB8AC3E}">
        <p14:creationId xmlns:p14="http://schemas.microsoft.com/office/powerpoint/2010/main" val="2235914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53C2-0C32-FFB7-C0B0-106DE7B0118A}"/>
              </a:ext>
            </a:extLst>
          </p:cNvPr>
          <p:cNvSpPr>
            <a:spLocks noGrp="1"/>
          </p:cNvSpPr>
          <p:nvPr>
            <p:ph type="title"/>
          </p:nvPr>
        </p:nvSpPr>
        <p:spPr/>
        <p:txBody>
          <a:bodyPr>
            <a:normAutofit/>
          </a:bodyPr>
          <a:lstStyle/>
          <a:p>
            <a:r>
              <a:rPr lang="en-GB"/>
              <a:t>The need for secondary storage</a:t>
            </a:r>
          </a:p>
        </p:txBody>
      </p:sp>
      <p:sp>
        <p:nvSpPr>
          <p:cNvPr id="3" name="Content Placeholder 2">
            <a:extLst>
              <a:ext uri="{FF2B5EF4-FFF2-40B4-BE49-F238E27FC236}">
                <a16:creationId xmlns:a16="http://schemas.microsoft.com/office/drawing/2014/main" id="{644FABFD-0BC3-6D87-CBCC-06200EC98975}"/>
              </a:ext>
            </a:extLst>
          </p:cNvPr>
          <p:cNvSpPr>
            <a:spLocks noGrp="1"/>
          </p:cNvSpPr>
          <p:nvPr>
            <p:ph sz="quarter" idx="13"/>
          </p:nvPr>
        </p:nvSpPr>
        <p:spPr/>
        <p:txBody>
          <a:bodyPr>
            <a:normAutofit/>
          </a:bodyPr>
          <a:lstStyle/>
          <a:p>
            <a:pPr marL="0" indent="0">
              <a:buNone/>
            </a:pPr>
            <a:r>
              <a:rPr lang="en-GB" sz="2000"/>
              <a:t>A computer’s primary store is Random Access Memory. </a:t>
            </a:r>
          </a:p>
          <a:p>
            <a:pPr marL="0" indent="0">
              <a:buNone/>
            </a:pPr>
            <a:endParaRPr lang="en-GB" sz="2000"/>
          </a:p>
          <a:p>
            <a:pPr marL="0" indent="0">
              <a:buNone/>
            </a:pPr>
            <a:r>
              <a:rPr lang="en-GB" sz="2000"/>
              <a:t>Unlike RAM, secondary storage is not directly accessible to the processor and has slower access speeds. </a:t>
            </a:r>
          </a:p>
          <a:p>
            <a:pPr marL="0" indent="0">
              <a:buNone/>
            </a:pPr>
            <a:endParaRPr lang="en-GB" sz="2000"/>
          </a:p>
          <a:p>
            <a:pPr marL="0" indent="0">
              <a:buNone/>
            </a:pPr>
            <a:r>
              <a:rPr lang="en-GB" sz="2000"/>
              <a:t>Secondary storage, however, has the advantage that it retains its contents when the computer’s power is turned off. </a:t>
            </a:r>
          </a:p>
          <a:p>
            <a:pPr marL="0" indent="0">
              <a:buNone/>
            </a:pPr>
            <a:endParaRPr lang="en-GB" sz="2000"/>
          </a:p>
          <a:p>
            <a:pPr marL="0" indent="0">
              <a:buNone/>
            </a:pPr>
            <a:r>
              <a:rPr lang="en-GB" sz="2000"/>
              <a:t>This includes the computer’s internal hard disk, optical media and solid state disks.</a:t>
            </a:r>
          </a:p>
        </p:txBody>
      </p:sp>
    </p:spTree>
    <p:extLst>
      <p:ext uri="{BB962C8B-B14F-4D97-AF65-F5344CB8AC3E}">
        <p14:creationId xmlns:p14="http://schemas.microsoft.com/office/powerpoint/2010/main" val="71276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DAC8-B0AD-8516-B0E2-0863E4C35B3B}"/>
              </a:ext>
            </a:extLst>
          </p:cNvPr>
          <p:cNvSpPr>
            <a:spLocks noGrp="1"/>
          </p:cNvSpPr>
          <p:nvPr>
            <p:ph type="title"/>
          </p:nvPr>
        </p:nvSpPr>
        <p:spPr/>
        <p:txBody>
          <a:bodyPr>
            <a:normAutofit/>
          </a:bodyPr>
          <a:lstStyle/>
          <a:p>
            <a:r>
              <a:rPr lang="en-GB"/>
              <a:t>How storage devices store data</a:t>
            </a:r>
          </a:p>
        </p:txBody>
      </p:sp>
      <p:sp>
        <p:nvSpPr>
          <p:cNvPr id="3" name="Content Placeholder 2">
            <a:extLst>
              <a:ext uri="{FF2B5EF4-FFF2-40B4-BE49-F238E27FC236}">
                <a16:creationId xmlns:a16="http://schemas.microsoft.com/office/drawing/2014/main" id="{71D4D340-D8B4-CFF8-D842-1D1C9DC5E873}"/>
              </a:ext>
            </a:extLst>
          </p:cNvPr>
          <p:cNvSpPr>
            <a:spLocks noGrp="1"/>
          </p:cNvSpPr>
          <p:nvPr>
            <p:ph sz="quarter" idx="13"/>
          </p:nvPr>
        </p:nvSpPr>
        <p:spPr/>
        <p:txBody>
          <a:bodyPr>
            <a:normAutofit/>
          </a:bodyPr>
          <a:lstStyle/>
          <a:p>
            <a:pPr marL="0" indent="0">
              <a:buNone/>
            </a:pPr>
            <a:r>
              <a:rPr lang="en-GB" sz="3200"/>
              <a:t>Hard disks, optical disks and solid state disks all use different methods to store data, but in each case, use a technique which allows them to create and maintain a toggle state without power to represent either a 1 or a 0.</a:t>
            </a:r>
          </a:p>
        </p:txBody>
      </p:sp>
    </p:spTree>
    <p:extLst>
      <p:ext uri="{BB962C8B-B14F-4D97-AF65-F5344CB8AC3E}">
        <p14:creationId xmlns:p14="http://schemas.microsoft.com/office/powerpoint/2010/main" val="2220930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828E7-7451-3369-A540-ABBBBFA69980}"/>
              </a:ext>
            </a:extLst>
          </p:cNvPr>
          <p:cNvSpPr>
            <a:spLocks noGrp="1"/>
          </p:cNvSpPr>
          <p:nvPr>
            <p:ph type="title"/>
          </p:nvPr>
        </p:nvSpPr>
        <p:spPr/>
        <p:txBody>
          <a:bodyPr/>
          <a:lstStyle/>
          <a:p>
            <a:r>
              <a:rPr lang="en-GB"/>
              <a:t>Magnetic Hard Disk</a:t>
            </a:r>
          </a:p>
        </p:txBody>
      </p:sp>
      <p:sp>
        <p:nvSpPr>
          <p:cNvPr id="3" name="Content Placeholder 2">
            <a:extLst>
              <a:ext uri="{FF2B5EF4-FFF2-40B4-BE49-F238E27FC236}">
                <a16:creationId xmlns:a16="http://schemas.microsoft.com/office/drawing/2014/main" id="{F4B70BB4-0156-25ED-E57F-EB53B2953E0C}"/>
              </a:ext>
            </a:extLst>
          </p:cNvPr>
          <p:cNvSpPr>
            <a:spLocks noGrp="1"/>
          </p:cNvSpPr>
          <p:nvPr>
            <p:ph sz="quarter" idx="13"/>
          </p:nvPr>
        </p:nvSpPr>
        <p:spPr>
          <a:xfrm>
            <a:off x="367748" y="1020157"/>
            <a:ext cx="6304901" cy="5837843"/>
          </a:xfrm>
        </p:spPr>
        <p:txBody>
          <a:bodyPr>
            <a:normAutofit/>
          </a:bodyPr>
          <a:lstStyle/>
          <a:p>
            <a:r>
              <a:rPr lang="en-GB" dirty="0"/>
              <a:t>A hard disk stores data on </a:t>
            </a:r>
            <a:r>
              <a:rPr lang="en-GB" b="1" dirty="0"/>
              <a:t>rigid spinning platters</a:t>
            </a:r>
            <a:r>
              <a:rPr lang="en-GB" dirty="0"/>
              <a:t> coated with magnetic material. Tiny iron particles on the surface are magnetised as either north or south, representing </a:t>
            </a:r>
            <a:r>
              <a:rPr lang="en-GB" b="1" dirty="0"/>
              <a:t>0s and 1s</a:t>
            </a:r>
            <a:r>
              <a:rPr lang="en-GB" dirty="0"/>
              <a:t>.</a:t>
            </a:r>
            <a:br>
              <a:rPr lang="en-GB" dirty="0"/>
            </a:br>
            <a:endParaRPr lang="en-GB" dirty="0"/>
          </a:p>
          <a:p>
            <a:r>
              <a:rPr lang="en-GB" dirty="0"/>
              <a:t>The disk is organised into </a:t>
            </a:r>
            <a:r>
              <a:rPr lang="en-GB" b="1" dirty="0"/>
              <a:t>tracks</a:t>
            </a:r>
            <a:r>
              <a:rPr lang="en-GB" dirty="0"/>
              <a:t> (circles) and </a:t>
            </a:r>
            <a:r>
              <a:rPr lang="en-GB" b="1" dirty="0"/>
              <a:t>sectors</a:t>
            </a:r>
            <a:r>
              <a:rPr lang="en-GB" dirty="0"/>
              <a:t> (sections of those circles).</a:t>
            </a:r>
          </a:p>
          <a:p>
            <a:r>
              <a:rPr lang="en-GB" dirty="0"/>
              <a:t>It spins very fast—up to </a:t>
            </a:r>
            <a:r>
              <a:rPr lang="en-GB" b="1" dirty="0"/>
              <a:t>10,000 times per minute</a:t>
            </a:r>
            <a:r>
              <a:rPr lang="en-GB" dirty="0"/>
              <a:t>.</a:t>
            </a:r>
            <a:br>
              <a:rPr lang="en-GB" dirty="0"/>
            </a:br>
            <a:endParaRPr lang="en-GB" dirty="0"/>
          </a:p>
          <a:p>
            <a:r>
              <a:rPr lang="en-GB" dirty="0"/>
              <a:t>A </a:t>
            </a:r>
            <a:r>
              <a:rPr lang="en-GB" b="1" dirty="0"/>
              <a:t>drive head</a:t>
            </a:r>
            <a:r>
              <a:rPr lang="en-GB" dirty="0"/>
              <a:t>, similar to a needle on a record player, moves across the disk to read or write data as the platter spins underneath it. When not in use, the head is moved safely to the side to avoid damage.</a:t>
            </a:r>
            <a:br>
              <a:rPr lang="en-GB" dirty="0"/>
            </a:br>
            <a:endParaRPr lang="en-GB" dirty="0"/>
          </a:p>
          <a:p>
            <a:r>
              <a:rPr lang="en-GB" dirty="0"/>
              <a:t>A hard disk often has </a:t>
            </a:r>
            <a:r>
              <a:rPr lang="en-GB" b="1" dirty="0"/>
              <a:t>multiple platters</a:t>
            </a:r>
            <a:r>
              <a:rPr lang="en-GB" dirty="0"/>
              <a:t>, each with its own drive head.</a:t>
            </a:r>
          </a:p>
        </p:txBody>
      </p:sp>
      <p:pic>
        <p:nvPicPr>
          <p:cNvPr id="5" name="Picture 4" descr="A diagram of a disc&#10;&#10;Description automatically generated">
            <a:extLst>
              <a:ext uri="{FF2B5EF4-FFF2-40B4-BE49-F238E27FC236}">
                <a16:creationId xmlns:a16="http://schemas.microsoft.com/office/drawing/2014/main" id="{70953DEC-4151-C4B9-C48A-FF97B04842C4}"/>
              </a:ext>
            </a:extLst>
          </p:cNvPr>
          <p:cNvPicPr>
            <a:picLocks noChangeAspect="1"/>
          </p:cNvPicPr>
          <p:nvPr/>
        </p:nvPicPr>
        <p:blipFill>
          <a:blip r:embed="rId2"/>
          <a:stretch>
            <a:fillRect/>
          </a:stretch>
        </p:blipFill>
        <p:spPr>
          <a:xfrm>
            <a:off x="7912268" y="1930299"/>
            <a:ext cx="4093267" cy="2101700"/>
          </a:xfrm>
          <a:prstGeom prst="rect">
            <a:avLst/>
          </a:prstGeom>
        </p:spPr>
      </p:pic>
      <p:sp>
        <p:nvSpPr>
          <p:cNvPr id="7" name="TextBox 6">
            <a:extLst>
              <a:ext uri="{FF2B5EF4-FFF2-40B4-BE49-F238E27FC236}">
                <a16:creationId xmlns:a16="http://schemas.microsoft.com/office/drawing/2014/main" id="{527F127F-C58C-DFFF-06B2-2DFCB4D0B07A}"/>
              </a:ext>
            </a:extLst>
          </p:cNvPr>
          <p:cNvSpPr txBox="1"/>
          <p:nvPr/>
        </p:nvSpPr>
        <p:spPr>
          <a:xfrm>
            <a:off x="7218383" y="4149650"/>
            <a:ext cx="4787152" cy="1200329"/>
          </a:xfrm>
          <a:prstGeom prst="rect">
            <a:avLst/>
          </a:prstGeom>
          <a:noFill/>
        </p:spPr>
        <p:txBody>
          <a:bodyPr wrap="square">
            <a:spAutoFit/>
          </a:bodyPr>
          <a:lstStyle/>
          <a:p>
            <a:pPr marL="285750" indent="-285750">
              <a:buFont typeface="Arial" panose="020B0604020202020204" pitchFamily="34" charset="0"/>
              <a:buChar char="•"/>
            </a:pPr>
            <a:r>
              <a:rPr lang="en-GB" dirty="0"/>
              <a:t>Less portable than optical or solid state media, </a:t>
            </a:r>
          </a:p>
          <a:p>
            <a:pPr marL="285750" indent="-285750">
              <a:buFont typeface="Arial" panose="020B0604020202020204" pitchFamily="34" charset="0"/>
              <a:buChar char="•"/>
            </a:pPr>
            <a:r>
              <a:rPr lang="en-GB" dirty="0"/>
              <a:t>Huge capacity makes them very suitable for desktop purposes. </a:t>
            </a:r>
          </a:p>
        </p:txBody>
      </p:sp>
      <p:pic>
        <p:nvPicPr>
          <p:cNvPr id="4" name="Picture 2" descr="Magnetic hard disk drive">
            <a:extLst>
              <a:ext uri="{FF2B5EF4-FFF2-40B4-BE49-F238E27FC236}">
                <a16:creationId xmlns:a16="http://schemas.microsoft.com/office/drawing/2014/main" id="{7C01559D-F78D-6F91-6A1C-33665663D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3711" y="50632"/>
            <a:ext cx="2557114" cy="1643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59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BF2DD-1FAB-7155-E5B2-84FC8852B793}"/>
              </a:ext>
            </a:extLst>
          </p:cNvPr>
          <p:cNvSpPr>
            <a:spLocks noGrp="1"/>
          </p:cNvSpPr>
          <p:nvPr>
            <p:ph type="title"/>
          </p:nvPr>
        </p:nvSpPr>
        <p:spPr/>
        <p:txBody>
          <a:bodyPr>
            <a:normAutofit/>
          </a:bodyPr>
          <a:lstStyle/>
          <a:p>
            <a:r>
              <a:rPr lang="en-GB"/>
              <a:t>Optical disk</a:t>
            </a:r>
          </a:p>
        </p:txBody>
      </p:sp>
      <p:sp>
        <p:nvSpPr>
          <p:cNvPr id="3" name="Content Placeholder 2">
            <a:extLst>
              <a:ext uri="{FF2B5EF4-FFF2-40B4-BE49-F238E27FC236}">
                <a16:creationId xmlns:a16="http://schemas.microsoft.com/office/drawing/2014/main" id="{45B33D27-B238-072F-DC85-1482E956F19B}"/>
              </a:ext>
            </a:extLst>
          </p:cNvPr>
          <p:cNvSpPr>
            <a:spLocks noGrp="1"/>
          </p:cNvSpPr>
          <p:nvPr>
            <p:ph sz="quarter" idx="13"/>
          </p:nvPr>
        </p:nvSpPr>
        <p:spPr>
          <a:xfrm>
            <a:off x="124757" y="841481"/>
            <a:ext cx="7799664" cy="5837843"/>
          </a:xfrm>
        </p:spPr>
        <p:txBody>
          <a:bodyPr>
            <a:normAutofit/>
          </a:bodyPr>
          <a:lstStyle/>
          <a:p>
            <a:r>
              <a:rPr lang="en-GB" dirty="0"/>
              <a:t>Optical disks work by using a </a:t>
            </a:r>
            <a:r>
              <a:rPr lang="en-GB" b="1" dirty="0"/>
              <a:t>laser</a:t>
            </a:r>
            <a:r>
              <a:rPr lang="en-GB" dirty="0"/>
              <a:t>. A high-powered laser “burns” tiny marks onto the disk surface, making those spots less reflective. </a:t>
            </a:r>
          </a:p>
          <a:p>
            <a:r>
              <a:rPr lang="en-GB" dirty="0"/>
              <a:t>A low-powered laser is then used to </a:t>
            </a:r>
            <a:r>
              <a:rPr lang="en-GB" b="1" dirty="0"/>
              <a:t>read</a:t>
            </a:r>
            <a:r>
              <a:rPr lang="en-GB" dirty="0"/>
              <a:t> the disk by measuring how much light is reflected back.</a:t>
            </a:r>
            <a:br>
              <a:rPr lang="en-GB" dirty="0"/>
            </a:br>
            <a:r>
              <a:rPr lang="en-GB" dirty="0"/>
              <a:t>On a manufactured CD-ROM, the surface contains tiny </a:t>
            </a:r>
            <a:r>
              <a:rPr lang="en-GB" b="1" dirty="0"/>
              <a:t>pits</a:t>
            </a:r>
            <a:r>
              <a:rPr lang="en-GB" dirty="0"/>
              <a:t> and flat areas called </a:t>
            </a:r>
            <a:r>
              <a:rPr lang="en-GB" b="1" dirty="0"/>
              <a:t>lands</a:t>
            </a:r>
            <a:r>
              <a:rPr lang="en-GB" dirty="0"/>
              <a:t>.</a:t>
            </a:r>
          </a:p>
          <a:p>
            <a:r>
              <a:rPr lang="en-GB" dirty="0"/>
              <a:t>Where pits begin or end, less light is reflected, and these differences in reflection are read as </a:t>
            </a:r>
            <a:r>
              <a:rPr lang="en-GB" b="1" dirty="0"/>
              <a:t>0s and 1s</a:t>
            </a:r>
            <a:r>
              <a:rPr lang="en-GB" dirty="0"/>
              <a:t>.</a:t>
            </a:r>
          </a:p>
          <a:p>
            <a:endParaRPr lang="en-GB" dirty="0"/>
          </a:p>
          <a:p>
            <a:r>
              <a:rPr lang="en-GB" b="1" dirty="0"/>
              <a:t>Read-only</a:t>
            </a:r>
            <a:r>
              <a:rPr lang="en-GB" dirty="0"/>
              <a:t> (e.g., CD-ROM)</a:t>
            </a:r>
          </a:p>
          <a:p>
            <a:r>
              <a:rPr lang="en-GB" b="1" dirty="0"/>
              <a:t>Recordable</a:t>
            </a:r>
            <a:r>
              <a:rPr lang="en-GB" dirty="0"/>
              <a:t> (e.g., CD-R)</a:t>
            </a:r>
          </a:p>
          <a:p>
            <a:r>
              <a:rPr lang="en-GB" b="1" dirty="0"/>
              <a:t>Rewritable</a:t>
            </a:r>
            <a:r>
              <a:rPr lang="en-GB" dirty="0"/>
              <a:t> (e.g., CD-RW)</a:t>
            </a:r>
          </a:p>
          <a:p>
            <a:pPr marL="0" indent="0">
              <a:buNone/>
            </a:pPr>
            <a:endParaRPr lang="en-GB" dirty="0"/>
          </a:p>
          <a:p>
            <a:pPr marL="0" indent="0">
              <a:buNone/>
            </a:pPr>
            <a:endParaRPr lang="en-GB" dirty="0"/>
          </a:p>
        </p:txBody>
      </p:sp>
      <p:sp>
        <p:nvSpPr>
          <p:cNvPr id="5" name="TextBox 4">
            <a:extLst>
              <a:ext uri="{FF2B5EF4-FFF2-40B4-BE49-F238E27FC236}">
                <a16:creationId xmlns:a16="http://schemas.microsoft.com/office/drawing/2014/main" id="{67844654-CB5E-1EC2-0591-ABFB77760BCC}"/>
              </a:ext>
            </a:extLst>
          </p:cNvPr>
          <p:cNvSpPr txBox="1"/>
          <p:nvPr/>
        </p:nvSpPr>
        <p:spPr>
          <a:xfrm>
            <a:off x="8155643" y="3855399"/>
            <a:ext cx="3911600" cy="2031325"/>
          </a:xfrm>
          <a:prstGeom prst="rect">
            <a:avLst/>
          </a:prstGeom>
          <a:noFill/>
        </p:spPr>
        <p:txBody>
          <a:bodyPr wrap="square">
            <a:spAutoFit/>
          </a:bodyPr>
          <a:lstStyle/>
          <a:p>
            <a:pPr marL="285750" indent="-285750">
              <a:buFont typeface="Arial" panose="020B0604020202020204" pitchFamily="34" charset="0"/>
              <a:buChar char="•"/>
            </a:pPr>
            <a:r>
              <a:rPr lang="en-GB" dirty="0"/>
              <a:t>Optical storage is very cheap to produce and easy to send through the post for distribution purposes.</a:t>
            </a:r>
          </a:p>
          <a:p>
            <a:pPr marL="285750" indent="-285750">
              <a:buFont typeface="Arial" panose="020B0604020202020204" pitchFamily="34" charset="0"/>
              <a:buChar char="•"/>
            </a:pPr>
            <a:r>
              <a:rPr lang="en-GB" dirty="0"/>
              <a:t>It can however be corrupted or damaged easily by excessive sunlight or scratches.</a:t>
            </a:r>
          </a:p>
        </p:txBody>
      </p:sp>
      <p:pic>
        <p:nvPicPr>
          <p:cNvPr id="7" name="Picture 6" descr="A close-up of a compact disc&#10;&#10;Description automatically generated">
            <a:extLst>
              <a:ext uri="{FF2B5EF4-FFF2-40B4-BE49-F238E27FC236}">
                <a16:creationId xmlns:a16="http://schemas.microsoft.com/office/drawing/2014/main" id="{6CE59D34-C630-827F-305B-3090227DFE36}"/>
              </a:ext>
            </a:extLst>
          </p:cNvPr>
          <p:cNvPicPr>
            <a:picLocks noChangeAspect="1"/>
          </p:cNvPicPr>
          <p:nvPr/>
        </p:nvPicPr>
        <p:blipFill>
          <a:blip r:embed="rId2"/>
          <a:stretch>
            <a:fillRect/>
          </a:stretch>
        </p:blipFill>
        <p:spPr>
          <a:xfrm>
            <a:off x="8167412" y="762974"/>
            <a:ext cx="3911600" cy="2768600"/>
          </a:xfrm>
          <a:prstGeom prst="rect">
            <a:avLst/>
          </a:prstGeom>
        </p:spPr>
      </p:pic>
    </p:spTree>
    <p:extLst>
      <p:ext uri="{BB962C8B-B14F-4D97-AF65-F5344CB8AC3E}">
        <p14:creationId xmlns:p14="http://schemas.microsoft.com/office/powerpoint/2010/main" val="348348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9458-0A17-1569-4406-3855C4D015A1}"/>
              </a:ext>
            </a:extLst>
          </p:cNvPr>
          <p:cNvSpPr>
            <a:spLocks noGrp="1"/>
          </p:cNvSpPr>
          <p:nvPr>
            <p:ph type="title"/>
          </p:nvPr>
        </p:nvSpPr>
        <p:spPr/>
        <p:txBody>
          <a:bodyPr>
            <a:normAutofit/>
          </a:bodyPr>
          <a:lstStyle/>
          <a:p>
            <a:r>
              <a:rPr lang="en-GB"/>
              <a:t>Solid-state disk (SSD)</a:t>
            </a:r>
          </a:p>
        </p:txBody>
      </p:sp>
      <p:sp>
        <p:nvSpPr>
          <p:cNvPr id="3" name="Content Placeholder 2">
            <a:extLst>
              <a:ext uri="{FF2B5EF4-FFF2-40B4-BE49-F238E27FC236}">
                <a16:creationId xmlns:a16="http://schemas.microsoft.com/office/drawing/2014/main" id="{7787DE42-3F68-496A-D40B-C03FAC8C6C93}"/>
              </a:ext>
            </a:extLst>
          </p:cNvPr>
          <p:cNvSpPr>
            <a:spLocks noGrp="1"/>
          </p:cNvSpPr>
          <p:nvPr>
            <p:ph sz="quarter" idx="13"/>
          </p:nvPr>
        </p:nvSpPr>
        <p:spPr>
          <a:xfrm>
            <a:off x="135325" y="820461"/>
            <a:ext cx="6096114" cy="5901748"/>
          </a:xfrm>
        </p:spPr>
        <p:txBody>
          <a:bodyPr>
            <a:noAutofit/>
          </a:bodyPr>
          <a:lstStyle/>
          <a:p>
            <a:pPr>
              <a:lnSpc>
                <a:spcPct val="120000"/>
              </a:lnSpc>
            </a:pPr>
            <a:r>
              <a:rPr lang="en-GB" sz="1200" dirty="0"/>
              <a:t>Solid state drives (SSDs) are made to look like traditional hard drives (usually 2.5 or 3.5 inches) so they can fit into existing laptops and desktop computers.</a:t>
            </a:r>
          </a:p>
          <a:p>
            <a:pPr marL="0" indent="0">
              <a:lnSpc>
                <a:spcPct val="120000"/>
              </a:lnSpc>
              <a:buNone/>
            </a:pPr>
            <a:endParaRPr lang="en-GB" sz="1200" dirty="0"/>
          </a:p>
          <a:p>
            <a:pPr>
              <a:lnSpc>
                <a:spcPct val="120000"/>
              </a:lnSpc>
            </a:pPr>
            <a:r>
              <a:rPr lang="en-GB" sz="1200" dirty="0"/>
              <a:t>But inside, instead of spinning platters and a read/write head, an SSD contains </a:t>
            </a:r>
            <a:r>
              <a:rPr lang="en-GB" sz="1200" b="1" dirty="0"/>
              <a:t>chips</a:t>
            </a:r>
            <a:r>
              <a:rPr lang="en-GB" sz="1200" dirty="0"/>
              <a:t> arranged on a circuit board.</a:t>
            </a:r>
            <a:br>
              <a:rPr lang="en-GB" sz="1200" dirty="0"/>
            </a:br>
            <a:endParaRPr lang="en-GB" sz="1200" dirty="0"/>
          </a:p>
          <a:p>
            <a:pPr>
              <a:lnSpc>
                <a:spcPct val="120000"/>
              </a:lnSpc>
            </a:pPr>
            <a:r>
              <a:rPr lang="en-GB" sz="1200" dirty="0"/>
              <a:t>SSDs use </a:t>
            </a:r>
            <a:r>
              <a:rPr lang="en-GB" sz="1200" b="1" dirty="0"/>
              <a:t>NAND flash memory</a:t>
            </a:r>
            <a:r>
              <a:rPr lang="en-GB" sz="1200" dirty="0"/>
              <a:t>, which is made up of millions of tiny memory cells plus a controller to manage how data is stored. </a:t>
            </a:r>
          </a:p>
          <a:p>
            <a:pPr>
              <a:lnSpc>
                <a:spcPct val="120000"/>
              </a:lnSpc>
            </a:pPr>
            <a:r>
              <a:rPr lang="en-GB" sz="1200" dirty="0"/>
              <a:t>Each NAND cell stores data by trapping electrons:</a:t>
            </a:r>
          </a:p>
          <a:p>
            <a:pPr marL="0" indent="0">
              <a:lnSpc>
                <a:spcPct val="120000"/>
              </a:lnSpc>
              <a:buNone/>
            </a:pPr>
            <a:endParaRPr lang="en-GB" sz="1200" dirty="0"/>
          </a:p>
          <a:p>
            <a:pPr lvl="1">
              <a:lnSpc>
                <a:spcPct val="120000"/>
              </a:lnSpc>
            </a:pPr>
            <a:r>
              <a:rPr lang="en-GB" sz="1200" dirty="0"/>
              <a:t>If the floating gate </a:t>
            </a:r>
            <a:r>
              <a:rPr lang="en-GB" sz="1200" b="1" dirty="0"/>
              <a:t>has no charge</a:t>
            </a:r>
            <a:r>
              <a:rPr lang="en-GB" sz="1200" dirty="0"/>
              <a:t>, it is read as </a:t>
            </a:r>
            <a:r>
              <a:rPr lang="en-GB" sz="1200" b="1" dirty="0"/>
              <a:t>1</a:t>
            </a:r>
            <a:endParaRPr lang="en-GB" sz="1200" dirty="0"/>
          </a:p>
          <a:p>
            <a:pPr lvl="1">
              <a:lnSpc>
                <a:spcPct val="120000"/>
              </a:lnSpc>
            </a:pPr>
            <a:r>
              <a:rPr lang="en-GB" sz="1200" dirty="0"/>
              <a:t>If the floating gate </a:t>
            </a:r>
            <a:r>
              <a:rPr lang="en-GB" sz="1200" b="1" dirty="0"/>
              <a:t>has some charge</a:t>
            </a:r>
            <a:r>
              <a:rPr lang="en-GB" sz="1200" dirty="0"/>
              <a:t>, it is read as </a:t>
            </a:r>
            <a:r>
              <a:rPr lang="en-GB" sz="1200" b="1" dirty="0"/>
              <a:t>0</a:t>
            </a:r>
            <a:endParaRPr lang="en-GB" sz="1200" dirty="0"/>
          </a:p>
          <a:p>
            <a:pPr marL="0" indent="0">
              <a:lnSpc>
                <a:spcPct val="120000"/>
              </a:lnSpc>
              <a:buNone/>
            </a:pPr>
            <a:endParaRPr lang="en-GB" sz="1200" dirty="0"/>
          </a:p>
          <a:p>
            <a:pPr>
              <a:lnSpc>
                <a:spcPct val="120000"/>
              </a:lnSpc>
            </a:pPr>
            <a:r>
              <a:rPr lang="en-GB" sz="1200" dirty="0"/>
              <a:t>Data is stored in </a:t>
            </a:r>
            <a:r>
              <a:rPr lang="en-GB" sz="1200" b="1" dirty="0"/>
              <a:t>pages</a:t>
            </a:r>
            <a:r>
              <a:rPr lang="en-GB" sz="1200" dirty="0"/>
              <a:t> (about 4 KB each), which are grouped into </a:t>
            </a:r>
            <a:r>
              <a:rPr lang="en-GB" sz="1200" b="1" dirty="0"/>
              <a:t>blocks</a:t>
            </a:r>
            <a:r>
              <a:rPr lang="en-GB" sz="1200" dirty="0"/>
              <a:t> (often around 512 KB).</a:t>
            </a:r>
          </a:p>
          <a:p>
            <a:pPr marL="0" indent="0">
              <a:lnSpc>
                <a:spcPct val="120000"/>
              </a:lnSpc>
              <a:buNone/>
            </a:pPr>
            <a:endParaRPr lang="en-GB" sz="1200" dirty="0"/>
          </a:p>
          <a:p>
            <a:pPr>
              <a:lnSpc>
                <a:spcPct val="120000"/>
              </a:lnSpc>
            </a:pPr>
            <a:r>
              <a:rPr lang="en-GB" sz="1200" dirty="0"/>
              <a:t>NAND flash </a:t>
            </a:r>
            <a:r>
              <a:rPr lang="en-GB" sz="1200" b="1" dirty="0"/>
              <a:t>cannot overwrite</a:t>
            </a:r>
            <a:r>
              <a:rPr lang="en-GB" sz="1200" dirty="0"/>
              <a:t> existing data. Before new data can be written:</a:t>
            </a:r>
          </a:p>
          <a:p>
            <a:pPr>
              <a:lnSpc>
                <a:spcPct val="120000"/>
              </a:lnSpc>
            </a:pPr>
            <a:r>
              <a:rPr lang="en-GB" sz="1200" dirty="0"/>
              <a:t>The old block must be erased.</a:t>
            </a:r>
          </a:p>
          <a:p>
            <a:pPr>
              <a:lnSpc>
                <a:spcPct val="120000"/>
              </a:lnSpc>
            </a:pPr>
            <a:r>
              <a:rPr lang="en-GB" sz="1200" dirty="0"/>
              <a:t>A new block is created and filled with updated data.</a:t>
            </a:r>
          </a:p>
          <a:p>
            <a:pPr>
              <a:lnSpc>
                <a:spcPct val="120000"/>
              </a:lnSpc>
            </a:pPr>
            <a:r>
              <a:rPr lang="en-GB" sz="1200" dirty="0"/>
              <a:t>The old block is marked as “invalid” and later erased when needed.</a:t>
            </a:r>
            <a:br>
              <a:rPr lang="en-GB" sz="1200" dirty="0"/>
            </a:br>
            <a:endParaRPr lang="en-GB" sz="1200" dirty="0"/>
          </a:p>
          <a:p>
            <a:pPr>
              <a:lnSpc>
                <a:spcPct val="120000"/>
              </a:lnSpc>
            </a:pPr>
            <a:r>
              <a:rPr lang="en-GB" sz="1200" dirty="0"/>
              <a:t>This process is why SSDs must manage data carefully behind the scenes, even though they appear simple to the user.</a:t>
            </a:r>
          </a:p>
        </p:txBody>
      </p:sp>
      <p:pic>
        <p:nvPicPr>
          <p:cNvPr id="5" name="Picture 4" descr="A close-up of a hand holding a small computer chip&#10;&#10;Description automatically generated">
            <a:extLst>
              <a:ext uri="{FF2B5EF4-FFF2-40B4-BE49-F238E27FC236}">
                <a16:creationId xmlns:a16="http://schemas.microsoft.com/office/drawing/2014/main" id="{C70BF7DB-438C-3022-D0C1-667D300EE6C3}"/>
              </a:ext>
            </a:extLst>
          </p:cNvPr>
          <p:cNvPicPr>
            <a:picLocks noChangeAspect="1"/>
          </p:cNvPicPr>
          <p:nvPr/>
        </p:nvPicPr>
        <p:blipFill>
          <a:blip r:embed="rId3"/>
          <a:stretch>
            <a:fillRect/>
          </a:stretch>
        </p:blipFill>
        <p:spPr>
          <a:xfrm>
            <a:off x="6944273" y="207357"/>
            <a:ext cx="4546600" cy="1625600"/>
          </a:xfrm>
          <a:prstGeom prst="rect">
            <a:avLst/>
          </a:prstGeom>
        </p:spPr>
      </p:pic>
      <p:pic>
        <p:nvPicPr>
          <p:cNvPr id="7" name="Picture 6" descr="Diagram of a diagram of a workflow&#10;&#10;Description automatically generated">
            <a:extLst>
              <a:ext uri="{FF2B5EF4-FFF2-40B4-BE49-F238E27FC236}">
                <a16:creationId xmlns:a16="http://schemas.microsoft.com/office/drawing/2014/main" id="{2636470E-CFC6-11BD-62A2-2451165C6AD6}"/>
              </a:ext>
            </a:extLst>
          </p:cNvPr>
          <p:cNvPicPr>
            <a:picLocks noChangeAspect="1"/>
          </p:cNvPicPr>
          <p:nvPr/>
        </p:nvPicPr>
        <p:blipFill>
          <a:blip r:embed="rId4"/>
          <a:stretch>
            <a:fillRect/>
          </a:stretch>
        </p:blipFill>
        <p:spPr>
          <a:xfrm>
            <a:off x="7168114" y="1925113"/>
            <a:ext cx="4533900" cy="1549400"/>
          </a:xfrm>
          <a:prstGeom prst="rect">
            <a:avLst/>
          </a:prstGeom>
        </p:spPr>
      </p:pic>
      <p:sp>
        <p:nvSpPr>
          <p:cNvPr id="9" name="TextBox 8">
            <a:extLst>
              <a:ext uri="{FF2B5EF4-FFF2-40B4-BE49-F238E27FC236}">
                <a16:creationId xmlns:a16="http://schemas.microsoft.com/office/drawing/2014/main" id="{57D6F672-C941-5FDF-F827-7B07E7E72BC2}"/>
              </a:ext>
            </a:extLst>
          </p:cNvPr>
          <p:cNvSpPr txBox="1"/>
          <p:nvPr/>
        </p:nvSpPr>
        <p:spPr>
          <a:xfrm>
            <a:off x="6355798" y="3665868"/>
            <a:ext cx="5825236" cy="2893100"/>
          </a:xfrm>
          <a:prstGeom prst="rect">
            <a:avLst/>
          </a:prstGeom>
          <a:noFill/>
        </p:spPr>
        <p:txBody>
          <a:bodyPr wrap="square">
            <a:spAutoFit/>
          </a:bodyPr>
          <a:lstStyle/>
          <a:p>
            <a:r>
              <a:rPr lang="en-GB" sz="1400" dirty="0"/>
              <a:t>Solid state drives (SSDs) don’t hold as much data as hard disks, but they are </a:t>
            </a:r>
            <a:r>
              <a:rPr lang="en-GB" sz="1400" b="1" dirty="0"/>
              <a:t>much faster</a:t>
            </a:r>
            <a:r>
              <a:rPr lang="en-GB" sz="1400" dirty="0"/>
              <a:t>.</a:t>
            </a:r>
          </a:p>
          <a:p>
            <a:r>
              <a:rPr lang="en-GB" sz="1400" dirty="0"/>
              <a:t>Because they have </a:t>
            </a:r>
            <a:r>
              <a:rPr lang="en-GB" sz="1400" b="1" dirty="0"/>
              <a:t>no moving parts</a:t>
            </a:r>
            <a:r>
              <a:rPr lang="en-GB" sz="1400" dirty="0"/>
              <a:t>, any piece of data can be accessed instantly, no matter where it is stored.</a:t>
            </a:r>
          </a:p>
          <a:p>
            <a:r>
              <a:rPr lang="en-GB" sz="1400" dirty="0"/>
              <a:t>SSDs also:</a:t>
            </a:r>
          </a:p>
          <a:p>
            <a:pPr marL="285750" indent="-285750">
              <a:buFont typeface="Arial" panose="020B0604020202020204" pitchFamily="34" charset="0"/>
              <a:buChar char="•"/>
            </a:pPr>
            <a:r>
              <a:rPr lang="en-GB" sz="1400" dirty="0"/>
              <a:t>use </a:t>
            </a:r>
            <a:r>
              <a:rPr lang="en-GB" sz="1400" b="1" dirty="0"/>
              <a:t>much less power</a:t>
            </a:r>
            <a:r>
              <a:rPr lang="en-GB" sz="1400" dirty="0"/>
              <a:t>, which improves battery life and keeps laptops cooler</a:t>
            </a:r>
          </a:p>
          <a:p>
            <a:pPr marL="285750" indent="-285750">
              <a:buFont typeface="Arial" panose="020B0604020202020204" pitchFamily="34" charset="0"/>
              <a:buChar char="•"/>
            </a:pPr>
            <a:r>
              <a:rPr lang="en-GB" sz="1400" dirty="0"/>
              <a:t>are </a:t>
            </a:r>
            <a:r>
              <a:rPr lang="en-GB" sz="1400" b="1" dirty="0"/>
              <a:t>more durable</a:t>
            </a:r>
            <a:r>
              <a:rPr lang="en-GB" sz="1400" dirty="0"/>
              <a:t> because there are no fragile moving parts</a:t>
            </a:r>
          </a:p>
          <a:p>
            <a:pPr marL="285750" indent="-285750">
              <a:buFont typeface="Arial" panose="020B0604020202020204" pitchFamily="34" charset="0"/>
              <a:buChar char="•"/>
            </a:pPr>
            <a:r>
              <a:rPr lang="en-GB" sz="1400" dirty="0"/>
              <a:t>are </a:t>
            </a:r>
            <a:r>
              <a:rPr lang="en-GB" sz="1400" b="1" dirty="0"/>
              <a:t>silent</a:t>
            </a:r>
            <a:r>
              <a:rPr lang="en-GB" sz="1400" dirty="0"/>
              <a:t>, lighter, and very portable</a:t>
            </a:r>
            <a:br>
              <a:rPr lang="en-GB" sz="1400" dirty="0"/>
            </a:br>
            <a:endParaRPr lang="en-GB" sz="1400" dirty="0"/>
          </a:p>
          <a:p>
            <a:r>
              <a:rPr lang="en-GB" sz="1400" dirty="0"/>
              <a:t>These advantages make solid state memory ideal for phones, MP3 players, and other mobile devices.</a:t>
            </a:r>
          </a:p>
          <a:p>
            <a:endParaRPr lang="en-GB" sz="1400" dirty="0"/>
          </a:p>
        </p:txBody>
      </p:sp>
    </p:spTree>
    <p:extLst>
      <p:ext uri="{BB962C8B-B14F-4D97-AF65-F5344CB8AC3E}">
        <p14:creationId xmlns:p14="http://schemas.microsoft.com/office/powerpoint/2010/main" val="2156238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CEE45-C7B5-8A42-E26F-DE08F23CED92}"/>
              </a:ext>
            </a:extLst>
          </p:cNvPr>
          <p:cNvSpPr>
            <a:spLocks noGrp="1"/>
          </p:cNvSpPr>
          <p:nvPr>
            <p:ph type="title"/>
          </p:nvPr>
        </p:nvSpPr>
        <p:spPr/>
        <p:txBody>
          <a:bodyPr/>
          <a:lstStyle/>
          <a:p>
            <a:r>
              <a:rPr lang="en-GB"/>
              <a:t>The uses of storage devices</a:t>
            </a:r>
          </a:p>
        </p:txBody>
      </p:sp>
      <p:sp>
        <p:nvSpPr>
          <p:cNvPr id="3" name="Content Placeholder 2">
            <a:extLst>
              <a:ext uri="{FF2B5EF4-FFF2-40B4-BE49-F238E27FC236}">
                <a16:creationId xmlns:a16="http://schemas.microsoft.com/office/drawing/2014/main" id="{9984DDF8-DF3E-5393-A97F-B0665A4212EF}"/>
              </a:ext>
            </a:extLst>
          </p:cNvPr>
          <p:cNvSpPr>
            <a:spLocks noGrp="1"/>
          </p:cNvSpPr>
          <p:nvPr>
            <p:ph sz="quarter" idx="13"/>
          </p:nvPr>
        </p:nvSpPr>
        <p:spPr/>
        <p:txBody>
          <a:bodyPr>
            <a:normAutofit/>
          </a:bodyPr>
          <a:lstStyle/>
          <a:p>
            <a:pPr marL="0" indent="0">
              <a:buNone/>
            </a:pPr>
            <a:r>
              <a:rPr lang="en-GB"/>
              <a:t>When comparing and contrasting different storage devices, we could use a number of criteria:</a:t>
            </a:r>
          </a:p>
          <a:p>
            <a:pPr marL="0" indent="0">
              <a:buNone/>
            </a:pPr>
            <a:endParaRPr lang="en-GB"/>
          </a:p>
          <a:p>
            <a:r>
              <a:rPr lang="en-GB"/>
              <a:t>The type of technology they used (solid state, magnetic or optical).</a:t>
            </a:r>
          </a:p>
          <a:p>
            <a:r>
              <a:rPr lang="en-GB"/>
              <a:t>How fast the media can be accessed.</a:t>
            </a:r>
          </a:p>
          <a:p>
            <a:r>
              <a:rPr lang="en-GB"/>
              <a:t>Whether data can be accessed directly or serially.</a:t>
            </a:r>
          </a:p>
          <a:p>
            <a:r>
              <a:rPr lang="en-GB"/>
              <a:t>How much data can be stored on the media.</a:t>
            </a:r>
          </a:p>
          <a:p>
            <a:r>
              <a:rPr lang="en-GB"/>
              <a:t>What the media might typically be used for.</a:t>
            </a:r>
          </a:p>
          <a:p>
            <a:r>
              <a:rPr lang="en-GB"/>
              <a:t>How commonly used the media is.</a:t>
            </a:r>
          </a:p>
          <a:p>
            <a:r>
              <a:rPr lang="en-GB"/>
              <a:t>The cost of the media and the cost of the actual device used to read from or write to it.</a:t>
            </a:r>
          </a:p>
          <a:p>
            <a:r>
              <a:rPr lang="en-GB"/>
              <a:t>Whether the media is read-only or read-write.</a:t>
            </a:r>
          </a:p>
          <a:p>
            <a:r>
              <a:rPr lang="en-GB"/>
              <a:t>Whether the storage medium is 'virtual' and requires an Internet connection or physical.</a:t>
            </a:r>
          </a:p>
          <a:p>
            <a:r>
              <a:rPr lang="en-GB"/>
              <a:t>How portable the device is.</a:t>
            </a:r>
          </a:p>
        </p:txBody>
      </p:sp>
    </p:spTree>
    <p:extLst>
      <p:ext uri="{BB962C8B-B14F-4D97-AF65-F5344CB8AC3E}">
        <p14:creationId xmlns:p14="http://schemas.microsoft.com/office/powerpoint/2010/main" val="2058448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F348E-F9A7-FA5C-2B2A-57DF5BD8B90E}"/>
              </a:ext>
            </a:extLst>
          </p:cNvPr>
          <p:cNvSpPr>
            <a:spLocks noGrp="1"/>
          </p:cNvSpPr>
          <p:nvPr>
            <p:ph type="title"/>
          </p:nvPr>
        </p:nvSpPr>
        <p:spPr/>
        <p:txBody>
          <a:bodyPr>
            <a:normAutofit/>
          </a:bodyPr>
          <a:lstStyle/>
          <a:p>
            <a:r>
              <a:rPr lang="en-GB"/>
              <a:t>How the capacity of secondary storage media is measured</a:t>
            </a:r>
          </a:p>
        </p:txBody>
      </p:sp>
      <p:sp>
        <p:nvSpPr>
          <p:cNvPr id="3" name="Content Placeholder 2">
            <a:extLst>
              <a:ext uri="{FF2B5EF4-FFF2-40B4-BE49-F238E27FC236}">
                <a16:creationId xmlns:a16="http://schemas.microsoft.com/office/drawing/2014/main" id="{C5B59246-3996-B125-D8AE-3DB555CC3E8B}"/>
              </a:ext>
            </a:extLst>
          </p:cNvPr>
          <p:cNvSpPr>
            <a:spLocks noGrp="1"/>
          </p:cNvSpPr>
          <p:nvPr>
            <p:ph sz="quarter" idx="13"/>
          </p:nvPr>
        </p:nvSpPr>
        <p:spPr/>
        <p:txBody>
          <a:bodyPr>
            <a:normAutofit/>
          </a:bodyPr>
          <a:lstStyle/>
          <a:p>
            <a:pPr marL="0" indent="0">
              <a:buNone/>
            </a:pPr>
            <a:r>
              <a:rPr lang="en-GB"/>
              <a:t>Data storage is measured in 'bytes'. When you talk about storage media, however, you quickly end up talking about thousands of bytes, millions of bytes, millions and millions of bytes and so on. There are lots of different ways of talking about these large numbers. We have met the following summary before:</a:t>
            </a:r>
          </a:p>
          <a:p>
            <a:pPr marL="0" indent="0">
              <a:buNone/>
            </a:pPr>
            <a:endParaRPr lang="en-GB"/>
          </a:p>
          <a:p>
            <a:pPr marL="0" indent="0">
              <a:buNone/>
            </a:pPr>
            <a:r>
              <a:rPr lang="en-GB"/>
              <a:t>1 Kilobyte (1 Kbyte) is 1024 bytes exactly, or 210 bytes exactly, or about 1000 bytes, or about a thousand bytes.</a:t>
            </a:r>
          </a:p>
          <a:p>
            <a:pPr marL="0" indent="0">
              <a:buNone/>
            </a:pPr>
            <a:r>
              <a:rPr lang="en-GB"/>
              <a:t>1 Megabyte (1 Mbyte) is 1048576 bytes exactly, or 220 bytes exactly, or about 1000 000 bytes, or about a million bytes.</a:t>
            </a:r>
          </a:p>
          <a:p>
            <a:pPr marL="0" indent="0">
              <a:buNone/>
            </a:pPr>
            <a:r>
              <a:rPr lang="en-GB"/>
              <a:t>1 Gigabyte (1 </a:t>
            </a:r>
            <a:r>
              <a:rPr lang="en-GB" err="1"/>
              <a:t>Gbyte</a:t>
            </a:r>
            <a:r>
              <a:rPr lang="en-GB"/>
              <a:t>) is 1073741824 bytes exactly, 230 bytes exactly, or about 1000 000 000 bytes, or about a thousand million bytes.</a:t>
            </a:r>
          </a:p>
          <a:p>
            <a:pPr marL="0" indent="0">
              <a:buNone/>
            </a:pPr>
            <a:endParaRPr lang="en-GB"/>
          </a:p>
          <a:p>
            <a:pPr marL="0" indent="0">
              <a:buNone/>
            </a:pPr>
            <a:r>
              <a:rPr lang="en-GB"/>
              <a:t>So 15 Kbytes is about 15 thousand bytes. 128 Mbytes is about 128 million bytes. 20 </a:t>
            </a:r>
            <a:r>
              <a:rPr lang="en-GB" err="1"/>
              <a:t>Gbytes</a:t>
            </a:r>
            <a:r>
              <a:rPr lang="en-GB"/>
              <a:t> is about 20 thousand million bytes. More often than not, you don't need to know the exact number of bytes, just an approximation!</a:t>
            </a:r>
          </a:p>
        </p:txBody>
      </p:sp>
    </p:spTree>
    <p:extLst>
      <p:ext uri="{BB962C8B-B14F-4D97-AF65-F5344CB8AC3E}">
        <p14:creationId xmlns:p14="http://schemas.microsoft.com/office/powerpoint/2010/main" val="540380889"/>
      </p:ext>
    </p:extLst>
  </p:cSld>
  <p:clrMapOvr>
    <a:masterClrMapping/>
  </p:clrMapOvr>
</p:sld>
</file>

<file path=ppt/theme/theme1.xml><?xml version="1.0" encoding="utf-8"?>
<a:theme xmlns:a="http://schemas.openxmlformats.org/drawingml/2006/main" name="CS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c" id="{6FDA48AE-2A82-8E47-9DFF-5922356D530D}" vid="{F0E77B48-CFDD-B64E-B1F3-6F872FC378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0CF4CB767594CAB58E67B9F0BE67A" ma:contentTypeVersion="19" ma:contentTypeDescription="Create a new document." ma:contentTypeScope="" ma:versionID="4a381193f6264d7feea9cdd001d733af">
  <xsd:schema xmlns:xsd="http://www.w3.org/2001/XMLSchema" xmlns:xs="http://www.w3.org/2001/XMLSchema" xmlns:p="http://schemas.microsoft.com/office/2006/metadata/properties" xmlns:ns2="af5a9b6f-90d1-4e94-ad6a-4d32e435a3f7" xmlns:ns3="ba822b70-6078-407b-9df2-075fd966bc17" targetNamespace="http://schemas.microsoft.com/office/2006/metadata/properties" ma:root="true" ma:fieldsID="f73d3b58c9a07eb7cdf84c9060c4deb7" ns2:_="" ns3:_="">
    <xsd:import namespace="af5a9b6f-90d1-4e94-ad6a-4d32e435a3f7"/>
    <xsd:import namespace="ba822b70-6078-407b-9df2-075fd966bc1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5a9b6f-90d1-4e94-ad6a-4d32e435a3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2842fe2-0384-4868-9911-293adc3c594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822b70-6078-407b-9df2-075fd966bc1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fcce3-66d6-45c3-acef-c5498900e25c}" ma:internalName="TaxCatchAll" ma:showField="CatchAllData" ma:web="ba822b70-6078-407b-9df2-075fd966bc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a822b70-6078-407b-9df2-075fd966bc17" xsi:nil="true"/>
    <lcf76f155ced4ddcb4097134ff3c332f xmlns="af5a9b6f-90d1-4e94-ad6a-4d32e435a3f7">
      <Terms xmlns="http://schemas.microsoft.com/office/infopath/2007/PartnerControls"/>
    </lcf76f155ced4ddcb4097134ff3c332f>
    <SharedWithUsers xmlns="ba822b70-6078-407b-9df2-075fd966bc17">
      <UserInfo>
        <DisplayName/>
        <AccountId xsi:nil="true"/>
        <AccountType/>
      </UserInfo>
    </SharedWithUsers>
    <MediaLengthInSeconds xmlns="af5a9b6f-90d1-4e94-ad6a-4d32e435a3f7" xsi:nil="true"/>
  </documentManagement>
</p:properties>
</file>

<file path=customXml/itemProps1.xml><?xml version="1.0" encoding="utf-8"?>
<ds:datastoreItem xmlns:ds="http://schemas.openxmlformats.org/officeDocument/2006/customXml" ds:itemID="{7BD43E0C-4618-4710-9937-9D682EAA42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5a9b6f-90d1-4e94-ad6a-4d32e435a3f7"/>
    <ds:schemaRef ds:uri="ba822b70-6078-407b-9df2-075fd966bc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650754-A815-44B5-A9B3-EDE7EE268B2B}">
  <ds:schemaRefs>
    <ds:schemaRef ds:uri="http://schemas.microsoft.com/sharepoint/v3/contenttype/forms"/>
  </ds:schemaRefs>
</ds:datastoreItem>
</file>

<file path=customXml/itemProps3.xml><?xml version="1.0" encoding="utf-8"?>
<ds:datastoreItem xmlns:ds="http://schemas.openxmlformats.org/officeDocument/2006/customXml" ds:itemID="{A9BE0ACC-C012-4792-91E0-1F85779F1512}">
  <ds:schemaRefs>
    <ds:schemaRef ds:uri="ba822b70-6078-407b-9df2-075fd966bc17"/>
    <ds:schemaRef ds:uri="http://purl.org/dc/elements/1.1/"/>
    <ds:schemaRef ds:uri="http://purl.org/dc/dcmitype/"/>
    <ds:schemaRef ds:uri="http://schemas.microsoft.com/office/infopath/2007/PartnerControls"/>
    <ds:schemaRef ds:uri="af5a9b6f-90d1-4e94-ad6a-4d32e435a3f7"/>
    <ds:schemaRef ds:uri="http://schemas.microsoft.com/office/2006/documentManagement/types"/>
    <ds:schemaRef ds:uri="http://www.w3.org/XML/1998/namespace"/>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CSc</Template>
  <TotalTime>141</TotalTime>
  <Words>3047</Words>
  <Application>Microsoft Macintosh PowerPoint</Application>
  <PresentationFormat>Widescreen</PresentationFormat>
  <Paragraphs>264</Paragraphs>
  <Slides>22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Century Gothic</vt:lpstr>
      <vt:lpstr>CSc</vt:lpstr>
      <vt:lpstr>Learning Aims</vt:lpstr>
      <vt:lpstr>Input Devices</vt:lpstr>
      <vt:lpstr>Optical recognition</vt:lpstr>
      <vt:lpstr>Readers</vt:lpstr>
      <vt:lpstr>Question</vt:lpstr>
      <vt:lpstr>Radio Frequency Identification (RFID)</vt:lpstr>
      <vt:lpstr>Passive and active tags</vt:lpstr>
      <vt:lpstr>Output devices</vt:lpstr>
      <vt:lpstr>Organic LED (OLED) screens</vt:lpstr>
      <vt:lpstr>Printers</vt:lpstr>
      <vt:lpstr>Multimedia projectors</vt:lpstr>
      <vt:lpstr>Computer speakers</vt:lpstr>
      <vt:lpstr>Actuators</vt:lpstr>
      <vt:lpstr>Learning Aims</vt:lpstr>
      <vt:lpstr>Common storage technologies</vt:lpstr>
      <vt:lpstr>The need for secondary storage</vt:lpstr>
      <vt:lpstr>How storage devices store data</vt:lpstr>
      <vt:lpstr>Magnetic Hard Disk</vt:lpstr>
      <vt:lpstr>Optical disk</vt:lpstr>
      <vt:lpstr>Solid-state disk (SSD)</vt:lpstr>
      <vt:lpstr>The uses of storage devices</vt:lpstr>
      <vt:lpstr>How the capacity of secondary storage media is measured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Allgar</dc:creator>
  <cp:lastModifiedBy>Elizabeth Allgar</cp:lastModifiedBy>
  <cp:revision>2</cp:revision>
  <dcterms:created xsi:type="dcterms:W3CDTF">2024-07-23T22:39:09Z</dcterms:created>
  <dcterms:modified xsi:type="dcterms:W3CDTF">2025-11-26T14:57:30Z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0x0101004850CF4CB767594CAB58E67B9F0BE67A</vt:lpwstr>
  </property>
  <property fmtid="{D5CDD505-2E9C-101B-9397-08002B2CF9AE}" pid="3" name="Order">
    <vt:r8>35880900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ies>
</file>