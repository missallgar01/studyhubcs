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5" r:id="rId4"/>
  </p:sldMasterIdLst>
  <p:notesMasterIdLst>
    <p:notesMasterId r:id="rId47"/>
  </p:notesMasterIdLst>
  <p:sldIdLst>
    <p:sldId id="345" r:id="rId5"/>
    <p:sldId id="439" r:id="rId6"/>
    <p:sldId id="346" r:id="rId7"/>
    <p:sldId id="347" r:id="rId8"/>
    <p:sldId id="261" r:id="rId9"/>
    <p:sldId id="404" r:id="rId10"/>
    <p:sldId id="433" r:id="rId11"/>
    <p:sldId id="420" r:id="rId12"/>
    <p:sldId id="421" r:id="rId13"/>
    <p:sldId id="422" r:id="rId14"/>
    <p:sldId id="423" r:id="rId15"/>
    <p:sldId id="424" r:id="rId16"/>
    <p:sldId id="398" r:id="rId17"/>
    <p:sldId id="406" r:id="rId18"/>
    <p:sldId id="407" r:id="rId19"/>
    <p:sldId id="408" r:id="rId20"/>
    <p:sldId id="434" r:id="rId21"/>
    <p:sldId id="409" r:id="rId22"/>
    <p:sldId id="435" r:id="rId23"/>
    <p:sldId id="410" r:id="rId24"/>
    <p:sldId id="311" r:id="rId25"/>
    <p:sldId id="411" r:id="rId26"/>
    <p:sldId id="412" r:id="rId27"/>
    <p:sldId id="413" r:id="rId28"/>
    <p:sldId id="414" r:id="rId29"/>
    <p:sldId id="415" r:id="rId30"/>
    <p:sldId id="416" r:id="rId31"/>
    <p:sldId id="417" r:id="rId32"/>
    <p:sldId id="418" r:id="rId33"/>
    <p:sldId id="419" r:id="rId34"/>
    <p:sldId id="399" r:id="rId35"/>
    <p:sldId id="400" r:id="rId36"/>
    <p:sldId id="401" r:id="rId37"/>
    <p:sldId id="402" r:id="rId38"/>
    <p:sldId id="403" r:id="rId39"/>
    <p:sldId id="425" r:id="rId40"/>
    <p:sldId id="426" r:id="rId41"/>
    <p:sldId id="427" r:id="rId42"/>
    <p:sldId id="428" r:id="rId43"/>
    <p:sldId id="429" r:id="rId44"/>
    <p:sldId id="438" r:id="rId45"/>
    <p:sldId id="432"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726"/>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izabeth Allgar" userId="3f289184-9de6-4ddb-8aa3-0e56f37c2a8c" providerId="ADAL" clId="{797DCDEB-F2E7-55A6-BB30-B6CDE054984F}"/>
    <pc:docChg chg="undo custSel addSld delSld modSld sldOrd">
      <pc:chgData name="Elizabeth Allgar" userId="3f289184-9de6-4ddb-8aa3-0e56f37c2a8c" providerId="ADAL" clId="{797DCDEB-F2E7-55A6-BB30-B6CDE054984F}" dt="2025-11-30T20:17:30.989" v="241"/>
      <pc:docMkLst>
        <pc:docMk/>
      </pc:docMkLst>
      <pc:sldChg chg="addSp delSp modSp mod modAnim">
        <pc:chgData name="Elizabeth Allgar" userId="3f289184-9de6-4ddb-8aa3-0e56f37c2a8c" providerId="ADAL" clId="{797DCDEB-F2E7-55A6-BB30-B6CDE054984F}" dt="2025-11-30T20:01:43.121" v="104"/>
        <pc:sldMkLst>
          <pc:docMk/>
          <pc:sldMk cId="985620979" sldId="445"/>
        </pc:sldMkLst>
        <pc:spChg chg="mod">
          <ac:chgData name="Elizabeth Allgar" userId="3f289184-9de6-4ddb-8aa3-0e56f37c2a8c" providerId="ADAL" clId="{797DCDEB-F2E7-55A6-BB30-B6CDE054984F}" dt="2025-11-30T19:47:52.399" v="1" actId="1076"/>
          <ac:spMkLst>
            <pc:docMk/>
            <pc:sldMk cId="985620979" sldId="445"/>
            <ac:spMk id="3" creationId="{F15A6B9D-4DEC-A8FD-6547-0D266F7E71D0}"/>
          </ac:spMkLst>
        </pc:spChg>
        <pc:spChg chg="add mod">
          <ac:chgData name="Elizabeth Allgar" userId="3f289184-9de6-4ddb-8aa3-0e56f37c2a8c" providerId="ADAL" clId="{797DCDEB-F2E7-55A6-BB30-B6CDE054984F}" dt="2025-11-30T20:01:30.513" v="101" actId="1076"/>
          <ac:spMkLst>
            <pc:docMk/>
            <pc:sldMk cId="985620979" sldId="445"/>
            <ac:spMk id="5" creationId="{6CFD7FAB-3113-1131-3AFE-FC800C2C260D}"/>
          </ac:spMkLst>
        </pc:spChg>
        <pc:graphicFrameChg chg="add mod modGraphic">
          <ac:chgData name="Elizabeth Allgar" userId="3f289184-9de6-4ddb-8aa3-0e56f37c2a8c" providerId="ADAL" clId="{797DCDEB-F2E7-55A6-BB30-B6CDE054984F}" dt="2025-11-30T20:01:35.712" v="102" actId="2711"/>
          <ac:graphicFrameMkLst>
            <pc:docMk/>
            <pc:sldMk cId="985620979" sldId="445"/>
            <ac:graphicFrameMk id="6" creationId="{E75F1CA9-807E-DFAA-10E8-5868142A8E8A}"/>
          </ac:graphicFrameMkLst>
        </pc:graphicFrameChg>
      </pc:sldChg>
      <pc:sldChg chg="addSp delSp modSp mod modAnim">
        <pc:chgData name="Elizabeth Allgar" userId="3f289184-9de6-4ddb-8aa3-0e56f37c2a8c" providerId="ADAL" clId="{797DCDEB-F2E7-55A6-BB30-B6CDE054984F}" dt="2025-11-30T20:12:41.408" v="190" actId="20577"/>
        <pc:sldMkLst>
          <pc:docMk/>
          <pc:sldMk cId="2618663582" sldId="448"/>
        </pc:sldMkLst>
        <pc:spChg chg="mod">
          <ac:chgData name="Elizabeth Allgar" userId="3f289184-9de6-4ddb-8aa3-0e56f37c2a8c" providerId="ADAL" clId="{797DCDEB-F2E7-55A6-BB30-B6CDE054984F}" dt="2025-11-30T20:12:41.408" v="190" actId="20577"/>
          <ac:spMkLst>
            <pc:docMk/>
            <pc:sldMk cId="2618663582" sldId="448"/>
            <ac:spMk id="3" creationId="{C610E942-1C1A-6A98-98C3-1D4DDC75C93D}"/>
          </ac:spMkLst>
        </pc:spChg>
        <pc:graphicFrameChg chg="add mod modGraphic">
          <ac:chgData name="Elizabeth Allgar" userId="3f289184-9de6-4ddb-8aa3-0e56f37c2a8c" providerId="ADAL" clId="{797DCDEB-F2E7-55A6-BB30-B6CDE054984F}" dt="2025-11-30T20:04:04.319" v="119" actId="12385"/>
          <ac:graphicFrameMkLst>
            <pc:docMk/>
            <pc:sldMk cId="2618663582" sldId="448"/>
            <ac:graphicFrameMk id="4" creationId="{2C6662AB-6BDA-649F-8C8E-A9D6236A264F}"/>
          </ac:graphicFrameMkLst>
        </pc:graphicFrameChg>
      </pc:sldChg>
      <pc:sldChg chg="addSp delSp modSp mod modAnim">
        <pc:chgData name="Elizabeth Allgar" userId="3f289184-9de6-4ddb-8aa3-0e56f37c2a8c" providerId="ADAL" clId="{797DCDEB-F2E7-55A6-BB30-B6CDE054984F}" dt="2025-11-30T20:05:48.651" v="145" actId="1076"/>
        <pc:sldMkLst>
          <pc:docMk/>
          <pc:sldMk cId="3359068603" sldId="449"/>
        </pc:sldMkLst>
        <pc:spChg chg="mod">
          <ac:chgData name="Elizabeth Allgar" userId="3f289184-9de6-4ddb-8aa3-0e56f37c2a8c" providerId="ADAL" clId="{797DCDEB-F2E7-55A6-BB30-B6CDE054984F}" dt="2025-11-30T20:05:48.651" v="145" actId="1076"/>
          <ac:spMkLst>
            <pc:docMk/>
            <pc:sldMk cId="3359068603" sldId="449"/>
            <ac:spMk id="3" creationId="{9BEF4978-C31D-6AA8-EC06-59CB92FC8031}"/>
          </ac:spMkLst>
        </pc:spChg>
        <pc:graphicFrameChg chg="add mod modGraphic">
          <ac:chgData name="Elizabeth Allgar" userId="3f289184-9de6-4ddb-8aa3-0e56f37c2a8c" providerId="ADAL" clId="{797DCDEB-F2E7-55A6-BB30-B6CDE054984F}" dt="2025-11-30T20:04:48.056" v="125" actId="1076"/>
          <ac:graphicFrameMkLst>
            <pc:docMk/>
            <pc:sldMk cId="3359068603" sldId="449"/>
            <ac:graphicFrameMk id="4" creationId="{A4310DCF-92C9-2AC1-8C82-CE46826045B7}"/>
          </ac:graphicFrameMkLst>
        </pc:graphicFrameChg>
      </pc:sldChg>
      <pc:sldChg chg="addSp delSp modSp mod modAnim">
        <pc:chgData name="Elizabeth Allgar" userId="3f289184-9de6-4ddb-8aa3-0e56f37c2a8c" providerId="ADAL" clId="{797DCDEB-F2E7-55A6-BB30-B6CDE054984F}" dt="2025-11-30T20:05:57.205" v="150" actId="1076"/>
        <pc:sldMkLst>
          <pc:docMk/>
          <pc:sldMk cId="753024467" sldId="450"/>
        </pc:sldMkLst>
        <pc:spChg chg="mod">
          <ac:chgData name="Elizabeth Allgar" userId="3f289184-9de6-4ddb-8aa3-0e56f37c2a8c" providerId="ADAL" clId="{797DCDEB-F2E7-55A6-BB30-B6CDE054984F}" dt="2025-11-30T20:05:57.205" v="150" actId="1076"/>
          <ac:spMkLst>
            <pc:docMk/>
            <pc:sldMk cId="753024467" sldId="450"/>
            <ac:spMk id="3" creationId="{98211A08-9947-8E4B-921B-E20FD8C1FCAD}"/>
          </ac:spMkLst>
        </pc:spChg>
        <pc:graphicFrameChg chg="add mod modGraphic">
          <ac:chgData name="Elizabeth Allgar" userId="3f289184-9de6-4ddb-8aa3-0e56f37c2a8c" providerId="ADAL" clId="{797DCDEB-F2E7-55A6-BB30-B6CDE054984F}" dt="2025-11-30T20:05:21.065" v="134" actId="12385"/>
          <ac:graphicFrameMkLst>
            <pc:docMk/>
            <pc:sldMk cId="753024467" sldId="450"/>
            <ac:graphicFrameMk id="6" creationId="{57A51EEB-475C-9143-17D8-EA4AF2BD06FE}"/>
          </ac:graphicFrameMkLst>
        </pc:graphicFrameChg>
      </pc:sldChg>
      <pc:sldChg chg="addSp delSp modSp mod modAnim">
        <pc:chgData name="Elizabeth Allgar" userId="3f289184-9de6-4ddb-8aa3-0e56f37c2a8c" providerId="ADAL" clId="{797DCDEB-F2E7-55A6-BB30-B6CDE054984F}" dt="2025-11-30T20:05:43.905" v="143" actId="1076"/>
        <pc:sldMkLst>
          <pc:docMk/>
          <pc:sldMk cId="1462981136" sldId="451"/>
        </pc:sldMkLst>
        <pc:spChg chg="mod">
          <ac:chgData name="Elizabeth Allgar" userId="3f289184-9de6-4ddb-8aa3-0e56f37c2a8c" providerId="ADAL" clId="{797DCDEB-F2E7-55A6-BB30-B6CDE054984F}" dt="2025-11-30T20:05:41.980" v="142" actId="27636"/>
          <ac:spMkLst>
            <pc:docMk/>
            <pc:sldMk cId="1462981136" sldId="451"/>
            <ac:spMk id="3" creationId="{D2E081A4-120F-3BE8-54B7-845988CC9FB3}"/>
          </ac:spMkLst>
        </pc:spChg>
        <pc:graphicFrameChg chg="add mod modGraphic">
          <ac:chgData name="Elizabeth Allgar" userId="3f289184-9de6-4ddb-8aa3-0e56f37c2a8c" providerId="ADAL" clId="{797DCDEB-F2E7-55A6-BB30-B6CDE054984F}" dt="2025-11-30T20:05:43.905" v="143" actId="1076"/>
          <ac:graphicFrameMkLst>
            <pc:docMk/>
            <pc:sldMk cId="1462981136" sldId="451"/>
            <ac:graphicFrameMk id="4" creationId="{847D41CE-D932-B34F-20B8-42F080E0A4F5}"/>
          </ac:graphicFrameMkLst>
        </pc:graphicFrameChg>
      </pc:sldChg>
      <pc:sldChg chg="addSp delSp modSp mod">
        <pc:chgData name="Elizabeth Allgar" userId="3f289184-9de6-4ddb-8aa3-0e56f37c2a8c" providerId="ADAL" clId="{797DCDEB-F2E7-55A6-BB30-B6CDE054984F}" dt="2025-11-30T20:15:29.271" v="201" actId="478"/>
        <pc:sldMkLst>
          <pc:docMk/>
          <pc:sldMk cId="264374898" sldId="452"/>
        </pc:sldMkLst>
        <pc:graphicFrameChg chg="add mod modGraphic">
          <ac:chgData name="Elizabeth Allgar" userId="3f289184-9de6-4ddb-8aa3-0e56f37c2a8c" providerId="ADAL" clId="{797DCDEB-F2E7-55A6-BB30-B6CDE054984F}" dt="2025-11-30T20:06:20.276" v="153" actId="12385"/>
          <ac:graphicFrameMkLst>
            <pc:docMk/>
            <pc:sldMk cId="264374898" sldId="452"/>
            <ac:graphicFrameMk id="4" creationId="{6637A0ED-6558-D43F-A2DF-9950CEE31A30}"/>
          </ac:graphicFrameMkLst>
        </pc:graphicFrameChg>
      </pc:sldChg>
      <pc:sldChg chg="addSp delSp modSp mod modAnim">
        <pc:chgData name="Elizabeth Allgar" userId="3f289184-9de6-4ddb-8aa3-0e56f37c2a8c" providerId="ADAL" clId="{797DCDEB-F2E7-55A6-BB30-B6CDE054984F}" dt="2025-11-30T20:15:34.745" v="203"/>
        <pc:sldMkLst>
          <pc:docMk/>
          <pc:sldMk cId="1413660517" sldId="454"/>
        </pc:sldMkLst>
        <pc:graphicFrameChg chg="add mod">
          <ac:chgData name="Elizabeth Allgar" userId="3f289184-9de6-4ddb-8aa3-0e56f37c2a8c" providerId="ADAL" clId="{797DCDEB-F2E7-55A6-BB30-B6CDE054984F}" dt="2025-11-30T19:51:46.427" v="32" actId="1076"/>
          <ac:graphicFrameMkLst>
            <pc:docMk/>
            <pc:sldMk cId="1413660517" sldId="454"/>
            <ac:graphicFrameMk id="6" creationId="{01C11819-E827-75F3-DCAC-B5C15B6364F9}"/>
          </ac:graphicFrameMkLst>
        </pc:graphicFrameChg>
      </pc:sldChg>
      <pc:sldChg chg="addSp delSp modSp mod modAnim">
        <pc:chgData name="Elizabeth Allgar" userId="3f289184-9de6-4ddb-8aa3-0e56f37c2a8c" providerId="ADAL" clId="{797DCDEB-F2E7-55A6-BB30-B6CDE054984F}" dt="2025-11-30T20:15:57.355" v="208" actId="478"/>
        <pc:sldMkLst>
          <pc:docMk/>
          <pc:sldMk cId="4233059950" sldId="455"/>
        </pc:sldMkLst>
        <pc:graphicFrameChg chg="add mod modGraphic">
          <ac:chgData name="Elizabeth Allgar" userId="3f289184-9de6-4ddb-8aa3-0e56f37c2a8c" providerId="ADAL" clId="{797DCDEB-F2E7-55A6-BB30-B6CDE054984F}" dt="2025-11-30T20:15:50.947" v="206" actId="255"/>
          <ac:graphicFrameMkLst>
            <pc:docMk/>
            <pc:sldMk cId="4233059950" sldId="455"/>
            <ac:graphicFrameMk id="6" creationId="{FA0F7F94-059F-E96A-A477-9AF3DFE59309}"/>
          </ac:graphicFrameMkLst>
        </pc:graphicFrameChg>
      </pc:sldChg>
      <pc:sldChg chg="addSp delSp modSp mod ord modAnim">
        <pc:chgData name="Elizabeth Allgar" userId="3f289184-9de6-4ddb-8aa3-0e56f37c2a8c" providerId="ADAL" clId="{797DCDEB-F2E7-55A6-BB30-B6CDE054984F}" dt="2025-11-30T20:17:30.989" v="241"/>
        <pc:sldMkLst>
          <pc:docMk/>
          <pc:sldMk cId="1649578698" sldId="458"/>
        </pc:sldMkLst>
        <pc:spChg chg="mod">
          <ac:chgData name="Elizabeth Allgar" userId="3f289184-9de6-4ddb-8aa3-0e56f37c2a8c" providerId="ADAL" clId="{797DCDEB-F2E7-55A6-BB30-B6CDE054984F}" dt="2025-11-30T20:08:53.338" v="163"/>
          <ac:spMkLst>
            <pc:docMk/>
            <pc:sldMk cId="1649578698" sldId="458"/>
            <ac:spMk id="3" creationId="{3EE6F423-B0E8-F0B2-FE05-47607308CCDE}"/>
          </ac:spMkLst>
        </pc:spChg>
        <pc:spChg chg="add mod">
          <ac:chgData name="Elizabeth Allgar" userId="3f289184-9de6-4ddb-8aa3-0e56f37c2a8c" providerId="ADAL" clId="{797DCDEB-F2E7-55A6-BB30-B6CDE054984F}" dt="2025-11-30T20:17:27.311" v="240" actId="1076"/>
          <ac:spMkLst>
            <pc:docMk/>
            <pc:sldMk cId="1649578698" sldId="458"/>
            <ac:spMk id="6" creationId="{8C9263BE-11BD-3310-784B-3B5B813BBA03}"/>
          </ac:spMkLst>
        </pc:spChg>
      </pc:sldChg>
      <pc:sldChg chg="modSp add del mod modAnim">
        <pc:chgData name="Elizabeth Allgar" userId="3f289184-9de6-4ddb-8aa3-0e56f37c2a8c" providerId="ADAL" clId="{797DCDEB-F2E7-55A6-BB30-B6CDE054984F}" dt="2025-11-30T20:12:26.206" v="188" actId="255"/>
        <pc:sldMkLst>
          <pc:docMk/>
          <pc:sldMk cId="2168218576" sldId="459"/>
        </pc:sldMkLst>
        <pc:graphicFrameChg chg="modGraphic">
          <ac:chgData name="Elizabeth Allgar" userId="3f289184-9de6-4ddb-8aa3-0e56f37c2a8c" providerId="ADAL" clId="{797DCDEB-F2E7-55A6-BB30-B6CDE054984F}" dt="2025-11-30T20:12:26.206" v="188" actId="255"/>
          <ac:graphicFrameMkLst>
            <pc:docMk/>
            <pc:sldMk cId="2168218576" sldId="459"/>
            <ac:graphicFrameMk id="4" creationId="{693835C0-969D-11EB-E564-9FC8DB520D4F}"/>
          </ac:graphicFrameMkLst>
        </pc:graphicFrameChg>
      </pc:sldChg>
      <pc:sldChg chg="modSp add mod modAnim">
        <pc:chgData name="Elizabeth Allgar" userId="3f289184-9de6-4ddb-8aa3-0e56f37c2a8c" providerId="ADAL" clId="{797DCDEB-F2E7-55A6-BB30-B6CDE054984F}" dt="2025-11-30T20:12:14.448" v="185"/>
        <pc:sldMkLst>
          <pc:docMk/>
          <pc:sldMk cId="3936823080" sldId="460"/>
        </pc:sldMkLst>
        <pc:spChg chg="mod">
          <ac:chgData name="Elizabeth Allgar" userId="3f289184-9de6-4ddb-8aa3-0e56f37c2a8c" providerId="ADAL" clId="{797DCDEB-F2E7-55A6-BB30-B6CDE054984F}" dt="2025-11-30T20:12:05.878" v="183" actId="2711"/>
          <ac:spMkLst>
            <pc:docMk/>
            <pc:sldMk cId="3936823080" sldId="460"/>
            <ac:spMk id="7" creationId="{BD79E7CA-BE6E-62DF-9E22-55FFBD5343F2}"/>
          </ac:spMkLst>
        </pc:spChg>
        <pc:spChg chg="mod">
          <ac:chgData name="Elizabeth Allgar" userId="3f289184-9de6-4ddb-8aa3-0e56f37c2a8c" providerId="ADAL" clId="{797DCDEB-F2E7-55A6-BB30-B6CDE054984F}" dt="2025-11-30T20:12:00.954" v="182" actId="255"/>
          <ac:spMkLst>
            <pc:docMk/>
            <pc:sldMk cId="3936823080" sldId="460"/>
            <ac:spMk id="9" creationId="{C2DC120F-00B7-FE1D-E723-88D7FF561405}"/>
          </ac:spMkLst>
        </pc:spChg>
      </pc:sldChg>
      <pc:sldChg chg="addSp delSp modSp mod modAnim">
        <pc:chgData name="Elizabeth Allgar" userId="3f289184-9de6-4ddb-8aa3-0e56f37c2a8c" providerId="ADAL" clId="{797DCDEB-F2E7-55A6-BB30-B6CDE054984F}" dt="2025-11-30T20:15:55.305" v="207" actId="478"/>
        <pc:sldMkLst>
          <pc:docMk/>
          <pc:sldMk cId="4005492502" sldId="461"/>
        </pc:sldMkLst>
        <pc:spChg chg="add mod">
          <ac:chgData name="Elizabeth Allgar" userId="3f289184-9de6-4ddb-8aa3-0e56f37c2a8c" providerId="ADAL" clId="{797DCDEB-F2E7-55A6-BB30-B6CDE054984F}" dt="2025-11-30T19:56:17.196" v="80" actId="1076"/>
          <ac:spMkLst>
            <pc:docMk/>
            <pc:sldMk cId="4005492502" sldId="461"/>
            <ac:spMk id="5" creationId="{15837A7D-A297-1143-3D21-27D2C1B047DE}"/>
          </ac:spMkLst>
        </pc:spChg>
      </pc:sldChg>
      <pc:sldChg chg="addSp delSp modSp mod modAnim">
        <pc:chgData name="Elizabeth Allgar" userId="3f289184-9de6-4ddb-8aa3-0e56f37c2a8c" providerId="ADAL" clId="{797DCDEB-F2E7-55A6-BB30-B6CDE054984F}" dt="2025-11-30T20:16:02.884" v="209" actId="478"/>
        <pc:sldMkLst>
          <pc:docMk/>
          <pc:sldMk cId="1742368898" sldId="462"/>
        </pc:sldMkLst>
        <pc:spChg chg="mod">
          <ac:chgData name="Elizabeth Allgar" userId="3f289184-9de6-4ddb-8aa3-0e56f37c2a8c" providerId="ADAL" clId="{797DCDEB-F2E7-55A6-BB30-B6CDE054984F}" dt="2025-11-30T19:57:02.015" v="85" actId="27636"/>
          <ac:spMkLst>
            <pc:docMk/>
            <pc:sldMk cId="1742368898" sldId="462"/>
            <ac:spMk id="3" creationId="{7B8F28A6-C1E1-68C0-EC15-3FE921FD7F97}"/>
          </ac:spMkLst>
        </pc:spChg>
        <pc:graphicFrameChg chg="add mod modGraphic">
          <ac:chgData name="Elizabeth Allgar" userId="3f289184-9de6-4ddb-8aa3-0e56f37c2a8c" providerId="ADAL" clId="{797DCDEB-F2E7-55A6-BB30-B6CDE054984F}" dt="2025-11-30T20:14:47.497" v="197" actId="12385"/>
          <ac:graphicFrameMkLst>
            <pc:docMk/>
            <pc:sldMk cId="1742368898" sldId="462"/>
            <ac:graphicFrameMk id="4" creationId="{C814840E-2CB0-DC11-269F-717288C34270}"/>
          </ac:graphicFrameMkLst>
        </pc:graphicFrameChg>
      </pc:sldChg>
      <pc:sldChg chg="addSp delSp modSp mod ord">
        <pc:chgData name="Elizabeth Allgar" userId="3f289184-9de6-4ddb-8aa3-0e56f37c2a8c" providerId="ADAL" clId="{797DCDEB-F2E7-55A6-BB30-B6CDE054984F}" dt="2025-11-30T20:09:01.380" v="165" actId="21"/>
        <pc:sldMkLst>
          <pc:docMk/>
          <pc:sldMk cId="1524998481" sldId="463"/>
        </pc:sldMkLst>
      </pc:sldChg>
      <pc:sldChg chg="addSp delSp modSp mod modAnim">
        <pc:chgData name="Elizabeth Allgar" userId="3f289184-9de6-4ddb-8aa3-0e56f37c2a8c" providerId="ADAL" clId="{797DCDEB-F2E7-55A6-BB30-B6CDE054984F}" dt="2025-11-30T20:17:20.356" v="238"/>
        <pc:sldMkLst>
          <pc:docMk/>
          <pc:sldMk cId="3594162931" sldId="464"/>
        </pc:sldMkLst>
        <pc:spChg chg="mod">
          <ac:chgData name="Elizabeth Allgar" userId="3f289184-9de6-4ddb-8aa3-0e56f37c2a8c" providerId="ADAL" clId="{797DCDEB-F2E7-55A6-BB30-B6CDE054984F}" dt="2025-11-30T20:17:05.416" v="232" actId="14100"/>
          <ac:spMkLst>
            <pc:docMk/>
            <pc:sldMk cId="3594162931" sldId="464"/>
            <ac:spMk id="3" creationId="{C31091B0-4D3E-D425-70F9-7A112A9039C0}"/>
          </ac:spMkLst>
        </pc:spChg>
        <pc:graphicFrameChg chg="add mod modGraphic">
          <ac:chgData name="Elizabeth Allgar" userId="3f289184-9de6-4ddb-8aa3-0e56f37c2a8c" providerId="ADAL" clId="{797DCDEB-F2E7-55A6-BB30-B6CDE054984F}" dt="2025-11-30T20:17:17.210" v="237" actId="1076"/>
          <ac:graphicFrameMkLst>
            <pc:docMk/>
            <pc:sldMk cId="3594162931" sldId="464"/>
            <ac:graphicFrameMk id="4" creationId="{D84CF2C5-83E1-4609-D701-B3047050CC72}"/>
          </ac:graphicFrameMkLst>
        </pc:graphicFrameChg>
      </pc:sldChg>
      <pc:sldChg chg="addSp delSp modSp new mod">
        <pc:chgData name="Elizabeth Allgar" userId="3f289184-9de6-4ddb-8aa3-0e56f37c2a8c" providerId="ADAL" clId="{797DCDEB-F2E7-55A6-BB30-B6CDE054984F}" dt="2025-11-30T20:09:27.443" v="176" actId="1076"/>
        <pc:sldMkLst>
          <pc:docMk/>
          <pc:sldMk cId="3677858519" sldId="466"/>
        </pc:sldMkLst>
        <pc:spChg chg="add mod">
          <ac:chgData name="Elizabeth Allgar" userId="3f289184-9de6-4ddb-8aa3-0e56f37c2a8c" providerId="ADAL" clId="{797DCDEB-F2E7-55A6-BB30-B6CDE054984F}" dt="2025-11-30T20:09:27.443" v="176" actId="1076"/>
          <ac:spMkLst>
            <pc:docMk/>
            <pc:sldMk cId="3677858519" sldId="466"/>
            <ac:spMk id="4" creationId="{547B8B11-27E4-2488-9C4E-4905113D582E}"/>
          </ac:spMkLst>
        </pc:spChg>
      </pc:sldChg>
    </pc:docChg>
  </pc:docChgLst>
  <pc:docChgLst>
    <pc:chgData name="E. Allgar" userId="3f289184-9de6-4ddb-8aa3-0e56f37c2a8c" providerId="ADAL" clId="{797DCDEB-F2E7-55A6-BB30-B6CDE054984F}"/>
    <pc:docChg chg="custSel addSld delSld modSld">
      <pc:chgData name="E. Allgar" userId="3f289184-9de6-4ddb-8aa3-0e56f37c2a8c" providerId="ADAL" clId="{797DCDEB-F2E7-55A6-BB30-B6CDE054984F}" dt="2025-12-02T14:45:48.913" v="263" actId="2696"/>
      <pc:docMkLst>
        <pc:docMk/>
      </pc:docMkLst>
      <pc:sldChg chg="del">
        <pc:chgData name="E. Allgar" userId="3f289184-9de6-4ddb-8aa3-0e56f37c2a8c" providerId="ADAL" clId="{797DCDEB-F2E7-55A6-BB30-B6CDE054984F}" dt="2025-12-02T14:44:51.702" v="244" actId="2696"/>
        <pc:sldMkLst>
          <pc:docMk/>
          <pc:sldMk cId="781836936" sldId="310"/>
        </pc:sldMkLst>
      </pc:sldChg>
      <pc:sldChg chg="add del">
        <pc:chgData name="E. Allgar" userId="3f289184-9de6-4ddb-8aa3-0e56f37c2a8c" providerId="ADAL" clId="{797DCDEB-F2E7-55A6-BB30-B6CDE054984F}" dt="2025-12-02T14:45:16.933" v="245" actId="2696"/>
        <pc:sldMkLst>
          <pc:docMk/>
          <pc:sldMk cId="1737313947" sldId="316"/>
        </pc:sldMkLst>
      </pc:sldChg>
      <pc:sldChg chg="add del">
        <pc:chgData name="E. Allgar" userId="3f289184-9de6-4ddb-8aa3-0e56f37c2a8c" providerId="ADAL" clId="{797DCDEB-F2E7-55A6-BB30-B6CDE054984F}" dt="2025-12-02T14:45:23.152" v="246" actId="2696"/>
        <pc:sldMkLst>
          <pc:docMk/>
          <pc:sldMk cId="1102037738" sldId="353"/>
        </pc:sldMkLst>
      </pc:sldChg>
      <pc:sldChg chg="add del">
        <pc:chgData name="E. Allgar" userId="3f289184-9de6-4ddb-8aa3-0e56f37c2a8c" providerId="ADAL" clId="{797DCDEB-F2E7-55A6-BB30-B6CDE054984F}" dt="2025-12-02T14:45:24.817" v="247" actId="2696"/>
        <pc:sldMkLst>
          <pc:docMk/>
          <pc:sldMk cId="920366904" sldId="397"/>
        </pc:sldMkLst>
      </pc:sldChg>
      <pc:sldChg chg="add">
        <pc:chgData name="E. Allgar" userId="3f289184-9de6-4ddb-8aa3-0e56f37c2a8c" providerId="ADAL" clId="{797DCDEB-F2E7-55A6-BB30-B6CDE054984F}" dt="2025-11-30T19:08:31.973" v="9"/>
        <pc:sldMkLst>
          <pc:docMk/>
          <pc:sldMk cId="1200202913" sldId="398"/>
        </pc:sldMkLst>
      </pc:sldChg>
      <pc:sldChg chg="add">
        <pc:chgData name="E. Allgar" userId="3f289184-9de6-4ddb-8aa3-0e56f37c2a8c" providerId="ADAL" clId="{797DCDEB-F2E7-55A6-BB30-B6CDE054984F}" dt="2025-11-30T19:05:39.101" v="2"/>
        <pc:sldMkLst>
          <pc:docMk/>
          <pc:sldMk cId="4099969896" sldId="399"/>
        </pc:sldMkLst>
      </pc:sldChg>
      <pc:sldChg chg="add">
        <pc:chgData name="E. Allgar" userId="3f289184-9de6-4ddb-8aa3-0e56f37c2a8c" providerId="ADAL" clId="{797DCDEB-F2E7-55A6-BB30-B6CDE054984F}" dt="2025-11-30T19:05:39.101" v="2"/>
        <pc:sldMkLst>
          <pc:docMk/>
          <pc:sldMk cId="399505696" sldId="400"/>
        </pc:sldMkLst>
      </pc:sldChg>
      <pc:sldChg chg="add">
        <pc:chgData name="E. Allgar" userId="3f289184-9de6-4ddb-8aa3-0e56f37c2a8c" providerId="ADAL" clId="{797DCDEB-F2E7-55A6-BB30-B6CDE054984F}" dt="2025-11-30T19:05:39.101" v="2"/>
        <pc:sldMkLst>
          <pc:docMk/>
          <pc:sldMk cId="2664380101" sldId="401"/>
        </pc:sldMkLst>
      </pc:sldChg>
      <pc:sldChg chg="add">
        <pc:chgData name="E. Allgar" userId="3f289184-9de6-4ddb-8aa3-0e56f37c2a8c" providerId="ADAL" clId="{797DCDEB-F2E7-55A6-BB30-B6CDE054984F}" dt="2025-11-30T19:05:39.101" v="2"/>
        <pc:sldMkLst>
          <pc:docMk/>
          <pc:sldMk cId="2939964735" sldId="402"/>
        </pc:sldMkLst>
      </pc:sldChg>
      <pc:sldChg chg="add">
        <pc:chgData name="E. Allgar" userId="3f289184-9de6-4ddb-8aa3-0e56f37c2a8c" providerId="ADAL" clId="{797DCDEB-F2E7-55A6-BB30-B6CDE054984F}" dt="2025-11-30T19:05:39.101" v="2"/>
        <pc:sldMkLst>
          <pc:docMk/>
          <pc:sldMk cId="2774738907" sldId="403"/>
        </pc:sldMkLst>
      </pc:sldChg>
      <pc:sldChg chg="modSp">
        <pc:chgData name="E. Allgar" userId="3f289184-9de6-4ddb-8aa3-0e56f37c2a8c" providerId="ADAL" clId="{797DCDEB-F2E7-55A6-BB30-B6CDE054984F}" dt="2025-11-30T19:07:34.081" v="7" actId="1076"/>
        <pc:sldMkLst>
          <pc:docMk/>
          <pc:sldMk cId="3945461068" sldId="417"/>
        </pc:sldMkLst>
        <pc:picChg chg="mod">
          <ac:chgData name="E. Allgar" userId="3f289184-9de6-4ddb-8aa3-0e56f37c2a8c" providerId="ADAL" clId="{797DCDEB-F2E7-55A6-BB30-B6CDE054984F}" dt="2025-11-30T19:07:33.123" v="6" actId="1076"/>
          <ac:picMkLst>
            <pc:docMk/>
            <pc:sldMk cId="3945461068" sldId="417"/>
            <ac:picMk id="12290" creationId="{CF8170C3-1DE5-65B0-56AB-92D1E8F0E084}"/>
          </ac:picMkLst>
        </pc:picChg>
        <pc:picChg chg="mod">
          <ac:chgData name="E. Allgar" userId="3f289184-9de6-4ddb-8aa3-0e56f37c2a8c" providerId="ADAL" clId="{797DCDEB-F2E7-55A6-BB30-B6CDE054984F}" dt="2025-11-30T19:07:34.081" v="7" actId="1076"/>
          <ac:picMkLst>
            <pc:docMk/>
            <pc:sldMk cId="3945461068" sldId="417"/>
            <ac:picMk id="12292" creationId="{8ABC3312-C852-B038-134B-3C761D6AD15B}"/>
          </ac:picMkLst>
        </pc:picChg>
      </pc:sldChg>
      <pc:sldChg chg="add">
        <pc:chgData name="E. Allgar" userId="3f289184-9de6-4ddb-8aa3-0e56f37c2a8c" providerId="ADAL" clId="{797DCDEB-F2E7-55A6-BB30-B6CDE054984F}" dt="2025-11-30T19:08:31.973" v="9"/>
        <pc:sldMkLst>
          <pc:docMk/>
          <pc:sldMk cId="92245490" sldId="420"/>
        </pc:sldMkLst>
      </pc:sldChg>
      <pc:sldChg chg="add">
        <pc:chgData name="E. Allgar" userId="3f289184-9de6-4ddb-8aa3-0e56f37c2a8c" providerId="ADAL" clId="{797DCDEB-F2E7-55A6-BB30-B6CDE054984F}" dt="2025-11-30T19:08:31.973" v="9"/>
        <pc:sldMkLst>
          <pc:docMk/>
          <pc:sldMk cId="1571367763" sldId="421"/>
        </pc:sldMkLst>
      </pc:sldChg>
      <pc:sldChg chg="add">
        <pc:chgData name="E. Allgar" userId="3f289184-9de6-4ddb-8aa3-0e56f37c2a8c" providerId="ADAL" clId="{797DCDEB-F2E7-55A6-BB30-B6CDE054984F}" dt="2025-11-30T19:08:31.973" v="9"/>
        <pc:sldMkLst>
          <pc:docMk/>
          <pc:sldMk cId="2528316552" sldId="422"/>
        </pc:sldMkLst>
      </pc:sldChg>
      <pc:sldChg chg="add">
        <pc:chgData name="E. Allgar" userId="3f289184-9de6-4ddb-8aa3-0e56f37c2a8c" providerId="ADAL" clId="{797DCDEB-F2E7-55A6-BB30-B6CDE054984F}" dt="2025-11-30T19:08:31.973" v="9"/>
        <pc:sldMkLst>
          <pc:docMk/>
          <pc:sldMk cId="235898065" sldId="423"/>
        </pc:sldMkLst>
      </pc:sldChg>
      <pc:sldChg chg="add">
        <pc:chgData name="E. Allgar" userId="3f289184-9de6-4ddb-8aa3-0e56f37c2a8c" providerId="ADAL" clId="{797DCDEB-F2E7-55A6-BB30-B6CDE054984F}" dt="2025-11-30T19:08:31.973" v="9"/>
        <pc:sldMkLst>
          <pc:docMk/>
          <pc:sldMk cId="440488782" sldId="424"/>
        </pc:sldMkLst>
      </pc:sldChg>
      <pc:sldChg chg="add">
        <pc:chgData name="E. Allgar" userId="3f289184-9de6-4ddb-8aa3-0e56f37c2a8c" providerId="ADAL" clId="{797DCDEB-F2E7-55A6-BB30-B6CDE054984F}" dt="2025-11-30T18:55:25.216" v="0"/>
        <pc:sldMkLst>
          <pc:docMk/>
          <pc:sldMk cId="1576000378" sldId="439"/>
        </pc:sldMkLst>
      </pc:sldChg>
      <pc:sldChg chg="modSp new del mod">
        <pc:chgData name="E. Allgar" userId="3f289184-9de6-4ddb-8aa3-0e56f37c2a8c" providerId="ADAL" clId="{797DCDEB-F2E7-55A6-BB30-B6CDE054984F}" dt="2025-12-02T14:45:37.137" v="248" actId="2696"/>
        <pc:sldMkLst>
          <pc:docMk/>
          <pc:sldMk cId="985620979" sldId="445"/>
        </pc:sldMkLst>
        <pc:spChg chg="mod">
          <ac:chgData name="E. Allgar" userId="3f289184-9de6-4ddb-8aa3-0e56f37c2a8c" providerId="ADAL" clId="{797DCDEB-F2E7-55A6-BB30-B6CDE054984F}" dt="2025-11-30T19:18:15.717" v="104" actId="12"/>
          <ac:spMkLst>
            <pc:docMk/>
            <pc:sldMk cId="985620979" sldId="445"/>
            <ac:spMk id="3" creationId="{F15A6B9D-4DEC-A8FD-6547-0D266F7E71D0}"/>
          </ac:spMkLst>
        </pc:spChg>
      </pc:sldChg>
      <pc:sldChg chg="modSp new del mod">
        <pc:chgData name="E. Allgar" userId="3f289184-9de6-4ddb-8aa3-0e56f37c2a8c" providerId="ADAL" clId="{797DCDEB-F2E7-55A6-BB30-B6CDE054984F}" dt="2025-12-02T14:45:39.992" v="251" actId="2696"/>
        <pc:sldMkLst>
          <pc:docMk/>
          <pc:sldMk cId="2618663582" sldId="448"/>
        </pc:sldMkLst>
        <pc:spChg chg="mod">
          <ac:chgData name="E. Allgar" userId="3f289184-9de6-4ddb-8aa3-0e56f37c2a8c" providerId="ADAL" clId="{797DCDEB-F2E7-55A6-BB30-B6CDE054984F}" dt="2025-11-30T19:19:54.044" v="126" actId="12"/>
          <ac:spMkLst>
            <pc:docMk/>
            <pc:sldMk cId="2618663582" sldId="448"/>
            <ac:spMk id="3" creationId="{C610E942-1C1A-6A98-98C3-1D4DDC75C93D}"/>
          </ac:spMkLst>
        </pc:spChg>
      </pc:sldChg>
      <pc:sldChg chg="modSp new del mod">
        <pc:chgData name="E. Allgar" userId="3f289184-9de6-4ddb-8aa3-0e56f37c2a8c" providerId="ADAL" clId="{797DCDEB-F2E7-55A6-BB30-B6CDE054984F}" dt="2025-12-02T14:45:40.546" v="252" actId="2696"/>
        <pc:sldMkLst>
          <pc:docMk/>
          <pc:sldMk cId="3359068603" sldId="449"/>
        </pc:sldMkLst>
        <pc:spChg chg="mod">
          <ac:chgData name="E. Allgar" userId="3f289184-9de6-4ddb-8aa3-0e56f37c2a8c" providerId="ADAL" clId="{797DCDEB-F2E7-55A6-BB30-B6CDE054984F}" dt="2025-11-30T19:20:46.643" v="131" actId="12"/>
          <ac:spMkLst>
            <pc:docMk/>
            <pc:sldMk cId="3359068603" sldId="449"/>
            <ac:spMk id="3" creationId="{9BEF4978-C31D-6AA8-EC06-59CB92FC8031}"/>
          </ac:spMkLst>
        </pc:spChg>
      </pc:sldChg>
      <pc:sldChg chg="modSp new del mod">
        <pc:chgData name="E. Allgar" userId="3f289184-9de6-4ddb-8aa3-0e56f37c2a8c" providerId="ADAL" clId="{797DCDEB-F2E7-55A6-BB30-B6CDE054984F}" dt="2025-12-02T14:45:41.398" v="253" actId="2696"/>
        <pc:sldMkLst>
          <pc:docMk/>
          <pc:sldMk cId="753024467" sldId="450"/>
        </pc:sldMkLst>
        <pc:spChg chg="mod">
          <ac:chgData name="E. Allgar" userId="3f289184-9de6-4ddb-8aa3-0e56f37c2a8c" providerId="ADAL" clId="{797DCDEB-F2E7-55A6-BB30-B6CDE054984F}" dt="2025-11-30T19:22:02.358" v="156" actId="27636"/>
          <ac:spMkLst>
            <pc:docMk/>
            <pc:sldMk cId="753024467" sldId="450"/>
            <ac:spMk id="3" creationId="{98211A08-9947-8E4B-921B-E20FD8C1FCAD}"/>
          </ac:spMkLst>
        </pc:spChg>
      </pc:sldChg>
      <pc:sldChg chg="modSp new del mod">
        <pc:chgData name="E. Allgar" userId="3f289184-9de6-4ddb-8aa3-0e56f37c2a8c" providerId="ADAL" clId="{797DCDEB-F2E7-55A6-BB30-B6CDE054984F}" dt="2025-12-02T14:45:41.867" v="254" actId="2696"/>
        <pc:sldMkLst>
          <pc:docMk/>
          <pc:sldMk cId="1462981136" sldId="451"/>
        </pc:sldMkLst>
        <pc:spChg chg="mod">
          <ac:chgData name="E. Allgar" userId="3f289184-9de6-4ddb-8aa3-0e56f37c2a8c" providerId="ADAL" clId="{797DCDEB-F2E7-55A6-BB30-B6CDE054984F}" dt="2025-11-30T19:22:30.944" v="161" actId="12"/>
          <ac:spMkLst>
            <pc:docMk/>
            <pc:sldMk cId="1462981136" sldId="451"/>
            <ac:spMk id="3" creationId="{D2E081A4-120F-3BE8-54B7-845988CC9FB3}"/>
          </ac:spMkLst>
        </pc:spChg>
      </pc:sldChg>
      <pc:sldChg chg="modSp new del mod">
        <pc:chgData name="E. Allgar" userId="3f289184-9de6-4ddb-8aa3-0e56f37c2a8c" providerId="ADAL" clId="{797DCDEB-F2E7-55A6-BB30-B6CDE054984F}" dt="2025-12-02T14:45:42.388" v="255" actId="2696"/>
        <pc:sldMkLst>
          <pc:docMk/>
          <pc:sldMk cId="264374898" sldId="452"/>
        </pc:sldMkLst>
        <pc:spChg chg="mod">
          <ac:chgData name="E. Allgar" userId="3f289184-9de6-4ddb-8aa3-0e56f37c2a8c" providerId="ADAL" clId="{797DCDEB-F2E7-55A6-BB30-B6CDE054984F}" dt="2025-11-30T19:23:05.914" v="166" actId="5793"/>
          <ac:spMkLst>
            <pc:docMk/>
            <pc:sldMk cId="264374898" sldId="452"/>
            <ac:spMk id="3" creationId="{29DFD17B-1651-3BDC-BAEE-B5C489EB1C91}"/>
          </ac:spMkLst>
        </pc:spChg>
      </pc:sldChg>
      <pc:sldChg chg="addSp modSp new del mod">
        <pc:chgData name="E. Allgar" userId="3f289184-9de6-4ddb-8aa3-0e56f37c2a8c" providerId="ADAL" clId="{797DCDEB-F2E7-55A6-BB30-B6CDE054984F}" dt="2025-12-02T14:45:43.292" v="256" actId="2696"/>
        <pc:sldMkLst>
          <pc:docMk/>
          <pc:sldMk cId="1413660517" sldId="454"/>
        </pc:sldMkLst>
        <pc:spChg chg="mod">
          <ac:chgData name="E. Allgar" userId="3f289184-9de6-4ddb-8aa3-0e56f37c2a8c" providerId="ADAL" clId="{797DCDEB-F2E7-55A6-BB30-B6CDE054984F}" dt="2025-11-30T19:24:21.183" v="174"/>
          <ac:spMkLst>
            <pc:docMk/>
            <pc:sldMk cId="1413660517" sldId="454"/>
            <ac:spMk id="3" creationId="{1C9CB1DC-AAE6-CC79-0EF4-FD9DD9412311}"/>
          </ac:spMkLst>
        </pc:spChg>
        <pc:graphicFrameChg chg="add mod">
          <ac:chgData name="E. Allgar" userId="3f289184-9de6-4ddb-8aa3-0e56f37c2a8c" providerId="ADAL" clId="{797DCDEB-F2E7-55A6-BB30-B6CDE054984F}" dt="2025-11-30T19:24:27.528" v="175"/>
          <ac:graphicFrameMkLst>
            <pc:docMk/>
            <pc:sldMk cId="1413660517" sldId="454"/>
            <ac:graphicFrameMk id="4" creationId="{C79BFDE2-B713-B20A-C43C-5D3B8B60D147}"/>
          </ac:graphicFrameMkLst>
        </pc:graphicFrameChg>
      </pc:sldChg>
      <pc:sldChg chg="modSp new del mod">
        <pc:chgData name="E. Allgar" userId="3f289184-9de6-4ddb-8aa3-0e56f37c2a8c" providerId="ADAL" clId="{797DCDEB-F2E7-55A6-BB30-B6CDE054984F}" dt="2025-12-02T14:45:43.777" v="257" actId="2696"/>
        <pc:sldMkLst>
          <pc:docMk/>
          <pc:sldMk cId="4233059950" sldId="455"/>
        </pc:sldMkLst>
        <pc:spChg chg="mod">
          <ac:chgData name="E. Allgar" userId="3f289184-9de6-4ddb-8aa3-0e56f37c2a8c" providerId="ADAL" clId="{797DCDEB-F2E7-55A6-BB30-B6CDE054984F}" dt="2025-11-30T19:25:11.829" v="183" actId="5793"/>
          <ac:spMkLst>
            <pc:docMk/>
            <pc:sldMk cId="4233059950" sldId="455"/>
            <ac:spMk id="3" creationId="{7228776B-566D-51A4-4895-2960B8177FAC}"/>
          </ac:spMkLst>
        </pc:spChg>
      </pc:sldChg>
      <pc:sldChg chg="addSp modSp new del mod">
        <pc:chgData name="E. Allgar" userId="3f289184-9de6-4ddb-8aa3-0e56f37c2a8c" providerId="ADAL" clId="{797DCDEB-F2E7-55A6-BB30-B6CDE054984F}" dt="2025-12-02T14:45:47.440" v="261" actId="2696"/>
        <pc:sldMkLst>
          <pc:docMk/>
          <pc:sldMk cId="1649578698" sldId="458"/>
        </pc:sldMkLst>
        <pc:spChg chg="mod">
          <ac:chgData name="E. Allgar" userId="3f289184-9de6-4ddb-8aa3-0e56f37c2a8c" providerId="ADAL" clId="{797DCDEB-F2E7-55A6-BB30-B6CDE054984F}" dt="2025-11-30T19:27:13.945" v="198"/>
          <ac:spMkLst>
            <pc:docMk/>
            <pc:sldMk cId="1649578698" sldId="458"/>
            <ac:spMk id="3" creationId="{3EE6F423-B0E8-F0B2-FE05-47607308CCDE}"/>
          </ac:spMkLst>
        </pc:spChg>
      </pc:sldChg>
      <pc:sldChg chg="del">
        <pc:chgData name="E. Allgar" userId="3f289184-9de6-4ddb-8aa3-0e56f37c2a8c" providerId="ADAL" clId="{797DCDEB-F2E7-55A6-BB30-B6CDE054984F}" dt="2025-12-02T14:45:38.231" v="249" actId="2696"/>
        <pc:sldMkLst>
          <pc:docMk/>
          <pc:sldMk cId="2168218576" sldId="459"/>
        </pc:sldMkLst>
      </pc:sldChg>
      <pc:sldChg chg="del">
        <pc:chgData name="E. Allgar" userId="3f289184-9de6-4ddb-8aa3-0e56f37c2a8c" providerId="ADAL" clId="{797DCDEB-F2E7-55A6-BB30-B6CDE054984F}" dt="2025-12-02T14:45:39.316" v="250" actId="2696"/>
        <pc:sldMkLst>
          <pc:docMk/>
          <pc:sldMk cId="3936823080" sldId="460"/>
        </pc:sldMkLst>
      </pc:sldChg>
      <pc:sldChg chg="modSp new del mod">
        <pc:chgData name="E. Allgar" userId="3f289184-9de6-4ddb-8aa3-0e56f37c2a8c" providerId="ADAL" clId="{797DCDEB-F2E7-55A6-BB30-B6CDE054984F}" dt="2025-12-02T14:45:44.489" v="258" actId="2696"/>
        <pc:sldMkLst>
          <pc:docMk/>
          <pc:sldMk cId="4005492502" sldId="461"/>
        </pc:sldMkLst>
        <pc:spChg chg="mod">
          <ac:chgData name="E. Allgar" userId="3f289184-9de6-4ddb-8aa3-0e56f37c2a8c" providerId="ADAL" clId="{797DCDEB-F2E7-55A6-BB30-B6CDE054984F}" dt="2025-11-30T19:31:10.855" v="223" actId="12"/>
          <ac:spMkLst>
            <pc:docMk/>
            <pc:sldMk cId="4005492502" sldId="461"/>
            <ac:spMk id="3" creationId="{C659E5FE-2C08-DA59-0902-5B2C1E91A882}"/>
          </ac:spMkLst>
        </pc:spChg>
      </pc:sldChg>
      <pc:sldChg chg="modSp new del mod">
        <pc:chgData name="E. Allgar" userId="3f289184-9de6-4ddb-8aa3-0e56f37c2a8c" providerId="ADAL" clId="{797DCDEB-F2E7-55A6-BB30-B6CDE054984F}" dt="2025-12-02T14:45:45.048" v="259" actId="2696"/>
        <pc:sldMkLst>
          <pc:docMk/>
          <pc:sldMk cId="1742368898" sldId="462"/>
        </pc:sldMkLst>
        <pc:spChg chg="mod">
          <ac:chgData name="E. Allgar" userId="3f289184-9de6-4ddb-8aa3-0e56f37c2a8c" providerId="ADAL" clId="{797DCDEB-F2E7-55A6-BB30-B6CDE054984F}" dt="2025-11-30T19:31:40.712" v="228" actId="12"/>
          <ac:spMkLst>
            <pc:docMk/>
            <pc:sldMk cId="1742368898" sldId="462"/>
            <ac:spMk id="3" creationId="{7B8F28A6-C1E1-68C0-EC15-3FE921FD7F97}"/>
          </ac:spMkLst>
        </pc:spChg>
      </pc:sldChg>
      <pc:sldChg chg="modSp new del mod">
        <pc:chgData name="E. Allgar" userId="3f289184-9de6-4ddb-8aa3-0e56f37c2a8c" providerId="ADAL" clId="{797DCDEB-F2E7-55A6-BB30-B6CDE054984F}" dt="2025-12-02T14:45:48.176" v="262" actId="2696"/>
        <pc:sldMkLst>
          <pc:docMk/>
          <pc:sldMk cId="1524998481" sldId="463"/>
        </pc:sldMkLst>
        <pc:spChg chg="mod">
          <ac:chgData name="E. Allgar" userId="3f289184-9de6-4ddb-8aa3-0e56f37c2a8c" providerId="ADAL" clId="{797DCDEB-F2E7-55A6-BB30-B6CDE054984F}" dt="2025-11-30T19:31:57.113" v="236" actId="20577"/>
          <ac:spMkLst>
            <pc:docMk/>
            <pc:sldMk cId="1524998481" sldId="463"/>
            <ac:spMk id="3" creationId="{BDBA7B33-6EA1-CD32-E782-21A6244D3C31}"/>
          </ac:spMkLst>
        </pc:spChg>
      </pc:sldChg>
      <pc:sldChg chg="modSp new del mod">
        <pc:chgData name="E. Allgar" userId="3f289184-9de6-4ddb-8aa3-0e56f37c2a8c" providerId="ADAL" clId="{797DCDEB-F2E7-55A6-BB30-B6CDE054984F}" dt="2025-12-02T14:45:47.003" v="260" actId="2696"/>
        <pc:sldMkLst>
          <pc:docMk/>
          <pc:sldMk cId="3594162931" sldId="464"/>
        </pc:sldMkLst>
        <pc:spChg chg="mod">
          <ac:chgData name="E. Allgar" userId="3f289184-9de6-4ddb-8aa3-0e56f37c2a8c" providerId="ADAL" clId="{797DCDEB-F2E7-55A6-BB30-B6CDE054984F}" dt="2025-11-30T19:32:32.881" v="240" actId="27636"/>
          <ac:spMkLst>
            <pc:docMk/>
            <pc:sldMk cId="3594162931" sldId="464"/>
            <ac:spMk id="3" creationId="{C31091B0-4D3E-D425-70F9-7A112A9039C0}"/>
          </ac:spMkLst>
        </pc:spChg>
      </pc:sldChg>
      <pc:sldChg chg="del">
        <pc:chgData name="E. Allgar" userId="3f289184-9de6-4ddb-8aa3-0e56f37c2a8c" providerId="ADAL" clId="{797DCDEB-F2E7-55A6-BB30-B6CDE054984F}" dt="2025-12-02T14:45:48.913" v="263" actId="2696"/>
        <pc:sldMkLst>
          <pc:docMk/>
          <pc:sldMk cId="3677858519" sldId="46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697AE4-790D-0647-A4E1-D22C8D1FB7C4}" type="datetimeFigureOut">
              <a:rPr lang="en-GB" smtClean="0"/>
              <a:t>02/12/2025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4015EB-AB0D-DD46-A0E7-878A29AC7789}" type="slidenum">
              <a:rPr lang="en-GB" smtClean="0"/>
              <a:t>‹#›</a:t>
            </a:fld>
            <a:endParaRPr lang="en-GB"/>
          </a:p>
        </p:txBody>
      </p:sp>
    </p:spTree>
    <p:extLst>
      <p:ext uri="{BB962C8B-B14F-4D97-AF65-F5344CB8AC3E}">
        <p14:creationId xmlns:p14="http://schemas.microsoft.com/office/powerpoint/2010/main" val="39077866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D34015EB-AB0D-DD46-A0E7-878A29AC7789}" type="slidenum">
              <a:rPr lang="en-GB" smtClean="0"/>
              <a:t>42</a:t>
            </a:fld>
            <a:endParaRPr lang="en-GB"/>
          </a:p>
        </p:txBody>
      </p:sp>
    </p:spTree>
    <p:extLst>
      <p:ext uri="{BB962C8B-B14F-4D97-AF65-F5344CB8AC3E}">
        <p14:creationId xmlns:p14="http://schemas.microsoft.com/office/powerpoint/2010/main" val="117947388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Learning Aim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Learning Aims</a:t>
            </a:r>
          </a:p>
        </p:txBody>
      </p:sp>
      <p:sp>
        <p:nvSpPr>
          <p:cNvPr id="12" name="Content Placeholder 2"/>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6CF3A3AC-8542-2129-D7FF-AC94B7338B30}"/>
              </a:ext>
            </a:extLst>
          </p:cNvPr>
          <p:cNvPicPr>
            <a:picLocks noChangeAspect="1"/>
          </p:cNvPicPr>
          <p:nvPr/>
        </p:nvPicPr>
        <p:blipFill>
          <a:blip r:embed="rId2"/>
          <a:stretch>
            <a:fillRect/>
          </a:stretch>
        </p:blipFill>
        <p:spPr>
          <a:xfrm>
            <a:off x="11290852" y="6062872"/>
            <a:ext cx="755916" cy="723900"/>
          </a:xfrm>
          <a:prstGeom prst="rect">
            <a:avLst/>
          </a:prstGeom>
        </p:spPr>
      </p:pic>
    </p:spTree>
    <p:extLst>
      <p:ext uri="{BB962C8B-B14F-4D97-AF65-F5344CB8AC3E}">
        <p14:creationId xmlns:p14="http://schemas.microsoft.com/office/powerpoint/2010/main" val="3615376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o now">
    <p:spTree>
      <p:nvGrpSpPr>
        <p:cNvPr id="1" name=""/>
        <p:cNvGrpSpPr/>
        <p:nvPr/>
      </p:nvGrpSpPr>
      <p:grpSpPr>
        <a:xfrm>
          <a:off x="0" y="0"/>
          <a:ext cx="0" cy="0"/>
          <a:chOff x="0" y="0"/>
          <a:chExt cx="0" cy="0"/>
        </a:xfrm>
      </p:grpSpPr>
      <p:sp>
        <p:nvSpPr>
          <p:cNvPr id="12" name="Content Placeholder 2"/>
          <p:cNvSpPr>
            <a:spLocks noGrp="1"/>
          </p:cNvSpPr>
          <p:nvPr>
            <p:ph sz="quarter" idx="13"/>
          </p:nvPr>
        </p:nvSpPr>
        <p:spPr>
          <a:xfrm>
            <a:off x="4558937" y="1020159"/>
            <a:ext cx="7258690"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p:txBody>
      </p:sp>
      <p:pic>
        <p:nvPicPr>
          <p:cNvPr id="10" name="Picture 9" descr="A black background with a black square&#10;&#10;Description automatically generated with medium confidence">
            <a:extLst>
              <a:ext uri="{FF2B5EF4-FFF2-40B4-BE49-F238E27FC236}">
                <a16:creationId xmlns:a16="http://schemas.microsoft.com/office/drawing/2014/main" id="{8846952D-51E8-8031-F9E5-FF040FD33E53}"/>
              </a:ext>
            </a:extLst>
          </p:cNvPr>
          <p:cNvPicPr>
            <a:picLocks noChangeAspect="1"/>
          </p:cNvPicPr>
          <p:nvPr/>
        </p:nvPicPr>
        <p:blipFill>
          <a:blip r:embed="rId2"/>
          <a:stretch>
            <a:fillRect/>
          </a:stretch>
        </p:blipFill>
        <p:spPr>
          <a:xfrm>
            <a:off x="10995701" y="5562600"/>
            <a:ext cx="1185333" cy="1185333"/>
          </a:xfrm>
          <a:prstGeom prst="rect">
            <a:avLst/>
          </a:prstGeom>
        </p:spPr>
      </p:pic>
      <p:pic>
        <p:nvPicPr>
          <p:cNvPr id="9" name="Picture 8" descr="A yellow and black text&#10;&#10;AI-generated content may be incorrect.">
            <a:extLst>
              <a:ext uri="{FF2B5EF4-FFF2-40B4-BE49-F238E27FC236}">
                <a16:creationId xmlns:a16="http://schemas.microsoft.com/office/drawing/2014/main" id="{4B14F04D-221C-C0D4-F9F4-7D1212C03F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373" y="1666330"/>
            <a:ext cx="3525339" cy="3525339"/>
          </a:xfrm>
          <a:prstGeom prst="rect">
            <a:avLst/>
          </a:prstGeom>
        </p:spPr>
      </p:pic>
    </p:spTree>
    <p:extLst>
      <p:ext uri="{BB962C8B-B14F-4D97-AF65-F5344CB8AC3E}">
        <p14:creationId xmlns:p14="http://schemas.microsoft.com/office/powerpoint/2010/main" val="744145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rinke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3919D-F0F4-E735-8A4C-AE9159C5F4DC}"/>
              </a:ext>
            </a:extLst>
          </p:cNvPr>
          <p:cNvSpPr>
            <a:spLocks noGrp="1"/>
          </p:cNvSpPr>
          <p:nvPr>
            <p:ph type="title" hasCustomPrompt="1"/>
          </p:nvPr>
        </p:nvSpPr>
        <p:spPr/>
        <p:txBody>
          <a:bodyPr/>
          <a:lstStyle/>
          <a:p>
            <a:r>
              <a:rPr lang="en-GB"/>
              <a:t>Run and Investigate</a:t>
            </a:r>
          </a:p>
        </p:txBody>
      </p:sp>
      <p:sp>
        <p:nvSpPr>
          <p:cNvPr id="6" name="AutoShape 2" descr="Process Vector SVG Icon (4) - SVG Repo">
            <a:extLst>
              <a:ext uri="{FF2B5EF4-FFF2-40B4-BE49-F238E27FC236}">
                <a16:creationId xmlns:a16="http://schemas.microsoft.com/office/drawing/2014/main" id="{4BD55E4C-8C76-7251-580A-90BDAE5EC4A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GB"/>
          </a:p>
        </p:txBody>
      </p:sp>
      <p:pic>
        <p:nvPicPr>
          <p:cNvPr id="7" name="Picture 6">
            <a:extLst>
              <a:ext uri="{FF2B5EF4-FFF2-40B4-BE49-F238E27FC236}">
                <a16:creationId xmlns:a16="http://schemas.microsoft.com/office/drawing/2014/main" id="{B892C0C5-261A-35BF-1154-E7F9ADE12686}"/>
              </a:ext>
            </a:extLst>
          </p:cNvPr>
          <p:cNvPicPr>
            <a:picLocks noChangeAspect="1"/>
          </p:cNvPicPr>
          <p:nvPr/>
        </p:nvPicPr>
        <p:blipFill>
          <a:blip r:embed="rId2"/>
          <a:stretch>
            <a:fillRect/>
          </a:stretch>
        </p:blipFill>
        <p:spPr>
          <a:xfrm>
            <a:off x="11350487" y="6109252"/>
            <a:ext cx="748748" cy="748748"/>
          </a:xfrm>
          <a:prstGeom prst="rect">
            <a:avLst/>
          </a:prstGeom>
        </p:spPr>
      </p:pic>
      <p:sp>
        <p:nvSpPr>
          <p:cNvPr id="3" name="Content Placeholder 2">
            <a:extLst>
              <a:ext uri="{FF2B5EF4-FFF2-40B4-BE49-F238E27FC236}">
                <a16:creationId xmlns:a16="http://schemas.microsoft.com/office/drawing/2014/main" id="{D6CC8F4B-7CA7-C116-AAA8-2E85AA32AF45}"/>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424256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quizizz">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952A2-AC8A-18EE-0351-83728C050202}"/>
              </a:ext>
            </a:extLst>
          </p:cNvPr>
          <p:cNvSpPr>
            <a:spLocks noGrp="1"/>
          </p:cNvSpPr>
          <p:nvPr>
            <p:ph type="title" hasCustomPrompt="1"/>
          </p:nvPr>
        </p:nvSpPr>
        <p:spPr/>
        <p:txBody>
          <a:bodyPr/>
          <a:lstStyle/>
          <a:p>
            <a:r>
              <a:rPr lang="en-GB"/>
              <a:t>Knowledge check</a:t>
            </a:r>
          </a:p>
        </p:txBody>
      </p:sp>
      <p:pic>
        <p:nvPicPr>
          <p:cNvPr id="2052" name="Picture 4" descr="Check - Free shapes and symbols icons">
            <a:extLst>
              <a:ext uri="{FF2B5EF4-FFF2-40B4-BE49-F238E27FC236}">
                <a16:creationId xmlns:a16="http://schemas.microsoft.com/office/drawing/2014/main" id="{33A86CE2-92E5-B958-1901-38334B8295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80912" y="6069494"/>
            <a:ext cx="699053" cy="699053"/>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9916E56B-8A2D-8F18-9D64-D5BE0D9F0478}"/>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260235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ive co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73E2F-8E6C-BBE1-C7DB-12FCA85B2B17}"/>
              </a:ext>
            </a:extLst>
          </p:cNvPr>
          <p:cNvSpPr>
            <a:spLocks noGrp="1"/>
          </p:cNvSpPr>
          <p:nvPr>
            <p:ph type="title" hasCustomPrompt="1"/>
          </p:nvPr>
        </p:nvSpPr>
        <p:spPr/>
        <p:txBody>
          <a:bodyPr/>
          <a:lstStyle/>
          <a:p>
            <a:r>
              <a:rPr lang="en-GB"/>
              <a:t>Live coding</a:t>
            </a:r>
          </a:p>
        </p:txBody>
      </p:sp>
      <p:sp>
        <p:nvSpPr>
          <p:cNvPr id="3" name="Slide Number Placeholder 2">
            <a:extLst>
              <a:ext uri="{FF2B5EF4-FFF2-40B4-BE49-F238E27FC236}">
                <a16:creationId xmlns:a16="http://schemas.microsoft.com/office/drawing/2014/main" id="{6C1F2847-CFDD-F7E7-9324-B11EA7D36D34}"/>
              </a:ext>
            </a:extLst>
          </p:cNvPr>
          <p:cNvSpPr>
            <a:spLocks noGrp="1"/>
          </p:cNvSpPr>
          <p:nvPr>
            <p:ph type="sldNum" sz="quarter" idx="10"/>
          </p:nvPr>
        </p:nvSpPr>
        <p:spPr/>
        <p:txBody>
          <a:bodyPr/>
          <a:lstStyle/>
          <a:p>
            <a:fld id="{6AEBDBC7-BF9C-904C-A93D-44B0DD728130}" type="slidenum">
              <a:rPr lang="en-GB" smtClean="0"/>
              <a:t>‹#›</a:t>
            </a:fld>
            <a:endParaRPr lang="en-GB"/>
          </a:p>
        </p:txBody>
      </p:sp>
      <p:pic>
        <p:nvPicPr>
          <p:cNvPr id="4100" name="Picture 4" descr="Live Session Coding Icons - Free SVG &amp; PNG Live Session Coding Images -  Noun Project">
            <a:extLst>
              <a:ext uri="{FF2B5EF4-FFF2-40B4-BE49-F238E27FC236}">
                <a16:creationId xmlns:a16="http://schemas.microsoft.com/office/drawing/2014/main" id="{A3C44628-7F57-6033-4CA5-D917B37361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052572" y="5837841"/>
            <a:ext cx="1139428" cy="1139428"/>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2">
            <a:extLst>
              <a:ext uri="{FF2B5EF4-FFF2-40B4-BE49-F238E27FC236}">
                <a16:creationId xmlns:a16="http://schemas.microsoft.com/office/drawing/2014/main" id="{72538BD3-2962-013F-2E3E-E15DFBCA9AB6}"/>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1611723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allen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Challenge</a:t>
            </a:r>
          </a:p>
        </p:txBody>
      </p:sp>
      <p:sp>
        <p:nvSpPr>
          <p:cNvPr id="5" name="Content Placeholder 2">
            <a:extLst>
              <a:ext uri="{FF2B5EF4-FFF2-40B4-BE49-F238E27FC236}">
                <a16:creationId xmlns:a16="http://schemas.microsoft.com/office/drawing/2014/main" id="{A363B14A-C8D9-D540-222F-1E2217130B5C}"/>
              </a:ext>
            </a:extLst>
          </p:cNvPr>
          <p:cNvSpPr>
            <a:spLocks noGrp="1"/>
          </p:cNvSpPr>
          <p:nvPr>
            <p:ph sz="quarter" idx="13"/>
          </p:nvPr>
        </p:nvSpPr>
        <p:spPr>
          <a:xfrm>
            <a:off x="371063" y="1030097"/>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4E350B81-C37E-C697-9FA7-27016562AFEA}"/>
              </a:ext>
            </a:extLst>
          </p:cNvPr>
          <p:cNvPicPr>
            <a:picLocks noChangeAspect="1"/>
          </p:cNvPicPr>
          <p:nvPr/>
        </p:nvPicPr>
        <p:blipFill>
          <a:blip r:embed="rId2"/>
          <a:stretch>
            <a:fillRect/>
          </a:stretch>
        </p:blipFill>
        <p:spPr>
          <a:xfrm>
            <a:off x="10950222" y="5827903"/>
            <a:ext cx="1147444" cy="924512"/>
          </a:xfrm>
          <a:prstGeom prst="rect">
            <a:avLst/>
          </a:prstGeom>
        </p:spPr>
      </p:pic>
    </p:spTree>
    <p:extLst>
      <p:ext uri="{BB962C8B-B14F-4D97-AF65-F5344CB8AC3E}">
        <p14:creationId xmlns:p14="http://schemas.microsoft.com/office/powerpoint/2010/main" val="34940999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New learni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971" y="0"/>
            <a:ext cx="12170063" cy="707090"/>
          </a:xfrm>
        </p:spPr>
        <p:txBody>
          <a:bodyPr/>
          <a:lstStyle/>
          <a:p>
            <a:r>
              <a:rPr lang="en-US"/>
              <a:t>New Learning</a:t>
            </a:r>
          </a:p>
        </p:txBody>
      </p:sp>
      <p:sp>
        <p:nvSpPr>
          <p:cNvPr id="12" name="Content Placeholder 2"/>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820715B4-C96C-A6D5-C553-8A0485BB88B8}"/>
              </a:ext>
            </a:extLst>
          </p:cNvPr>
          <p:cNvPicPr>
            <a:picLocks noChangeAspect="1"/>
          </p:cNvPicPr>
          <p:nvPr/>
        </p:nvPicPr>
        <p:blipFill>
          <a:blip r:embed="rId2"/>
          <a:stretch>
            <a:fillRect/>
          </a:stretch>
        </p:blipFill>
        <p:spPr>
          <a:xfrm>
            <a:off x="11208568" y="6045200"/>
            <a:ext cx="889000" cy="812800"/>
          </a:xfrm>
          <a:prstGeom prst="rect">
            <a:avLst/>
          </a:prstGeom>
        </p:spPr>
      </p:pic>
    </p:spTree>
    <p:extLst>
      <p:ext uri="{BB962C8B-B14F-4D97-AF65-F5344CB8AC3E}">
        <p14:creationId xmlns:p14="http://schemas.microsoft.com/office/powerpoint/2010/main" val="10286061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Recap">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Recap</a:t>
            </a:r>
          </a:p>
        </p:txBody>
      </p:sp>
      <p:sp>
        <p:nvSpPr>
          <p:cNvPr id="12" name="Content Placeholder 2"/>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1463CD49-476A-D166-A288-3838F9A36F04}"/>
              </a:ext>
            </a:extLst>
          </p:cNvPr>
          <p:cNvPicPr>
            <a:picLocks noChangeAspect="1"/>
          </p:cNvPicPr>
          <p:nvPr/>
        </p:nvPicPr>
        <p:blipFill>
          <a:blip r:embed="rId2"/>
          <a:stretch>
            <a:fillRect/>
          </a:stretch>
        </p:blipFill>
        <p:spPr>
          <a:xfrm>
            <a:off x="11208568" y="6045200"/>
            <a:ext cx="838200" cy="812800"/>
          </a:xfrm>
          <a:prstGeom prst="rect">
            <a:avLst/>
          </a:prstGeom>
        </p:spPr>
      </p:pic>
    </p:spTree>
    <p:extLst>
      <p:ext uri="{BB962C8B-B14F-4D97-AF65-F5344CB8AC3E}">
        <p14:creationId xmlns:p14="http://schemas.microsoft.com/office/powerpoint/2010/main" val="2321615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key term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Key Terms</a:t>
            </a:r>
          </a:p>
        </p:txBody>
      </p:sp>
      <p:sp>
        <p:nvSpPr>
          <p:cNvPr id="12" name="Content Placeholder 2"/>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F7A8ACB5-FD9B-1A87-D426-234D9C512D7A}"/>
              </a:ext>
            </a:extLst>
          </p:cNvPr>
          <p:cNvPicPr>
            <a:picLocks noChangeAspect="1"/>
          </p:cNvPicPr>
          <p:nvPr/>
        </p:nvPicPr>
        <p:blipFill>
          <a:blip r:embed="rId2"/>
          <a:stretch>
            <a:fillRect/>
          </a:stretch>
        </p:blipFill>
        <p:spPr>
          <a:xfrm>
            <a:off x="11208568" y="6066589"/>
            <a:ext cx="825500" cy="762000"/>
          </a:xfrm>
          <a:prstGeom prst="rect">
            <a:avLst/>
          </a:prstGeom>
        </p:spPr>
      </p:pic>
    </p:spTree>
    <p:extLst>
      <p:ext uri="{BB962C8B-B14F-4D97-AF65-F5344CB8AC3E}">
        <p14:creationId xmlns:p14="http://schemas.microsoft.com/office/powerpoint/2010/main" val="3517943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Class discuss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Class discussion</a:t>
            </a:r>
          </a:p>
        </p:txBody>
      </p:sp>
      <p:sp>
        <p:nvSpPr>
          <p:cNvPr id="12" name="Content Placeholder 2"/>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5" name="Picture 4">
            <a:extLst>
              <a:ext uri="{FF2B5EF4-FFF2-40B4-BE49-F238E27FC236}">
                <a16:creationId xmlns:a16="http://schemas.microsoft.com/office/drawing/2014/main" id="{4C5FCB99-B8BC-8FB2-245B-99348E9E2930}"/>
              </a:ext>
            </a:extLst>
          </p:cNvPr>
          <p:cNvPicPr>
            <a:picLocks noChangeAspect="1"/>
          </p:cNvPicPr>
          <p:nvPr/>
        </p:nvPicPr>
        <p:blipFill>
          <a:blip r:embed="rId2"/>
          <a:stretch>
            <a:fillRect/>
          </a:stretch>
        </p:blipFill>
        <p:spPr>
          <a:xfrm>
            <a:off x="11352584" y="6042994"/>
            <a:ext cx="698500" cy="719210"/>
          </a:xfrm>
          <a:prstGeom prst="rect">
            <a:avLst/>
          </a:prstGeom>
        </p:spPr>
      </p:pic>
    </p:spTree>
    <p:extLst>
      <p:ext uri="{BB962C8B-B14F-4D97-AF65-F5344CB8AC3E}">
        <p14:creationId xmlns:p14="http://schemas.microsoft.com/office/powerpoint/2010/main" val="530961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es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B0867-0509-DA7D-2F91-896FBE307B80}"/>
              </a:ext>
            </a:extLst>
          </p:cNvPr>
          <p:cNvSpPr>
            <a:spLocks noGrp="1"/>
          </p:cNvSpPr>
          <p:nvPr>
            <p:ph type="title" hasCustomPrompt="1"/>
          </p:nvPr>
        </p:nvSpPr>
        <p:spPr/>
        <p:txBody>
          <a:bodyPr/>
          <a:lstStyle>
            <a:lvl1pPr>
              <a:defRPr/>
            </a:lvl1pPr>
          </a:lstStyle>
          <a:p>
            <a:r>
              <a:rPr lang="en-GB"/>
              <a:t>Question</a:t>
            </a:r>
          </a:p>
        </p:txBody>
      </p:sp>
      <p:pic>
        <p:nvPicPr>
          <p:cNvPr id="3" name="Picture 2">
            <a:extLst>
              <a:ext uri="{FF2B5EF4-FFF2-40B4-BE49-F238E27FC236}">
                <a16:creationId xmlns:a16="http://schemas.microsoft.com/office/drawing/2014/main" id="{9435F5E5-85B6-A554-A88C-2118972C3752}"/>
              </a:ext>
            </a:extLst>
          </p:cNvPr>
          <p:cNvPicPr>
            <a:picLocks noChangeAspect="1"/>
          </p:cNvPicPr>
          <p:nvPr/>
        </p:nvPicPr>
        <p:blipFill>
          <a:blip r:embed="rId2"/>
          <a:stretch>
            <a:fillRect/>
          </a:stretch>
        </p:blipFill>
        <p:spPr>
          <a:xfrm>
            <a:off x="11201400" y="6129231"/>
            <a:ext cx="990600" cy="723900"/>
          </a:xfrm>
          <a:prstGeom prst="rect">
            <a:avLst/>
          </a:prstGeom>
        </p:spPr>
      </p:pic>
      <p:sp>
        <p:nvSpPr>
          <p:cNvPr id="4" name="Content Placeholder 2">
            <a:extLst>
              <a:ext uri="{FF2B5EF4-FFF2-40B4-BE49-F238E27FC236}">
                <a16:creationId xmlns:a16="http://schemas.microsoft.com/office/drawing/2014/main" id="{3A51E5FD-FDDC-BE08-4AB5-21612B579382}"/>
              </a:ext>
            </a:extLst>
          </p:cNvPr>
          <p:cNvSpPr>
            <a:spLocks noGrp="1"/>
          </p:cNvSpPr>
          <p:nvPr>
            <p:ph sz="quarter" idx="13"/>
          </p:nvPr>
        </p:nvSpPr>
        <p:spPr>
          <a:xfrm>
            <a:off x="367748" y="1020159"/>
            <a:ext cx="11449879" cy="5022835"/>
          </a:xfrm>
        </p:spPr>
        <p:txBody>
          <a:bodyPr/>
          <a:lstStyle>
            <a:lvl1pPr>
              <a:defRPr sz="2000">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Tree>
    <p:extLst>
      <p:ext uri="{BB962C8B-B14F-4D97-AF65-F5344CB8AC3E}">
        <p14:creationId xmlns:p14="http://schemas.microsoft.com/office/powerpoint/2010/main" val="19075229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Exam">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Must know for exam</a:t>
            </a:r>
          </a:p>
        </p:txBody>
      </p:sp>
      <p:sp>
        <p:nvSpPr>
          <p:cNvPr id="12" name="Content Placeholder 2"/>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C96C84EE-12C4-9EBB-1792-3BF4BD1CD1A4}"/>
              </a:ext>
            </a:extLst>
          </p:cNvPr>
          <p:cNvPicPr>
            <a:picLocks noChangeAspect="1"/>
          </p:cNvPicPr>
          <p:nvPr/>
        </p:nvPicPr>
        <p:blipFill>
          <a:blip r:embed="rId2"/>
          <a:stretch>
            <a:fillRect/>
          </a:stretch>
        </p:blipFill>
        <p:spPr>
          <a:xfrm>
            <a:off x="11208578" y="6134100"/>
            <a:ext cx="927100" cy="723900"/>
          </a:xfrm>
          <a:prstGeom prst="rect">
            <a:avLst/>
          </a:prstGeom>
        </p:spPr>
      </p:pic>
    </p:spTree>
    <p:extLst>
      <p:ext uri="{BB962C8B-B14F-4D97-AF65-F5344CB8AC3E}">
        <p14:creationId xmlns:p14="http://schemas.microsoft.com/office/powerpoint/2010/main" val="16711563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ctivit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lvl1pPr>
              <a:defRPr>
                <a:solidFill>
                  <a:srgbClr val="1D1954"/>
                </a:solidFill>
              </a:defRPr>
            </a:lvl1pPr>
          </a:lstStyle>
          <a:p>
            <a:r>
              <a:rPr lang="en-US"/>
              <a:t>Activity</a:t>
            </a:r>
          </a:p>
        </p:txBody>
      </p:sp>
      <p:sp>
        <p:nvSpPr>
          <p:cNvPr id="5" name="Content Placeholder 2">
            <a:extLst>
              <a:ext uri="{FF2B5EF4-FFF2-40B4-BE49-F238E27FC236}">
                <a16:creationId xmlns:a16="http://schemas.microsoft.com/office/drawing/2014/main" id="{C852089B-B04A-4638-9916-CB14FE9571CB}"/>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A0E8DDAF-2289-618F-0ED8-506839029A25}"/>
              </a:ext>
            </a:extLst>
          </p:cNvPr>
          <p:cNvPicPr>
            <a:picLocks noChangeAspect="1"/>
          </p:cNvPicPr>
          <p:nvPr/>
        </p:nvPicPr>
        <p:blipFill>
          <a:blip r:embed="rId2"/>
          <a:stretch>
            <a:fillRect/>
          </a:stretch>
        </p:blipFill>
        <p:spPr>
          <a:xfrm>
            <a:off x="11352584" y="6045428"/>
            <a:ext cx="736600" cy="685800"/>
          </a:xfrm>
          <a:prstGeom prst="rect">
            <a:avLst/>
          </a:prstGeom>
        </p:spPr>
      </p:pic>
    </p:spTree>
    <p:extLst>
      <p:ext uri="{BB962C8B-B14F-4D97-AF65-F5344CB8AC3E}">
        <p14:creationId xmlns:p14="http://schemas.microsoft.com/office/powerpoint/2010/main" val="5264435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di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lvl1pPr>
              <a:defRPr>
                <a:solidFill>
                  <a:srgbClr val="1D1954"/>
                </a:solidFill>
              </a:defRPr>
            </a:lvl1pPr>
          </a:lstStyle>
          <a:p>
            <a:r>
              <a:rPr lang="en-US"/>
              <a:t>Coding Activity</a:t>
            </a:r>
          </a:p>
        </p:txBody>
      </p:sp>
      <p:sp>
        <p:nvSpPr>
          <p:cNvPr id="5" name="Content Placeholder 2">
            <a:extLst>
              <a:ext uri="{FF2B5EF4-FFF2-40B4-BE49-F238E27FC236}">
                <a16:creationId xmlns:a16="http://schemas.microsoft.com/office/drawing/2014/main" id="{C852089B-B04A-4638-9916-CB14FE9571CB}"/>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4F0A8DB8-E5E7-7EF0-784C-E31F23CF01EE}"/>
              </a:ext>
            </a:extLst>
          </p:cNvPr>
          <p:cNvPicPr>
            <a:picLocks noChangeAspect="1"/>
          </p:cNvPicPr>
          <p:nvPr/>
        </p:nvPicPr>
        <p:blipFill>
          <a:blip r:embed="rId2"/>
          <a:stretch>
            <a:fillRect/>
          </a:stretch>
        </p:blipFill>
        <p:spPr>
          <a:xfrm>
            <a:off x="11136560" y="6105616"/>
            <a:ext cx="865242" cy="752384"/>
          </a:xfrm>
          <a:prstGeom prst="rect">
            <a:avLst/>
          </a:prstGeom>
        </p:spPr>
      </p:pic>
    </p:spTree>
    <p:extLst>
      <p:ext uri="{BB962C8B-B14F-4D97-AF65-F5344CB8AC3E}">
        <p14:creationId xmlns:p14="http://schemas.microsoft.com/office/powerpoint/2010/main" val="3038208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How t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lvl1pPr>
              <a:defRPr>
                <a:solidFill>
                  <a:srgbClr val="1D1954"/>
                </a:solidFill>
              </a:defRPr>
            </a:lvl1pPr>
          </a:lstStyle>
          <a:p>
            <a:r>
              <a:rPr lang="en-US"/>
              <a:t>How to</a:t>
            </a:r>
          </a:p>
        </p:txBody>
      </p:sp>
      <p:sp>
        <p:nvSpPr>
          <p:cNvPr id="5" name="Content Placeholder 2">
            <a:extLst>
              <a:ext uri="{FF2B5EF4-FFF2-40B4-BE49-F238E27FC236}">
                <a16:creationId xmlns:a16="http://schemas.microsoft.com/office/drawing/2014/main" id="{C852089B-B04A-4638-9916-CB14FE9571CB}"/>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7950C9EE-96E3-4E11-225E-91893106FD8E}"/>
              </a:ext>
            </a:extLst>
          </p:cNvPr>
          <p:cNvPicPr>
            <a:picLocks noChangeAspect="1"/>
          </p:cNvPicPr>
          <p:nvPr/>
        </p:nvPicPr>
        <p:blipFill>
          <a:blip r:embed="rId2"/>
          <a:stretch>
            <a:fillRect/>
          </a:stretch>
        </p:blipFill>
        <p:spPr>
          <a:xfrm>
            <a:off x="11136560" y="6023116"/>
            <a:ext cx="986408" cy="800100"/>
          </a:xfrm>
          <a:prstGeom prst="rect">
            <a:avLst/>
          </a:prstGeom>
        </p:spPr>
      </p:pic>
    </p:spTree>
    <p:extLst>
      <p:ext uri="{BB962C8B-B14F-4D97-AF65-F5344CB8AC3E}">
        <p14:creationId xmlns:p14="http://schemas.microsoft.com/office/powerpoint/2010/main" val="41755650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Video">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Video</a:t>
            </a:r>
          </a:p>
        </p:txBody>
      </p:sp>
      <p:pic>
        <p:nvPicPr>
          <p:cNvPr id="4" name="Picture 3">
            <a:extLst>
              <a:ext uri="{FF2B5EF4-FFF2-40B4-BE49-F238E27FC236}">
                <a16:creationId xmlns:a16="http://schemas.microsoft.com/office/drawing/2014/main" id="{80CD42CF-47B4-832D-000A-09D647F072CF}"/>
              </a:ext>
            </a:extLst>
          </p:cNvPr>
          <p:cNvPicPr>
            <a:picLocks noChangeAspect="1"/>
          </p:cNvPicPr>
          <p:nvPr/>
        </p:nvPicPr>
        <p:blipFill>
          <a:blip r:embed="rId2"/>
          <a:stretch>
            <a:fillRect/>
          </a:stretch>
        </p:blipFill>
        <p:spPr>
          <a:xfrm>
            <a:off x="11208568" y="5995504"/>
            <a:ext cx="889000" cy="812800"/>
          </a:xfrm>
          <a:prstGeom prst="rect">
            <a:avLst/>
          </a:prstGeom>
        </p:spPr>
      </p:pic>
    </p:spTree>
    <p:extLst>
      <p:ext uri="{BB962C8B-B14F-4D97-AF65-F5344CB8AC3E}">
        <p14:creationId xmlns:p14="http://schemas.microsoft.com/office/powerpoint/2010/main" val="368235387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readin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dirty="0"/>
              <a:t>Reading</a:t>
            </a:r>
          </a:p>
        </p:txBody>
      </p:sp>
      <p:pic>
        <p:nvPicPr>
          <p:cNvPr id="5" name="Picture 4" descr="A black background with a black square&#10;&#10;AI-generated content may be incorrect.">
            <a:extLst>
              <a:ext uri="{FF2B5EF4-FFF2-40B4-BE49-F238E27FC236}">
                <a16:creationId xmlns:a16="http://schemas.microsoft.com/office/drawing/2014/main" id="{DA816F24-76F7-2781-F560-481E2FB3CCF8}"/>
              </a:ext>
            </a:extLst>
          </p:cNvPr>
          <p:cNvPicPr>
            <a:picLocks noChangeAspect="1"/>
          </p:cNvPicPr>
          <p:nvPr/>
        </p:nvPicPr>
        <p:blipFill>
          <a:blip r:embed="rId2"/>
          <a:srcRect t="14534" b="27759"/>
          <a:stretch/>
        </p:blipFill>
        <p:spPr>
          <a:xfrm>
            <a:off x="10782360" y="5931725"/>
            <a:ext cx="1409640" cy="813459"/>
          </a:xfrm>
          <a:prstGeom prst="rect">
            <a:avLst/>
          </a:prstGeom>
        </p:spPr>
      </p:pic>
    </p:spTree>
    <p:extLst>
      <p:ext uri="{BB962C8B-B14F-4D97-AF65-F5344CB8AC3E}">
        <p14:creationId xmlns:p14="http://schemas.microsoft.com/office/powerpoint/2010/main" val="11606326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nswer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Answers</a:t>
            </a:r>
          </a:p>
        </p:txBody>
      </p:sp>
      <p:sp>
        <p:nvSpPr>
          <p:cNvPr id="5" name="Content Placeholder 2">
            <a:extLst>
              <a:ext uri="{FF2B5EF4-FFF2-40B4-BE49-F238E27FC236}">
                <a16:creationId xmlns:a16="http://schemas.microsoft.com/office/drawing/2014/main" id="{C852089B-B04A-4638-9916-CB14FE9571CB}"/>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CC509D04-5DCC-9882-46EC-B371493656F1}"/>
              </a:ext>
            </a:extLst>
          </p:cNvPr>
          <p:cNvPicPr>
            <a:picLocks noChangeAspect="1"/>
          </p:cNvPicPr>
          <p:nvPr/>
        </p:nvPicPr>
        <p:blipFill>
          <a:blip r:embed="rId2"/>
          <a:stretch>
            <a:fillRect/>
          </a:stretch>
        </p:blipFill>
        <p:spPr>
          <a:xfrm>
            <a:off x="11084891" y="5925862"/>
            <a:ext cx="1130300" cy="838200"/>
          </a:xfrm>
          <a:prstGeom prst="rect">
            <a:avLst/>
          </a:prstGeom>
        </p:spPr>
      </p:pic>
    </p:spTree>
    <p:extLst>
      <p:ext uri="{BB962C8B-B14F-4D97-AF65-F5344CB8AC3E}">
        <p14:creationId xmlns:p14="http://schemas.microsoft.com/office/powerpoint/2010/main" val="17174685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hec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Check</a:t>
            </a:r>
          </a:p>
        </p:txBody>
      </p:sp>
      <p:sp>
        <p:nvSpPr>
          <p:cNvPr id="5" name="Content Placeholder 2">
            <a:extLst>
              <a:ext uri="{FF2B5EF4-FFF2-40B4-BE49-F238E27FC236}">
                <a16:creationId xmlns:a16="http://schemas.microsoft.com/office/drawing/2014/main" id="{C852089B-B04A-4638-9916-CB14FE9571CB}"/>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EDCEFB13-8B3F-2FA4-650C-4169E8C4B413}"/>
              </a:ext>
            </a:extLst>
          </p:cNvPr>
          <p:cNvPicPr>
            <a:picLocks noChangeAspect="1"/>
          </p:cNvPicPr>
          <p:nvPr/>
        </p:nvPicPr>
        <p:blipFill>
          <a:blip r:embed="rId2"/>
          <a:stretch>
            <a:fillRect/>
          </a:stretch>
        </p:blipFill>
        <p:spPr>
          <a:xfrm>
            <a:off x="11352584" y="6134100"/>
            <a:ext cx="787400" cy="723900"/>
          </a:xfrm>
          <a:prstGeom prst="rect">
            <a:avLst/>
          </a:prstGeom>
        </p:spPr>
      </p:pic>
    </p:spTree>
    <p:extLst>
      <p:ext uri="{BB962C8B-B14F-4D97-AF65-F5344CB8AC3E}">
        <p14:creationId xmlns:p14="http://schemas.microsoft.com/office/powerpoint/2010/main" val="33676199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Explorer tas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Explorer Task</a:t>
            </a:r>
          </a:p>
        </p:txBody>
      </p:sp>
      <p:sp>
        <p:nvSpPr>
          <p:cNvPr id="5" name="Content Placeholder 2">
            <a:extLst>
              <a:ext uri="{FF2B5EF4-FFF2-40B4-BE49-F238E27FC236}">
                <a16:creationId xmlns:a16="http://schemas.microsoft.com/office/drawing/2014/main" id="{A363B14A-C8D9-D540-222F-1E2217130B5C}"/>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93F4B5F1-8CC8-4849-AA12-78E526DC925F}"/>
              </a:ext>
            </a:extLst>
          </p:cNvPr>
          <p:cNvPicPr>
            <a:picLocks noChangeAspect="1"/>
          </p:cNvPicPr>
          <p:nvPr/>
        </p:nvPicPr>
        <p:blipFill>
          <a:blip r:embed="rId2"/>
          <a:stretch>
            <a:fillRect/>
          </a:stretch>
        </p:blipFill>
        <p:spPr>
          <a:xfrm>
            <a:off x="11280576" y="6067740"/>
            <a:ext cx="825500" cy="723900"/>
          </a:xfrm>
          <a:prstGeom prst="rect">
            <a:avLst/>
          </a:prstGeom>
        </p:spPr>
      </p:pic>
    </p:spTree>
    <p:extLst>
      <p:ext uri="{BB962C8B-B14F-4D97-AF65-F5344CB8AC3E}">
        <p14:creationId xmlns:p14="http://schemas.microsoft.com/office/powerpoint/2010/main" val="13991546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Worked Examp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Worked Example</a:t>
            </a:r>
          </a:p>
        </p:txBody>
      </p:sp>
      <p:sp>
        <p:nvSpPr>
          <p:cNvPr id="5" name="Content Placeholder 2">
            <a:extLst>
              <a:ext uri="{FF2B5EF4-FFF2-40B4-BE49-F238E27FC236}">
                <a16:creationId xmlns:a16="http://schemas.microsoft.com/office/drawing/2014/main" id="{A363B14A-C8D9-D540-222F-1E2217130B5C}"/>
              </a:ext>
            </a:extLst>
          </p:cNvPr>
          <p:cNvSpPr>
            <a:spLocks noGrp="1"/>
          </p:cNvSpPr>
          <p:nvPr>
            <p:ph sz="quarter" idx="13"/>
          </p:nvPr>
        </p:nvSpPr>
        <p:spPr>
          <a:xfrm>
            <a:off x="367748" y="1020159"/>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8982A035-E0B4-FA78-50D4-767740BE0A38}"/>
              </a:ext>
            </a:extLst>
          </p:cNvPr>
          <p:cNvPicPr>
            <a:picLocks noChangeAspect="1"/>
          </p:cNvPicPr>
          <p:nvPr/>
        </p:nvPicPr>
        <p:blipFill>
          <a:blip r:embed="rId2"/>
          <a:stretch>
            <a:fillRect/>
          </a:stretch>
        </p:blipFill>
        <p:spPr>
          <a:xfrm>
            <a:off x="11277600" y="6134100"/>
            <a:ext cx="914400" cy="723900"/>
          </a:xfrm>
          <a:prstGeom prst="rect">
            <a:avLst/>
          </a:prstGeom>
        </p:spPr>
      </p:pic>
    </p:spTree>
    <p:extLst>
      <p:ext uri="{BB962C8B-B14F-4D97-AF65-F5344CB8AC3E}">
        <p14:creationId xmlns:p14="http://schemas.microsoft.com/office/powerpoint/2010/main" val="32844735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Exit ticke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Exit ticket</a:t>
            </a:r>
          </a:p>
        </p:txBody>
      </p:sp>
      <p:sp>
        <p:nvSpPr>
          <p:cNvPr id="5" name="Content Placeholder 2">
            <a:extLst>
              <a:ext uri="{FF2B5EF4-FFF2-40B4-BE49-F238E27FC236}">
                <a16:creationId xmlns:a16="http://schemas.microsoft.com/office/drawing/2014/main" id="{A363B14A-C8D9-D540-222F-1E2217130B5C}"/>
              </a:ext>
            </a:extLst>
          </p:cNvPr>
          <p:cNvSpPr>
            <a:spLocks noGrp="1"/>
          </p:cNvSpPr>
          <p:nvPr>
            <p:ph sz="quarter" idx="13"/>
          </p:nvPr>
        </p:nvSpPr>
        <p:spPr>
          <a:xfrm>
            <a:off x="371063" y="1030097"/>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7917711D-C09C-CCAD-4EC9-B1C85FAF2987}"/>
              </a:ext>
            </a:extLst>
          </p:cNvPr>
          <p:cNvPicPr>
            <a:picLocks noChangeAspect="1"/>
          </p:cNvPicPr>
          <p:nvPr/>
        </p:nvPicPr>
        <p:blipFill>
          <a:blip r:embed="rId2"/>
          <a:stretch>
            <a:fillRect/>
          </a:stretch>
        </p:blipFill>
        <p:spPr>
          <a:xfrm>
            <a:off x="11280576" y="6134100"/>
            <a:ext cx="812800" cy="723900"/>
          </a:xfrm>
          <a:prstGeom prst="rect">
            <a:avLst/>
          </a:prstGeom>
        </p:spPr>
      </p:pic>
    </p:spTree>
    <p:extLst>
      <p:ext uri="{BB962C8B-B14F-4D97-AF65-F5344CB8AC3E}">
        <p14:creationId xmlns:p14="http://schemas.microsoft.com/office/powerpoint/2010/main" val="24340902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unplugge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Unplugged</a:t>
            </a:r>
          </a:p>
        </p:txBody>
      </p:sp>
      <p:sp>
        <p:nvSpPr>
          <p:cNvPr id="5" name="Content Placeholder 2">
            <a:extLst>
              <a:ext uri="{FF2B5EF4-FFF2-40B4-BE49-F238E27FC236}">
                <a16:creationId xmlns:a16="http://schemas.microsoft.com/office/drawing/2014/main" id="{A363B14A-C8D9-D540-222F-1E2217130B5C}"/>
              </a:ext>
            </a:extLst>
          </p:cNvPr>
          <p:cNvSpPr>
            <a:spLocks noGrp="1"/>
          </p:cNvSpPr>
          <p:nvPr>
            <p:ph sz="quarter" idx="13"/>
          </p:nvPr>
        </p:nvSpPr>
        <p:spPr>
          <a:xfrm>
            <a:off x="371063" y="1030097"/>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F9148094-2464-3D13-F7C1-FDA43750083D}"/>
              </a:ext>
            </a:extLst>
          </p:cNvPr>
          <p:cNvPicPr>
            <a:picLocks noChangeAspect="1"/>
          </p:cNvPicPr>
          <p:nvPr/>
        </p:nvPicPr>
        <p:blipFill>
          <a:blip r:embed="rId2"/>
          <a:stretch>
            <a:fillRect/>
          </a:stretch>
        </p:blipFill>
        <p:spPr>
          <a:xfrm>
            <a:off x="11280576" y="6134100"/>
            <a:ext cx="812800" cy="723900"/>
          </a:xfrm>
          <a:prstGeom prst="rect">
            <a:avLst/>
          </a:prstGeom>
        </p:spPr>
      </p:pic>
    </p:spTree>
    <p:extLst>
      <p:ext uri="{BB962C8B-B14F-4D97-AF65-F5344CB8AC3E}">
        <p14:creationId xmlns:p14="http://schemas.microsoft.com/office/powerpoint/2010/main" val="40309783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buil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a:t>Build</a:t>
            </a:r>
          </a:p>
        </p:txBody>
      </p:sp>
      <p:sp>
        <p:nvSpPr>
          <p:cNvPr id="5" name="Content Placeholder 2">
            <a:extLst>
              <a:ext uri="{FF2B5EF4-FFF2-40B4-BE49-F238E27FC236}">
                <a16:creationId xmlns:a16="http://schemas.microsoft.com/office/drawing/2014/main" id="{A363B14A-C8D9-D540-222F-1E2217130B5C}"/>
              </a:ext>
            </a:extLst>
          </p:cNvPr>
          <p:cNvSpPr>
            <a:spLocks noGrp="1"/>
          </p:cNvSpPr>
          <p:nvPr>
            <p:ph sz="quarter" idx="13"/>
          </p:nvPr>
        </p:nvSpPr>
        <p:spPr>
          <a:xfrm>
            <a:off x="371063" y="1030097"/>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4" name="Picture 3">
            <a:extLst>
              <a:ext uri="{FF2B5EF4-FFF2-40B4-BE49-F238E27FC236}">
                <a16:creationId xmlns:a16="http://schemas.microsoft.com/office/drawing/2014/main" id="{F5699C5B-F20A-28CC-BA77-CAA64351175A}"/>
              </a:ext>
            </a:extLst>
          </p:cNvPr>
          <p:cNvPicPr>
            <a:picLocks noChangeAspect="1"/>
          </p:cNvPicPr>
          <p:nvPr/>
        </p:nvPicPr>
        <p:blipFill>
          <a:blip r:embed="rId2"/>
          <a:stretch>
            <a:fillRect/>
          </a:stretch>
        </p:blipFill>
        <p:spPr>
          <a:xfrm>
            <a:off x="10851419" y="5827903"/>
            <a:ext cx="1174858" cy="973756"/>
          </a:xfrm>
          <a:prstGeom prst="rect">
            <a:avLst/>
          </a:prstGeom>
        </p:spPr>
      </p:pic>
    </p:spTree>
    <p:extLst>
      <p:ext uri="{BB962C8B-B14F-4D97-AF65-F5344CB8AC3E}">
        <p14:creationId xmlns:p14="http://schemas.microsoft.com/office/powerpoint/2010/main" val="38770924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D429B-368A-DD7F-A675-B5B9432D3FA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F908D99B-14C7-1201-8CF0-821802917D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0340ECA4-92A0-6282-814D-6F847E655F68}"/>
              </a:ext>
            </a:extLst>
          </p:cNvPr>
          <p:cNvSpPr>
            <a:spLocks noGrp="1"/>
          </p:cNvSpPr>
          <p:nvPr>
            <p:ph type="dt" sz="half" idx="10"/>
          </p:nvPr>
        </p:nvSpPr>
        <p:spPr/>
        <p:txBody>
          <a:bodyPr/>
          <a:lstStyle/>
          <a:p>
            <a:fld id="{08BE4251-327E-0943-A3AA-C1E70E281029}" type="datetimeFigureOut">
              <a:rPr lang="en-GB" smtClean="0"/>
              <a:t>02/12/2025</a:t>
            </a:fld>
            <a:endParaRPr lang="en-GB"/>
          </a:p>
        </p:txBody>
      </p:sp>
      <p:sp>
        <p:nvSpPr>
          <p:cNvPr id="5" name="Footer Placeholder 4">
            <a:extLst>
              <a:ext uri="{FF2B5EF4-FFF2-40B4-BE49-F238E27FC236}">
                <a16:creationId xmlns:a16="http://schemas.microsoft.com/office/drawing/2014/main" id="{D6FF0AF8-BD6F-167E-FF90-47414CB684A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526E845-E9E9-B406-FE15-B108B513A444}"/>
              </a:ext>
            </a:extLst>
          </p:cNvPr>
          <p:cNvSpPr>
            <a:spLocks noGrp="1"/>
          </p:cNvSpPr>
          <p:nvPr>
            <p:ph type="sldNum" sz="quarter" idx="12"/>
          </p:nvPr>
        </p:nvSpPr>
        <p:spPr/>
        <p:txBody>
          <a:bodyPr/>
          <a:lstStyle/>
          <a:p>
            <a:fld id="{6AEBDBC7-BF9C-904C-A93D-44B0DD728130}" type="slidenum">
              <a:rPr lang="en-GB" smtClean="0"/>
              <a:t>‹#›</a:t>
            </a:fld>
            <a:endParaRPr lang="en-GB"/>
          </a:p>
        </p:txBody>
      </p:sp>
    </p:spTree>
    <p:extLst>
      <p:ext uri="{BB962C8B-B14F-4D97-AF65-F5344CB8AC3E}">
        <p14:creationId xmlns:p14="http://schemas.microsoft.com/office/powerpoint/2010/main" val="2278914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8250A1-4A4A-34A7-9E45-C7AC3876C5EB}"/>
              </a:ext>
            </a:extLst>
          </p:cNvPr>
          <p:cNvSpPr>
            <a:spLocks noGrp="1"/>
          </p:cNvSpPr>
          <p:nvPr>
            <p:ph type="title"/>
          </p:nvPr>
        </p:nvSpPr>
        <p:spPr>
          <a:xfrm>
            <a:off x="3314" y="16835"/>
            <a:ext cx="12188687" cy="681037"/>
          </a:xfrm>
        </p:spPr>
        <p:txBody>
          <a:bodyPr/>
          <a:lstStyle/>
          <a:p>
            <a:r>
              <a:rPr lang="en-GB"/>
              <a:t>Click to edit Master title style</a:t>
            </a:r>
          </a:p>
        </p:txBody>
      </p:sp>
      <p:sp>
        <p:nvSpPr>
          <p:cNvPr id="3" name="Content Placeholder 2">
            <a:extLst>
              <a:ext uri="{FF2B5EF4-FFF2-40B4-BE49-F238E27FC236}">
                <a16:creationId xmlns:a16="http://schemas.microsoft.com/office/drawing/2014/main" id="{26682997-E99A-1529-ED0E-7908AC659E3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0B32640-9121-B03D-FA8E-F38076A494D1}"/>
              </a:ext>
            </a:extLst>
          </p:cNvPr>
          <p:cNvSpPr>
            <a:spLocks noGrp="1"/>
          </p:cNvSpPr>
          <p:nvPr>
            <p:ph type="dt" sz="half" idx="10"/>
          </p:nvPr>
        </p:nvSpPr>
        <p:spPr/>
        <p:txBody>
          <a:bodyPr/>
          <a:lstStyle/>
          <a:p>
            <a:fld id="{A36D63C9-3854-0F40-963B-D95AD7758953}" type="datetimeFigureOut">
              <a:rPr lang="en-GB" smtClean="0"/>
              <a:t>02/12/2025</a:t>
            </a:fld>
            <a:endParaRPr lang="en-GB"/>
          </a:p>
        </p:txBody>
      </p:sp>
      <p:sp>
        <p:nvSpPr>
          <p:cNvPr id="5" name="Footer Placeholder 4">
            <a:extLst>
              <a:ext uri="{FF2B5EF4-FFF2-40B4-BE49-F238E27FC236}">
                <a16:creationId xmlns:a16="http://schemas.microsoft.com/office/drawing/2014/main" id="{D8B0E507-7A3D-8810-09AD-2D736E0E64A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E5DED31-EEF2-A407-5EAE-A8ED7A42EF0D}"/>
              </a:ext>
            </a:extLst>
          </p:cNvPr>
          <p:cNvSpPr>
            <a:spLocks noGrp="1"/>
          </p:cNvSpPr>
          <p:nvPr>
            <p:ph type="sldNum" sz="quarter" idx="12"/>
          </p:nvPr>
        </p:nvSpPr>
        <p:spPr/>
        <p:txBody>
          <a:bodyPr/>
          <a:lstStyle/>
          <a:p>
            <a:fld id="{6AEBDBC7-BF9C-904C-A93D-44B0DD728130}" type="slidenum">
              <a:rPr lang="en-GB" smtClean="0"/>
              <a:t>‹#›</a:t>
            </a:fld>
            <a:endParaRPr lang="en-GB"/>
          </a:p>
        </p:txBody>
      </p:sp>
    </p:spTree>
    <p:extLst>
      <p:ext uri="{BB962C8B-B14F-4D97-AF65-F5344CB8AC3E}">
        <p14:creationId xmlns:p14="http://schemas.microsoft.com/office/powerpoint/2010/main" val="2353920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mu">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0"/>
            <a:ext cx="12192000" cy="718191"/>
          </a:xfrm>
        </p:spPr>
        <p:txBody>
          <a:bodyPr/>
          <a:lstStyle/>
          <a:p>
            <a:r>
              <a:rPr lang="en-US" dirty="0"/>
              <a:t>Mu</a:t>
            </a:r>
          </a:p>
        </p:txBody>
      </p:sp>
      <p:sp>
        <p:nvSpPr>
          <p:cNvPr id="5" name="Content Placeholder 2">
            <a:extLst>
              <a:ext uri="{FF2B5EF4-FFF2-40B4-BE49-F238E27FC236}">
                <a16:creationId xmlns:a16="http://schemas.microsoft.com/office/drawing/2014/main" id="{A363B14A-C8D9-D540-222F-1E2217130B5C}"/>
              </a:ext>
            </a:extLst>
          </p:cNvPr>
          <p:cNvSpPr>
            <a:spLocks noGrp="1"/>
          </p:cNvSpPr>
          <p:nvPr>
            <p:ph sz="quarter" idx="13"/>
          </p:nvPr>
        </p:nvSpPr>
        <p:spPr>
          <a:xfrm>
            <a:off x="371062" y="1030096"/>
            <a:ext cx="11449879" cy="5022835"/>
          </a:xfrm>
        </p:spPr>
        <p:txBody>
          <a:bodyPr/>
          <a:lstStyle>
            <a:lvl1pPr>
              <a:defRPr>
                <a:latin typeface="Century Gothic" panose="020B0502020202020204" pitchFamily="34" charset="0"/>
              </a:defRPr>
            </a:lvl1pPr>
            <a:lvl2pPr>
              <a:defRPr>
                <a:latin typeface="Century Gothic" panose="020B0502020202020204" pitchFamily="34" charset="0"/>
              </a:defRPr>
            </a:lvl2pPr>
            <a:lvl3pPr>
              <a:defRPr>
                <a:latin typeface="Century Gothic" panose="020B0502020202020204" pitchFamily="34" charset="0"/>
              </a:defRPr>
            </a:lvl3pPr>
            <a:lvl4pPr>
              <a:defRPr>
                <a:latin typeface="Century Gothic" panose="020B0502020202020204" pitchFamily="34" charset="0"/>
              </a:defRPr>
            </a:lvl4pPr>
            <a:lvl5pPr>
              <a:defRPr>
                <a:latin typeface="Century Gothic" panose="020B0502020202020204" pitchFamily="34"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pic>
        <p:nvPicPr>
          <p:cNvPr id="3" name="Picture 2" descr="Mu · GitHub">
            <a:extLst>
              <a:ext uri="{FF2B5EF4-FFF2-40B4-BE49-F238E27FC236}">
                <a16:creationId xmlns:a16="http://schemas.microsoft.com/office/drawing/2014/main" id="{BD0D65EE-4F5F-D302-7336-DD8A1EF17738}"/>
              </a:ext>
            </a:extLst>
          </p:cNvPr>
          <p:cNvPicPr>
            <a:picLocks noChangeAspect="1"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0769600" y="5435600"/>
            <a:ext cx="1422400" cy="1422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76592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_ques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B0867-0509-DA7D-2F91-896FBE307B80}"/>
              </a:ext>
            </a:extLst>
          </p:cNvPr>
          <p:cNvSpPr>
            <a:spLocks noGrp="1"/>
          </p:cNvSpPr>
          <p:nvPr>
            <p:ph type="title" hasCustomPrompt="1"/>
          </p:nvPr>
        </p:nvSpPr>
        <p:spPr/>
        <p:txBody>
          <a:bodyPr/>
          <a:lstStyle>
            <a:lvl1pPr>
              <a:defRPr/>
            </a:lvl1pPr>
          </a:lstStyle>
          <a:p>
            <a:r>
              <a:rPr lang="en-GB"/>
              <a:t>Question</a:t>
            </a:r>
          </a:p>
        </p:txBody>
      </p:sp>
    </p:spTree>
    <p:extLst>
      <p:ext uri="{BB962C8B-B14F-4D97-AF65-F5344CB8AC3E}">
        <p14:creationId xmlns:p14="http://schemas.microsoft.com/office/powerpoint/2010/main" val="38718603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2_trinke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63919D-F0F4-E735-8A4C-AE9159C5F4DC}"/>
              </a:ext>
            </a:extLst>
          </p:cNvPr>
          <p:cNvSpPr>
            <a:spLocks noGrp="1"/>
          </p:cNvSpPr>
          <p:nvPr>
            <p:ph type="title" hasCustomPrompt="1"/>
          </p:nvPr>
        </p:nvSpPr>
        <p:spPr/>
        <p:txBody>
          <a:bodyPr/>
          <a:lstStyle/>
          <a:p>
            <a:r>
              <a:rPr lang="en-GB"/>
              <a:t>Run and Investigate</a:t>
            </a:r>
          </a:p>
        </p:txBody>
      </p:sp>
    </p:spTree>
    <p:extLst>
      <p:ext uri="{BB962C8B-B14F-4D97-AF65-F5344CB8AC3E}">
        <p14:creationId xmlns:p14="http://schemas.microsoft.com/office/powerpoint/2010/main" val="141549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E5"/>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9DD4C1-08CF-4774-F2A2-BE24C6064C25}"/>
              </a:ext>
            </a:extLst>
          </p:cNvPr>
          <p:cNvSpPr>
            <a:spLocks noGrp="1"/>
          </p:cNvSpPr>
          <p:nvPr>
            <p:ph type="title"/>
          </p:nvPr>
        </p:nvSpPr>
        <p:spPr>
          <a:xfrm>
            <a:off x="3314" y="1"/>
            <a:ext cx="12188687" cy="681037"/>
          </a:xfrm>
          <a:prstGeom prst="rect">
            <a:avLst/>
          </a:prstGeom>
          <a:solidFill>
            <a:schemeClr val="accent4">
              <a:lumMod val="60000"/>
              <a:lumOff val="40000"/>
            </a:schemeClr>
          </a:solidFill>
        </p:spPr>
        <p:txBody>
          <a:bodyPr vert="horz" lIns="91440" tIns="45720" rIns="91440" bIns="45720" rtlCol="0" anchor="ctr">
            <a:normAutofit/>
          </a:bodyPr>
          <a:lstStyle/>
          <a:p>
            <a:r>
              <a:rPr lang="en-GB"/>
              <a:t>Click to edit Master title style</a:t>
            </a:r>
            <a:endParaRPr lang="en-GB" dirty="0"/>
          </a:p>
        </p:txBody>
      </p:sp>
      <p:sp>
        <p:nvSpPr>
          <p:cNvPr id="3" name="Text Placeholder 2">
            <a:extLst>
              <a:ext uri="{FF2B5EF4-FFF2-40B4-BE49-F238E27FC236}">
                <a16:creationId xmlns:a16="http://schemas.microsoft.com/office/drawing/2014/main" id="{00C6B0E9-B015-A0F2-1C6C-784CA336B8A4}"/>
              </a:ext>
            </a:extLst>
          </p:cNvPr>
          <p:cNvSpPr>
            <a:spLocks noGrp="1"/>
          </p:cNvSpPr>
          <p:nvPr>
            <p:ph type="body" idx="1"/>
          </p:nvPr>
        </p:nvSpPr>
        <p:spPr>
          <a:xfrm>
            <a:off x="311425" y="1020554"/>
            <a:ext cx="11615531" cy="481371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6" name="Slide Number Placeholder 5">
            <a:extLst>
              <a:ext uri="{FF2B5EF4-FFF2-40B4-BE49-F238E27FC236}">
                <a16:creationId xmlns:a16="http://schemas.microsoft.com/office/drawing/2014/main" id="{032FD39F-F7B2-62B8-0499-0F1CE60316B9}"/>
              </a:ext>
            </a:extLst>
          </p:cNvPr>
          <p:cNvSpPr>
            <a:spLocks noGrp="1"/>
          </p:cNvSpPr>
          <p:nvPr>
            <p:ph type="sldNum" sz="quarter" idx="4"/>
          </p:nvPr>
        </p:nvSpPr>
        <p:spPr>
          <a:xfrm>
            <a:off x="9183756" y="6406050"/>
            <a:ext cx="2743200" cy="365125"/>
          </a:xfrm>
          <a:prstGeom prst="rect">
            <a:avLst/>
          </a:prstGeom>
        </p:spPr>
        <p:txBody>
          <a:bodyPr vert="horz" lIns="91440" tIns="45720" rIns="91440" bIns="45720" rtlCol="0" anchor="ctr"/>
          <a:lstStyle>
            <a:lvl1pPr algn="r">
              <a:defRPr sz="675">
                <a:solidFill>
                  <a:schemeClr val="tx1">
                    <a:tint val="75000"/>
                  </a:schemeClr>
                </a:solidFill>
              </a:defRPr>
            </a:lvl1pPr>
          </a:lstStyle>
          <a:p>
            <a:fld id="{6AEBDBC7-BF9C-904C-A93D-44B0DD728130}" type="slidenum">
              <a:rPr lang="en-GB" smtClean="0"/>
              <a:t>‹#›</a:t>
            </a:fld>
            <a:endParaRPr lang="en-GB"/>
          </a:p>
        </p:txBody>
      </p:sp>
    </p:spTree>
    <p:extLst>
      <p:ext uri="{BB962C8B-B14F-4D97-AF65-F5344CB8AC3E}">
        <p14:creationId xmlns:p14="http://schemas.microsoft.com/office/powerpoint/2010/main" val="2072741490"/>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Lst>
  <p:txStyles>
    <p:titleStyle>
      <a:lvl1pPr algn="l" defTabSz="514350" rtl="0" eaLnBrk="1" latinLnBrk="0" hangingPunct="1">
        <a:lnSpc>
          <a:spcPct val="90000"/>
        </a:lnSpc>
        <a:spcBef>
          <a:spcPct val="0"/>
        </a:spcBef>
        <a:buNone/>
        <a:defRPr sz="2475" kern="1200">
          <a:solidFill>
            <a:srgbClr val="0A0A0A"/>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2000" kern="1200">
          <a:solidFill>
            <a:srgbClr val="0A0A0A"/>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rgbClr val="0A0A0A"/>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rgbClr val="0A0A0A"/>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rgbClr val="0A0A0A"/>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rgbClr val="0A0A0A"/>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B1CB5-23EC-C84C-2B71-F82A9160DE71}"/>
              </a:ext>
            </a:extLst>
          </p:cNvPr>
          <p:cNvSpPr>
            <a:spLocks noGrp="1"/>
          </p:cNvSpPr>
          <p:nvPr>
            <p:ph type="title"/>
          </p:nvPr>
        </p:nvSpPr>
        <p:spPr/>
        <p:txBody>
          <a:bodyPr/>
          <a:lstStyle/>
          <a:p>
            <a:r>
              <a:rPr lang="en-GB" dirty="0"/>
              <a:t>Learning Aims</a:t>
            </a:r>
          </a:p>
        </p:txBody>
      </p:sp>
      <p:sp>
        <p:nvSpPr>
          <p:cNvPr id="3" name="Content Placeholder 2">
            <a:extLst>
              <a:ext uri="{FF2B5EF4-FFF2-40B4-BE49-F238E27FC236}">
                <a16:creationId xmlns:a16="http://schemas.microsoft.com/office/drawing/2014/main" id="{39C4C751-2303-A33B-6D58-45EC5ED22C4F}"/>
              </a:ext>
            </a:extLst>
          </p:cNvPr>
          <p:cNvSpPr>
            <a:spLocks noGrp="1"/>
          </p:cNvSpPr>
          <p:nvPr>
            <p:ph idx="1"/>
          </p:nvPr>
        </p:nvSpPr>
        <p:spPr/>
        <p:txBody>
          <a:bodyPr/>
          <a:lstStyle/>
          <a:p>
            <a:pPr marL="0" indent="0">
              <a:buNone/>
            </a:pPr>
            <a:r>
              <a:rPr lang="en-GB" b="1" dirty="0"/>
              <a:t>Functions of an operating system</a:t>
            </a:r>
          </a:p>
          <a:p>
            <a:pPr marL="0" indent="0">
              <a:buNone/>
            </a:pPr>
            <a:r>
              <a:rPr lang="en-GB" dirty="0"/>
              <a:t>• Understand the function and purpose of an operating system</a:t>
            </a:r>
          </a:p>
          <a:p>
            <a:pPr marL="0" indent="0">
              <a:buNone/>
            </a:pPr>
            <a:r>
              <a:rPr lang="en-GB" dirty="0"/>
              <a:t>• Describe memory management (paging, segmentation and virtual memory)</a:t>
            </a:r>
          </a:p>
          <a:p>
            <a:pPr marL="0" indent="0">
              <a:buNone/>
            </a:pPr>
            <a:r>
              <a:rPr lang="en-GB" dirty="0"/>
              <a:t>• Describe the role of interrupts</a:t>
            </a:r>
          </a:p>
          <a:p>
            <a:pPr marL="0" indent="0">
              <a:buNone/>
            </a:pPr>
            <a:r>
              <a:rPr lang="en-GB" dirty="0"/>
              <a:t>• Describe the role of an Interrupt Service Routine (ISR) within the fetch-decode-execute cycle</a:t>
            </a:r>
          </a:p>
          <a:p>
            <a:pPr marL="0" indent="0">
              <a:buNone/>
            </a:pPr>
            <a:r>
              <a:rPr lang="en-GB" dirty="0"/>
              <a:t>• Describe the need for processor scheduling algorithms</a:t>
            </a:r>
          </a:p>
          <a:p>
            <a:pPr marL="0" indent="0">
              <a:buNone/>
            </a:pPr>
            <a:r>
              <a:rPr lang="en-GB" dirty="0"/>
              <a:t>• Describe scheduling algorithms: round robin, first come first served, multi-level feedback queues, shortest job first and shortest remaining time</a:t>
            </a:r>
          </a:p>
        </p:txBody>
      </p:sp>
    </p:spTree>
    <p:extLst>
      <p:ext uri="{BB962C8B-B14F-4D97-AF65-F5344CB8AC3E}">
        <p14:creationId xmlns:p14="http://schemas.microsoft.com/office/powerpoint/2010/main" val="19304654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DCB6D-6B4B-23A3-5275-C3E942620027}"/>
              </a:ext>
            </a:extLst>
          </p:cNvPr>
          <p:cNvSpPr>
            <a:spLocks noGrp="1"/>
          </p:cNvSpPr>
          <p:nvPr>
            <p:ph type="title"/>
          </p:nvPr>
        </p:nvSpPr>
        <p:spPr/>
        <p:txBody>
          <a:bodyPr>
            <a:normAutofit/>
          </a:bodyPr>
          <a:lstStyle/>
          <a:p>
            <a:r>
              <a:rPr lang="en-GB" dirty="0"/>
              <a:t>Operating system</a:t>
            </a:r>
          </a:p>
        </p:txBody>
      </p:sp>
      <p:sp>
        <p:nvSpPr>
          <p:cNvPr id="3" name="Content Placeholder 2">
            <a:extLst>
              <a:ext uri="{FF2B5EF4-FFF2-40B4-BE49-F238E27FC236}">
                <a16:creationId xmlns:a16="http://schemas.microsoft.com/office/drawing/2014/main" id="{46F16A47-2D84-B23C-6123-971735E31427}"/>
              </a:ext>
            </a:extLst>
          </p:cNvPr>
          <p:cNvSpPr>
            <a:spLocks noGrp="1"/>
          </p:cNvSpPr>
          <p:nvPr>
            <p:ph sz="quarter" idx="13"/>
          </p:nvPr>
        </p:nvSpPr>
        <p:spPr/>
        <p:txBody>
          <a:bodyPr/>
          <a:lstStyle/>
          <a:p>
            <a:pPr marL="0" indent="0">
              <a:lnSpc>
                <a:spcPct val="150000"/>
              </a:lnSpc>
              <a:buNone/>
            </a:pPr>
            <a:r>
              <a:rPr lang="en-GB" dirty="0"/>
              <a:t>The OS is a set of programs that lies between applications software and the computer hardware and has many different functions, including:</a:t>
            </a:r>
          </a:p>
          <a:p>
            <a:pPr marL="0" indent="0">
              <a:lnSpc>
                <a:spcPct val="150000"/>
              </a:lnSpc>
              <a:buNone/>
            </a:pPr>
            <a:r>
              <a:rPr lang="en-GB" dirty="0"/>
              <a:t>• </a:t>
            </a:r>
            <a:r>
              <a:rPr lang="en-GB" b="1" dirty="0"/>
              <a:t>resource management </a:t>
            </a:r>
            <a:r>
              <a:rPr lang="en-GB" dirty="0"/>
              <a:t>– managing all the computer hardware including the CPU, memory, disk drives, keyboard, monitor, printer and other peripheral devices</a:t>
            </a:r>
          </a:p>
          <a:p>
            <a:pPr>
              <a:lnSpc>
                <a:spcPct val="150000"/>
              </a:lnSpc>
            </a:pPr>
            <a:r>
              <a:rPr lang="en-GB" b="1" dirty="0"/>
              <a:t>provision of a user interface </a:t>
            </a:r>
            <a:r>
              <a:rPr lang="en-GB" dirty="0"/>
              <a:t>(e.g. Windows) to enable users to perform tasks such as running application software, changing settings on the computer, downloading and installing new software, etc.</a:t>
            </a:r>
          </a:p>
          <a:p>
            <a:pPr marL="0" indent="0">
              <a:buNone/>
            </a:pPr>
            <a:endParaRPr lang="en-GB" dirty="0"/>
          </a:p>
        </p:txBody>
      </p:sp>
    </p:spTree>
    <p:extLst>
      <p:ext uri="{BB962C8B-B14F-4D97-AF65-F5344CB8AC3E}">
        <p14:creationId xmlns:p14="http://schemas.microsoft.com/office/powerpoint/2010/main" val="1576000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F675C-436D-A152-E1D0-C39C1C79922D}"/>
              </a:ext>
            </a:extLst>
          </p:cNvPr>
          <p:cNvSpPr>
            <a:spLocks noGrp="1"/>
          </p:cNvSpPr>
          <p:nvPr>
            <p:ph type="title"/>
          </p:nvPr>
        </p:nvSpPr>
        <p:spPr>
          <a:xfrm>
            <a:off x="3314" y="1"/>
            <a:ext cx="12188687" cy="681037"/>
          </a:xfrm>
        </p:spPr>
        <p:txBody>
          <a:bodyPr anchor="ctr">
            <a:normAutofit/>
          </a:bodyPr>
          <a:lstStyle/>
          <a:p>
            <a:r>
              <a:rPr lang="en-GB" dirty="0"/>
              <a:t>What is an operating system?</a:t>
            </a:r>
          </a:p>
        </p:txBody>
      </p:sp>
      <p:sp>
        <p:nvSpPr>
          <p:cNvPr id="3" name="Content Placeholder 2">
            <a:extLst>
              <a:ext uri="{FF2B5EF4-FFF2-40B4-BE49-F238E27FC236}">
                <a16:creationId xmlns:a16="http://schemas.microsoft.com/office/drawing/2014/main" id="{8C5CFAF2-D349-D368-FE7C-472B969B6754}"/>
              </a:ext>
            </a:extLst>
          </p:cNvPr>
          <p:cNvSpPr>
            <a:spLocks noGrp="1"/>
          </p:cNvSpPr>
          <p:nvPr>
            <p:ph sz="quarter" idx="13"/>
          </p:nvPr>
        </p:nvSpPr>
        <p:spPr>
          <a:xfrm>
            <a:off x="367748" y="1020159"/>
            <a:ext cx="5629689" cy="5022835"/>
          </a:xfrm>
        </p:spPr>
        <p:txBody>
          <a:bodyPr>
            <a:normAutofit/>
          </a:bodyPr>
          <a:lstStyle/>
          <a:p>
            <a:r>
              <a:rPr lang="en-GB" dirty="0"/>
              <a:t>An </a:t>
            </a:r>
            <a:r>
              <a:rPr lang="en-GB" b="1" dirty="0"/>
              <a:t>operating system </a:t>
            </a:r>
            <a:r>
              <a:rPr lang="en-GB" dirty="0"/>
              <a:t>is </a:t>
            </a:r>
            <a:r>
              <a:rPr lang="en-GB" b="1" dirty="0"/>
              <a:t>a program or set of programs </a:t>
            </a:r>
            <a:r>
              <a:rPr lang="en-GB" dirty="0"/>
              <a:t>that manages the </a:t>
            </a:r>
            <a:r>
              <a:rPr lang="en-GB" b="1" dirty="0"/>
              <a:t>operations</a:t>
            </a:r>
            <a:r>
              <a:rPr lang="en-GB" dirty="0"/>
              <a:t> of the computer for the user. </a:t>
            </a:r>
          </a:p>
          <a:p>
            <a:r>
              <a:rPr lang="en-GB" dirty="0"/>
              <a:t>It acts as a bridge between the user and the computer’s hardware, since a user cannot communicate with hardware directly.</a:t>
            </a:r>
          </a:p>
          <a:p>
            <a:r>
              <a:rPr lang="en-GB" dirty="0"/>
              <a:t>The operating system is held in permanent storage, for example on a hard disk. </a:t>
            </a:r>
          </a:p>
          <a:p>
            <a:r>
              <a:rPr lang="en-GB" dirty="0"/>
              <a:t>A small program called the </a:t>
            </a:r>
            <a:r>
              <a:rPr lang="en-GB" b="1" dirty="0"/>
              <a:t>loader</a:t>
            </a:r>
            <a:r>
              <a:rPr lang="en-GB" dirty="0"/>
              <a:t> is held in ROM. </a:t>
            </a:r>
          </a:p>
          <a:p>
            <a:r>
              <a:rPr lang="en-GB" dirty="0"/>
              <a:t>When a computer is switched on, the loader in ROM sends instructions to load the operating system by copying it from storage into RAM.</a:t>
            </a:r>
          </a:p>
        </p:txBody>
      </p:sp>
      <p:pic>
        <p:nvPicPr>
          <p:cNvPr id="3074" name="Picture 2" descr="organisation of application layer, operating system components, and input/output">
            <a:extLst>
              <a:ext uri="{FF2B5EF4-FFF2-40B4-BE49-F238E27FC236}">
                <a16:creationId xmlns:a16="http://schemas.microsoft.com/office/drawing/2014/main" id="{F03907E1-34C8-48D5-95CF-0F8FFCB854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 b="3784"/>
          <a:stretch/>
        </p:blipFill>
        <p:spPr bwMode="auto">
          <a:xfrm>
            <a:off x="6187937" y="1020159"/>
            <a:ext cx="5629689" cy="5022835"/>
          </a:xfrm>
          <a:prstGeom prst="rect">
            <a:avLst/>
          </a:prstGeom>
          <a:solidFill>
            <a:srgbClr val="FFFFFF"/>
          </a:solidFill>
        </p:spPr>
      </p:pic>
    </p:spTree>
    <p:extLst>
      <p:ext uri="{BB962C8B-B14F-4D97-AF65-F5344CB8AC3E}">
        <p14:creationId xmlns:p14="http://schemas.microsoft.com/office/powerpoint/2010/main" val="3519765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A35EF-8FD8-AEAB-E839-DBF05C0A74AE}"/>
              </a:ext>
            </a:extLst>
          </p:cNvPr>
          <p:cNvSpPr>
            <a:spLocks noGrp="1"/>
          </p:cNvSpPr>
          <p:nvPr>
            <p:ph type="title"/>
          </p:nvPr>
        </p:nvSpPr>
        <p:spPr/>
        <p:txBody>
          <a:bodyPr>
            <a:normAutofit/>
          </a:bodyPr>
          <a:lstStyle/>
          <a:p>
            <a:r>
              <a:rPr lang="en-GB" dirty="0"/>
              <a:t>Functions of an operating system</a:t>
            </a:r>
          </a:p>
        </p:txBody>
      </p:sp>
      <p:sp>
        <p:nvSpPr>
          <p:cNvPr id="7" name="Content Placeholder 6">
            <a:extLst>
              <a:ext uri="{FF2B5EF4-FFF2-40B4-BE49-F238E27FC236}">
                <a16:creationId xmlns:a16="http://schemas.microsoft.com/office/drawing/2014/main" id="{301ABFA8-C2CC-41DA-113D-629AC9C2A4E0}"/>
              </a:ext>
            </a:extLst>
          </p:cNvPr>
          <p:cNvSpPr>
            <a:spLocks noGrp="1"/>
          </p:cNvSpPr>
          <p:nvPr>
            <p:ph sz="quarter" idx="13"/>
          </p:nvPr>
        </p:nvSpPr>
        <p:spPr/>
        <p:txBody>
          <a:bodyPr>
            <a:normAutofit/>
          </a:bodyPr>
          <a:lstStyle/>
          <a:p>
            <a:pPr marL="0" indent="0">
              <a:buNone/>
            </a:pPr>
            <a:endParaRPr lang="en-GB" dirty="0"/>
          </a:p>
          <a:p>
            <a:pPr algn="l">
              <a:buFont typeface="Arial" panose="020B0604020202020204" pitchFamily="34" charset="0"/>
              <a:buChar char="•"/>
            </a:pPr>
            <a:r>
              <a:rPr lang="en-GB" sz="2800" i="0" dirty="0">
                <a:solidFill>
                  <a:srgbClr val="323232"/>
                </a:solidFill>
                <a:effectLst/>
                <a:latin typeface="+mj-lt"/>
              </a:rPr>
              <a:t>Resource management</a:t>
            </a:r>
          </a:p>
          <a:p>
            <a:pPr algn="l">
              <a:buFont typeface="Arial" panose="020B0604020202020204" pitchFamily="34" charset="0"/>
              <a:buChar char="•"/>
            </a:pPr>
            <a:r>
              <a:rPr lang="en-GB" sz="2800" i="0" dirty="0">
                <a:solidFill>
                  <a:srgbClr val="323232"/>
                </a:solidFill>
                <a:effectLst/>
                <a:latin typeface="+mj-lt"/>
              </a:rPr>
              <a:t>File management</a:t>
            </a:r>
          </a:p>
          <a:p>
            <a:pPr algn="l">
              <a:buFont typeface="Arial" panose="020B0604020202020204" pitchFamily="34" charset="0"/>
              <a:buChar char="•"/>
            </a:pPr>
            <a:r>
              <a:rPr lang="en-GB" sz="2800" i="0" dirty="0">
                <a:solidFill>
                  <a:srgbClr val="323232"/>
                </a:solidFill>
                <a:effectLst/>
                <a:latin typeface="+mj-lt"/>
              </a:rPr>
              <a:t>Interrupt handling</a:t>
            </a:r>
          </a:p>
          <a:p>
            <a:pPr algn="l">
              <a:buFont typeface="Arial" panose="020B0604020202020204" pitchFamily="34" charset="0"/>
              <a:buChar char="•"/>
            </a:pPr>
            <a:r>
              <a:rPr lang="en-GB" sz="2800" i="0" dirty="0">
                <a:solidFill>
                  <a:srgbClr val="323232"/>
                </a:solidFill>
                <a:effectLst/>
                <a:latin typeface="+mj-lt"/>
              </a:rPr>
              <a:t>Security</a:t>
            </a:r>
          </a:p>
          <a:p>
            <a:pPr algn="l">
              <a:buFont typeface="Arial" panose="020B0604020202020204" pitchFamily="34" charset="0"/>
              <a:buChar char="•"/>
            </a:pPr>
            <a:r>
              <a:rPr lang="en-GB" sz="2800" i="0" dirty="0">
                <a:solidFill>
                  <a:srgbClr val="323232"/>
                </a:solidFill>
                <a:effectLst/>
                <a:latin typeface="+mj-lt"/>
              </a:rPr>
              <a:t>Providing a platform for software to run</a:t>
            </a:r>
          </a:p>
          <a:p>
            <a:pPr algn="l">
              <a:buFont typeface="Arial" panose="020B0604020202020204" pitchFamily="34" charset="0"/>
              <a:buChar char="•"/>
            </a:pPr>
            <a:r>
              <a:rPr lang="en-GB" sz="2800" i="0" dirty="0">
                <a:solidFill>
                  <a:srgbClr val="323232"/>
                </a:solidFill>
                <a:effectLst/>
                <a:latin typeface="+mj-lt"/>
              </a:rPr>
              <a:t>Providing a user interface</a:t>
            </a:r>
          </a:p>
          <a:p>
            <a:pPr algn="l">
              <a:buFont typeface="Arial" panose="020B0604020202020204" pitchFamily="34" charset="0"/>
              <a:buChar char="•"/>
            </a:pPr>
            <a:r>
              <a:rPr lang="en-GB" sz="2800" i="0" dirty="0">
                <a:solidFill>
                  <a:srgbClr val="323232"/>
                </a:solidFill>
                <a:effectLst/>
                <a:latin typeface="+mj-lt"/>
              </a:rPr>
              <a:t>Providing utilities</a:t>
            </a:r>
          </a:p>
        </p:txBody>
      </p:sp>
    </p:spTree>
    <p:extLst>
      <p:ext uri="{BB962C8B-B14F-4D97-AF65-F5344CB8AC3E}">
        <p14:creationId xmlns:p14="http://schemas.microsoft.com/office/powerpoint/2010/main" val="40896550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B9933-5510-8CBD-A71D-573A65C91F6C}"/>
              </a:ext>
            </a:extLst>
          </p:cNvPr>
          <p:cNvSpPr>
            <a:spLocks noGrp="1"/>
          </p:cNvSpPr>
          <p:nvPr>
            <p:ph type="title"/>
          </p:nvPr>
        </p:nvSpPr>
        <p:spPr/>
        <p:txBody>
          <a:bodyPr>
            <a:normAutofit/>
          </a:bodyPr>
          <a:lstStyle/>
          <a:p>
            <a:r>
              <a:rPr lang="en-GB" dirty="0"/>
              <a:t>The basic functions of an operating system include the following:</a:t>
            </a:r>
          </a:p>
        </p:txBody>
      </p:sp>
      <p:sp>
        <p:nvSpPr>
          <p:cNvPr id="5" name="TextBox 4">
            <a:extLst>
              <a:ext uri="{FF2B5EF4-FFF2-40B4-BE49-F238E27FC236}">
                <a16:creationId xmlns:a16="http://schemas.microsoft.com/office/drawing/2014/main" id="{B7EBAA89-2163-4D9F-A974-1B8984C28B45}"/>
              </a:ext>
            </a:extLst>
          </p:cNvPr>
          <p:cNvSpPr txBox="1"/>
          <p:nvPr/>
        </p:nvSpPr>
        <p:spPr>
          <a:xfrm>
            <a:off x="128753" y="707090"/>
            <a:ext cx="3785475" cy="230832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effectLst/>
                <a:latin typeface="+mj-lt"/>
              </a:rPr>
              <a:t>Resource/memory management </a:t>
            </a:r>
          </a:p>
          <a:p>
            <a:r>
              <a:rPr lang="en-GB" sz="1800" dirty="0">
                <a:effectLst/>
                <a:latin typeface="+mj-lt"/>
              </a:rPr>
              <a:t>● Moving data between RAM and secondary storage/ virtual memory // paging and/or segmentation </a:t>
            </a:r>
          </a:p>
          <a:p>
            <a:r>
              <a:rPr lang="en-GB" sz="1800" dirty="0">
                <a:effectLst/>
                <a:latin typeface="+mj-lt"/>
              </a:rPr>
              <a:t>● Allocating/deallocating memory </a:t>
            </a:r>
          </a:p>
        </p:txBody>
      </p:sp>
      <p:sp>
        <p:nvSpPr>
          <p:cNvPr id="8" name="TextBox 7">
            <a:extLst>
              <a:ext uri="{FF2B5EF4-FFF2-40B4-BE49-F238E27FC236}">
                <a16:creationId xmlns:a16="http://schemas.microsoft.com/office/drawing/2014/main" id="{38080B79-278E-16DF-7649-5AC013ED067E}"/>
              </a:ext>
            </a:extLst>
          </p:cNvPr>
          <p:cNvSpPr txBox="1"/>
          <p:nvPr/>
        </p:nvSpPr>
        <p:spPr>
          <a:xfrm>
            <a:off x="8148144" y="933884"/>
            <a:ext cx="3962399"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effectLst/>
                <a:latin typeface="+mj-lt"/>
              </a:rPr>
              <a:t> Manage hardware/peripherals </a:t>
            </a:r>
          </a:p>
          <a:p>
            <a:r>
              <a:rPr lang="en-GB" sz="1800" dirty="0">
                <a:effectLst/>
                <a:latin typeface="+mj-lt"/>
              </a:rPr>
              <a:t>● Tracking all devices connected to the system </a:t>
            </a:r>
          </a:p>
          <a:p>
            <a:r>
              <a:rPr lang="en-GB" sz="1800" dirty="0">
                <a:effectLst/>
                <a:latin typeface="+mj-lt"/>
              </a:rPr>
              <a:t>● Device drivers </a:t>
            </a:r>
          </a:p>
        </p:txBody>
      </p:sp>
      <p:sp>
        <p:nvSpPr>
          <p:cNvPr id="10" name="TextBox 9">
            <a:extLst>
              <a:ext uri="{FF2B5EF4-FFF2-40B4-BE49-F238E27FC236}">
                <a16:creationId xmlns:a16="http://schemas.microsoft.com/office/drawing/2014/main" id="{90288DF5-CF1E-7E57-DA9B-657C4CA69392}"/>
              </a:ext>
            </a:extLst>
          </p:cNvPr>
          <p:cNvSpPr txBox="1"/>
          <p:nvPr/>
        </p:nvSpPr>
        <p:spPr>
          <a:xfrm>
            <a:off x="4282965" y="811281"/>
            <a:ext cx="3626069"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effectLst/>
                <a:latin typeface="+mj-lt"/>
              </a:rPr>
              <a:t>File management</a:t>
            </a:r>
          </a:p>
          <a:p>
            <a:r>
              <a:rPr lang="en-GB" sz="1800" dirty="0">
                <a:effectLst/>
                <a:latin typeface="+mj-lt"/>
              </a:rPr>
              <a:t>● Storing files in secondary storage </a:t>
            </a:r>
          </a:p>
          <a:p>
            <a:r>
              <a:rPr lang="en-GB" sz="1800" dirty="0">
                <a:effectLst/>
                <a:latin typeface="+mj-lt"/>
              </a:rPr>
              <a:t>● Searching for //copying // moving // renaming files/folders </a:t>
            </a:r>
          </a:p>
        </p:txBody>
      </p:sp>
      <p:sp>
        <p:nvSpPr>
          <p:cNvPr id="12" name="TextBox 11">
            <a:extLst>
              <a:ext uri="{FF2B5EF4-FFF2-40B4-BE49-F238E27FC236}">
                <a16:creationId xmlns:a16="http://schemas.microsoft.com/office/drawing/2014/main" id="{B5ABB90F-F85F-5C08-E4EB-165F0DBA184F}"/>
              </a:ext>
            </a:extLst>
          </p:cNvPr>
          <p:cNvSpPr txBox="1"/>
          <p:nvPr/>
        </p:nvSpPr>
        <p:spPr>
          <a:xfrm>
            <a:off x="8064060" y="2924310"/>
            <a:ext cx="4046483"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effectLst/>
                <a:latin typeface="+mj-lt"/>
              </a:rPr>
              <a:t>Security/user management</a:t>
            </a:r>
          </a:p>
          <a:p>
            <a:r>
              <a:rPr lang="en-GB" sz="1800" dirty="0">
                <a:effectLst/>
                <a:latin typeface="+mj-lt"/>
              </a:rPr>
              <a:t>● Controlling who can access the system //Managing user profiles </a:t>
            </a:r>
          </a:p>
          <a:p>
            <a:r>
              <a:rPr lang="en-GB" sz="1800" dirty="0">
                <a:effectLst/>
                <a:latin typeface="+mj-lt"/>
              </a:rPr>
              <a:t>● Controlling who can access certain resources on the system // Managing access rights </a:t>
            </a:r>
          </a:p>
        </p:txBody>
      </p:sp>
      <p:sp>
        <p:nvSpPr>
          <p:cNvPr id="14" name="TextBox 13">
            <a:extLst>
              <a:ext uri="{FF2B5EF4-FFF2-40B4-BE49-F238E27FC236}">
                <a16:creationId xmlns:a16="http://schemas.microsoft.com/office/drawing/2014/main" id="{5D2E5946-9B26-33F3-9304-522BA05EB0E3}"/>
              </a:ext>
            </a:extLst>
          </p:cNvPr>
          <p:cNvSpPr txBox="1"/>
          <p:nvPr/>
        </p:nvSpPr>
        <p:spPr>
          <a:xfrm>
            <a:off x="6748521" y="5262730"/>
            <a:ext cx="3499945"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effectLst/>
                <a:latin typeface="+mj-lt"/>
              </a:rPr>
              <a:t>Providing utilities</a:t>
            </a:r>
          </a:p>
          <a:p>
            <a:r>
              <a:rPr lang="en-GB" sz="1800" dirty="0">
                <a:effectLst/>
                <a:latin typeface="+mj-lt"/>
              </a:rPr>
              <a:t>● Used to monitor // manage // maintain the computer </a:t>
            </a:r>
          </a:p>
          <a:p>
            <a:r>
              <a:rPr lang="en-GB" sz="1800" dirty="0">
                <a:effectLst/>
                <a:latin typeface="+mj-lt"/>
              </a:rPr>
              <a:t>● To manage the security </a:t>
            </a:r>
          </a:p>
        </p:txBody>
      </p:sp>
      <p:sp>
        <p:nvSpPr>
          <p:cNvPr id="16" name="TextBox 15">
            <a:extLst>
              <a:ext uri="{FF2B5EF4-FFF2-40B4-BE49-F238E27FC236}">
                <a16:creationId xmlns:a16="http://schemas.microsoft.com/office/drawing/2014/main" id="{B31AD2C4-D25A-EA43-C105-6A2170982809}"/>
              </a:ext>
            </a:extLst>
          </p:cNvPr>
          <p:cNvSpPr txBox="1"/>
          <p:nvPr/>
        </p:nvSpPr>
        <p:spPr>
          <a:xfrm>
            <a:off x="550044" y="3244254"/>
            <a:ext cx="4021957" cy="1754326"/>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GB" sz="1800" b="1" kern="1200" dirty="0">
                <a:solidFill>
                  <a:schemeClr val="dk1"/>
                </a:solidFill>
                <a:effectLst/>
                <a:latin typeface="+mn-lt"/>
                <a:ea typeface="+mn-ea"/>
                <a:cs typeface="+mn-cs"/>
              </a:rPr>
              <a:t>Providing a platform on which to run software </a:t>
            </a:r>
          </a:p>
          <a:p>
            <a:r>
              <a:rPr lang="en-GB" sz="1800" kern="1200" dirty="0">
                <a:solidFill>
                  <a:schemeClr val="dk1"/>
                </a:solidFill>
                <a:effectLst/>
                <a:latin typeface="+mn-lt"/>
                <a:ea typeface="+mn-ea"/>
                <a:cs typeface="+mn-cs"/>
              </a:rPr>
              <a:t>● Allows additional software to be installed on the computer </a:t>
            </a:r>
          </a:p>
          <a:p>
            <a:r>
              <a:rPr lang="en-GB" sz="1800" kern="1200" dirty="0">
                <a:solidFill>
                  <a:schemeClr val="dk1"/>
                </a:solidFill>
                <a:effectLst/>
                <a:latin typeface="+mn-lt"/>
                <a:ea typeface="+mn-ea"/>
                <a:cs typeface="+mn-cs"/>
              </a:rPr>
              <a:t>● To allow the user to complete additional tasks </a:t>
            </a:r>
          </a:p>
        </p:txBody>
      </p:sp>
      <p:sp>
        <p:nvSpPr>
          <p:cNvPr id="18" name="TextBox 17">
            <a:extLst>
              <a:ext uri="{FF2B5EF4-FFF2-40B4-BE49-F238E27FC236}">
                <a16:creationId xmlns:a16="http://schemas.microsoft.com/office/drawing/2014/main" id="{E867828D-0FBC-7E34-FABF-29153E0EB1CF}"/>
              </a:ext>
            </a:extLst>
          </p:cNvPr>
          <p:cNvSpPr txBox="1"/>
          <p:nvPr/>
        </p:nvSpPr>
        <p:spPr>
          <a:xfrm>
            <a:off x="1703550" y="5262730"/>
            <a:ext cx="3739931" cy="120032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effectLst/>
                <a:latin typeface="+mj-lt"/>
              </a:rPr>
              <a:t>Provide a user interface</a:t>
            </a:r>
          </a:p>
          <a:p>
            <a:r>
              <a:rPr lang="en-GB" sz="1800" dirty="0">
                <a:effectLst/>
                <a:latin typeface="+mj-lt"/>
              </a:rPr>
              <a:t>● Allowing the user to interact with the software/hardware/computer </a:t>
            </a:r>
          </a:p>
        </p:txBody>
      </p:sp>
      <p:sp>
        <p:nvSpPr>
          <p:cNvPr id="19" name="Oval 18">
            <a:extLst>
              <a:ext uri="{FF2B5EF4-FFF2-40B4-BE49-F238E27FC236}">
                <a16:creationId xmlns:a16="http://schemas.microsoft.com/office/drawing/2014/main" id="{84AF5053-AB12-3259-E93A-910F8F83D121}"/>
              </a:ext>
            </a:extLst>
          </p:cNvPr>
          <p:cNvSpPr/>
          <p:nvPr/>
        </p:nvSpPr>
        <p:spPr>
          <a:xfrm>
            <a:off x="4971393" y="2790996"/>
            <a:ext cx="2154621" cy="2020955"/>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t>Basic functions</a:t>
            </a:r>
          </a:p>
          <a:p>
            <a:pPr algn="ctr"/>
            <a:r>
              <a:rPr lang="en-GB" dirty="0"/>
              <a:t>Of OS</a:t>
            </a:r>
          </a:p>
        </p:txBody>
      </p:sp>
    </p:spTree>
    <p:extLst>
      <p:ext uri="{BB962C8B-B14F-4D97-AF65-F5344CB8AC3E}">
        <p14:creationId xmlns:p14="http://schemas.microsoft.com/office/powerpoint/2010/main" val="29774072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A539C3CF-B3C7-9161-CFFC-85627B33DF28}"/>
              </a:ext>
            </a:extLst>
          </p:cNvPr>
          <p:cNvGraphicFramePr>
            <a:graphicFrameLocks noGrp="1"/>
          </p:cNvGraphicFramePr>
          <p:nvPr>
            <p:extLst>
              <p:ext uri="{D42A27DB-BD31-4B8C-83A1-F6EECF244321}">
                <p14:modId xmlns:p14="http://schemas.microsoft.com/office/powerpoint/2010/main" val="1835718959"/>
              </p:ext>
            </p:extLst>
          </p:nvPr>
        </p:nvGraphicFramePr>
        <p:xfrm>
          <a:off x="128708" y="76200"/>
          <a:ext cx="11662735" cy="6461760"/>
        </p:xfrm>
        <a:graphic>
          <a:graphicData uri="http://schemas.openxmlformats.org/drawingml/2006/table">
            <a:tbl>
              <a:tblPr firstRow="1" bandRow="1">
                <a:tableStyleId>{5940675A-B579-460E-94D1-54222C63F5DA}</a:tableStyleId>
              </a:tblPr>
              <a:tblGrid>
                <a:gridCol w="2866523">
                  <a:extLst>
                    <a:ext uri="{9D8B030D-6E8A-4147-A177-3AD203B41FA5}">
                      <a16:colId xmlns:a16="http://schemas.microsoft.com/office/drawing/2014/main" val="248616673"/>
                    </a:ext>
                  </a:extLst>
                </a:gridCol>
                <a:gridCol w="8796212">
                  <a:extLst>
                    <a:ext uri="{9D8B030D-6E8A-4147-A177-3AD203B41FA5}">
                      <a16:colId xmlns:a16="http://schemas.microsoft.com/office/drawing/2014/main" val="366262867"/>
                    </a:ext>
                  </a:extLst>
                </a:gridCol>
              </a:tblGrid>
              <a:tr h="370840">
                <a:tc>
                  <a:txBody>
                    <a:bodyPr/>
                    <a:lstStyle/>
                    <a:p>
                      <a:pPr marL="0" marR="0" lvl="0" indent="0" algn="l" defTabSz="514350" rtl="0" eaLnBrk="1" fontAlgn="auto" latinLnBrk="0" hangingPunct="1">
                        <a:lnSpc>
                          <a:spcPct val="100000"/>
                        </a:lnSpc>
                        <a:spcBef>
                          <a:spcPts val="0"/>
                        </a:spcBef>
                        <a:spcAft>
                          <a:spcPts val="0"/>
                        </a:spcAft>
                        <a:buClrTx/>
                        <a:buSzTx/>
                        <a:buFontTx/>
                        <a:buNone/>
                        <a:tabLst/>
                        <a:defRPr/>
                      </a:pPr>
                      <a:r>
                        <a:rPr lang="en-GB" sz="1600" b="1" dirty="0">
                          <a:solidFill>
                            <a:schemeClr val="tx1"/>
                          </a:solidFill>
                          <a:latin typeface="+mj-lt"/>
                        </a:rPr>
                        <a:t>Resource management</a:t>
                      </a:r>
                      <a:endParaRPr lang="en-GB" sz="1600" dirty="0">
                        <a:solidFill>
                          <a:schemeClr val="tx1"/>
                        </a:solidFill>
                        <a:latin typeface="+mj-lt"/>
                      </a:endParaRPr>
                    </a:p>
                    <a:p>
                      <a:endParaRPr lang="en-GB" sz="1600" dirty="0">
                        <a:solidFill>
                          <a:schemeClr val="tx1"/>
                        </a:solidFill>
                        <a:latin typeface="+mj-lt"/>
                      </a:endParaRPr>
                    </a:p>
                  </a:txBody>
                  <a:tcPr/>
                </a:tc>
                <a:tc>
                  <a:txBody>
                    <a:bodyPr/>
                    <a:lstStyle/>
                    <a:p>
                      <a:pPr marL="285750" indent="-285750" algn="l">
                        <a:buFont typeface="Arial" panose="020B0604020202020204" pitchFamily="34" charset="0"/>
                        <a:buChar char="•"/>
                      </a:pPr>
                      <a:r>
                        <a:rPr lang="en-GB" sz="1600" b="0" dirty="0">
                          <a:solidFill>
                            <a:schemeClr val="tx1"/>
                          </a:solidFill>
                          <a:effectLst/>
                          <a:latin typeface="+mj-lt"/>
                        </a:rPr>
                        <a:t>Operating systems manage the computer's resources, including the CPU, memory, disk drives, and printers</a:t>
                      </a:r>
                    </a:p>
                    <a:p>
                      <a:pPr marL="285750" indent="-285750" algn="l">
                        <a:buFont typeface="Arial" panose="020B0604020202020204" pitchFamily="34" charset="0"/>
                        <a:buChar char="•"/>
                      </a:pPr>
                      <a:r>
                        <a:rPr lang="en-GB" sz="1600" b="0" dirty="0">
                          <a:solidFill>
                            <a:schemeClr val="tx1"/>
                          </a:solidFill>
                          <a:effectLst/>
                          <a:latin typeface="+mj-lt"/>
                        </a:rPr>
                        <a:t>They allocate resources to specific tasks and ensure that they are used effectively</a:t>
                      </a:r>
                    </a:p>
                    <a:p>
                      <a:pPr marL="285750" indent="-285750" algn="l">
                        <a:buFont typeface="Arial" panose="020B0604020202020204" pitchFamily="34" charset="0"/>
                        <a:buChar char="•"/>
                      </a:pPr>
                      <a:r>
                        <a:rPr lang="en-GB" sz="1600" b="0" dirty="0">
                          <a:solidFill>
                            <a:schemeClr val="tx1"/>
                          </a:solidFill>
                          <a:effectLst/>
                          <a:latin typeface="+mj-lt"/>
                        </a:rPr>
                        <a:t>e.g. when a user opens multiple applications simultaneously, the operating system decides:</a:t>
                      </a:r>
                    </a:p>
                    <a:p>
                      <a:pPr marL="742950" lvl="1" indent="-285750" algn="l">
                        <a:buFont typeface="Arial" panose="020B0604020202020204" pitchFamily="34" charset="0"/>
                        <a:buChar char="•"/>
                      </a:pPr>
                      <a:r>
                        <a:rPr lang="en-GB" sz="1600" b="1" dirty="0">
                          <a:solidFill>
                            <a:schemeClr val="tx1"/>
                          </a:solidFill>
                          <a:effectLst/>
                          <a:latin typeface="+mj-lt"/>
                        </a:rPr>
                        <a:t>How much memory to allocate to each application</a:t>
                      </a:r>
                      <a:endParaRPr lang="en-GB" sz="1600" b="0" dirty="0">
                        <a:solidFill>
                          <a:schemeClr val="tx1"/>
                        </a:solidFill>
                        <a:effectLst/>
                        <a:latin typeface="+mj-lt"/>
                      </a:endParaRPr>
                    </a:p>
                    <a:p>
                      <a:pPr marL="742950" lvl="1" indent="-285750" algn="l">
                        <a:buFont typeface="Arial" panose="020B0604020202020204" pitchFamily="34" charset="0"/>
                        <a:buChar char="•"/>
                      </a:pPr>
                      <a:r>
                        <a:rPr lang="en-GB" sz="1600" b="1" dirty="0">
                          <a:solidFill>
                            <a:schemeClr val="tx1"/>
                          </a:solidFill>
                          <a:effectLst/>
                          <a:latin typeface="+mj-lt"/>
                        </a:rPr>
                        <a:t>When and for how long each gets to use the CPU</a:t>
                      </a:r>
                      <a:endParaRPr lang="en-GB" sz="1600" b="0" dirty="0">
                        <a:solidFill>
                          <a:schemeClr val="tx1"/>
                        </a:solidFill>
                        <a:effectLst/>
                        <a:latin typeface="+mj-lt"/>
                      </a:endParaRPr>
                    </a:p>
                    <a:p>
                      <a:pPr marL="742950" lvl="1" indent="-285750" algn="l">
                        <a:buFont typeface="Arial" panose="020B0604020202020204" pitchFamily="34" charset="0"/>
                        <a:buChar char="•"/>
                      </a:pPr>
                      <a:r>
                        <a:rPr lang="en-GB" sz="1600" b="1" dirty="0">
                          <a:solidFill>
                            <a:schemeClr val="tx1"/>
                          </a:solidFill>
                          <a:effectLst/>
                          <a:latin typeface="+mj-lt"/>
                        </a:rPr>
                        <a:t>How to handle data being read from or written to the hard drive.</a:t>
                      </a:r>
                      <a:endParaRPr lang="en-GB" sz="1600" b="0" dirty="0">
                        <a:solidFill>
                          <a:schemeClr val="tx1"/>
                        </a:solidFill>
                        <a:effectLst/>
                        <a:latin typeface="+mj-lt"/>
                      </a:endParaRPr>
                    </a:p>
                  </a:txBody>
                  <a:tcPr/>
                </a:tc>
                <a:extLst>
                  <a:ext uri="{0D108BD9-81ED-4DB2-BD59-A6C34878D82A}">
                    <a16:rowId xmlns:a16="http://schemas.microsoft.com/office/drawing/2014/main" val="591985510"/>
                  </a:ext>
                </a:extLst>
              </a:tr>
              <a:tr h="370840">
                <a:tc>
                  <a:txBody>
                    <a:bodyPr/>
                    <a:lstStyle/>
                    <a:p>
                      <a:pPr algn="l">
                        <a:buNone/>
                      </a:pPr>
                      <a:r>
                        <a:rPr lang="en-GB" sz="1600" b="1" i="0" dirty="0">
                          <a:solidFill>
                            <a:schemeClr val="tx1"/>
                          </a:solidFill>
                          <a:effectLst/>
                          <a:latin typeface="+mj-lt"/>
                        </a:rPr>
                        <a:t>File management</a:t>
                      </a:r>
                    </a:p>
                    <a:p>
                      <a:endParaRPr lang="en-GB" sz="1600" dirty="0">
                        <a:solidFill>
                          <a:schemeClr val="tx1"/>
                        </a:solidFill>
                        <a:latin typeface="+mj-lt"/>
                      </a:endParaRPr>
                    </a:p>
                  </a:txBody>
                  <a:tcPr/>
                </a:tc>
                <a:tc>
                  <a:txBody>
                    <a:bodyPr/>
                    <a:lstStyle/>
                    <a:p>
                      <a:pPr marL="285750" indent="-285750" algn="l">
                        <a:buFont typeface="Arial" panose="020B0604020202020204" pitchFamily="34" charset="0"/>
                        <a:buChar char="•"/>
                      </a:pPr>
                      <a:r>
                        <a:rPr lang="en-GB" sz="1600" b="0" i="0" dirty="0">
                          <a:solidFill>
                            <a:schemeClr val="tx1"/>
                          </a:solidFill>
                          <a:effectLst/>
                          <a:latin typeface="+mj-lt"/>
                        </a:rPr>
                        <a:t>Operating systems handle the storage, retrieval, and manipulation of data files</a:t>
                      </a:r>
                    </a:p>
                    <a:p>
                      <a:pPr marL="285750" indent="-285750" algn="l">
                        <a:buFont typeface="Arial" panose="020B0604020202020204" pitchFamily="34" charset="0"/>
                        <a:buChar char="•"/>
                      </a:pPr>
                      <a:r>
                        <a:rPr lang="en-GB" sz="1600" b="0" i="0" dirty="0">
                          <a:solidFill>
                            <a:schemeClr val="tx1"/>
                          </a:solidFill>
                          <a:effectLst/>
                          <a:latin typeface="+mj-lt"/>
                        </a:rPr>
                        <a:t>When working with files, operating systems provide a GUI of the file system that allows a user to decide which directory a file should be saved in and what the file name will be</a:t>
                      </a:r>
                    </a:p>
                  </a:txBody>
                  <a:tcPr/>
                </a:tc>
                <a:extLst>
                  <a:ext uri="{0D108BD9-81ED-4DB2-BD59-A6C34878D82A}">
                    <a16:rowId xmlns:a16="http://schemas.microsoft.com/office/drawing/2014/main" val="1036676448"/>
                  </a:ext>
                </a:extLst>
              </a:tr>
              <a:tr h="370840">
                <a:tc>
                  <a:txBody>
                    <a:bodyPr/>
                    <a:lstStyle/>
                    <a:p>
                      <a:pPr algn="l">
                        <a:buNone/>
                      </a:pPr>
                      <a:r>
                        <a:rPr lang="en-GB" sz="1600" b="1" i="0" dirty="0">
                          <a:solidFill>
                            <a:schemeClr val="tx1"/>
                          </a:solidFill>
                          <a:effectLst/>
                          <a:latin typeface="+mj-lt"/>
                        </a:rPr>
                        <a:t>Interrupt handling</a:t>
                      </a:r>
                    </a:p>
                    <a:p>
                      <a:endParaRPr lang="en-GB" sz="1600" dirty="0">
                        <a:solidFill>
                          <a:schemeClr val="tx1"/>
                        </a:solidFill>
                        <a:latin typeface="+mj-lt"/>
                      </a:endParaRPr>
                    </a:p>
                  </a:txBody>
                  <a:tcPr/>
                </a:tc>
                <a:tc>
                  <a:txBody>
                    <a:bodyPr/>
                    <a:lstStyle/>
                    <a:p>
                      <a:pPr marL="285750" indent="-285750" algn="l">
                        <a:buFont typeface="Arial" panose="020B0604020202020204" pitchFamily="34" charset="0"/>
                        <a:buChar char="•"/>
                      </a:pPr>
                      <a:r>
                        <a:rPr lang="en-GB" sz="1600" b="0" i="0" dirty="0">
                          <a:solidFill>
                            <a:schemeClr val="tx1"/>
                          </a:solidFill>
                          <a:effectLst/>
                          <a:latin typeface="+mj-lt"/>
                        </a:rPr>
                        <a:t>Interrupt events require the immediate attention of the central processing unit</a:t>
                      </a:r>
                    </a:p>
                    <a:p>
                      <a:pPr marL="285750" indent="-285750" algn="l">
                        <a:buFont typeface="Arial" panose="020B0604020202020204" pitchFamily="34" charset="0"/>
                        <a:buChar char="•"/>
                      </a:pPr>
                      <a:r>
                        <a:rPr lang="en-GB" sz="1600" b="0" i="0" dirty="0">
                          <a:solidFill>
                            <a:schemeClr val="tx1"/>
                          </a:solidFill>
                          <a:effectLst/>
                          <a:latin typeface="+mj-lt"/>
                        </a:rPr>
                        <a:t>In order to maintain the smooth running of the system, interrupts need to be handled and processed in a timely manner</a:t>
                      </a:r>
                    </a:p>
                    <a:p>
                      <a:pPr marL="285750" indent="-285750" algn="l">
                        <a:buFont typeface="Arial" panose="020B0604020202020204" pitchFamily="34" charset="0"/>
                        <a:buChar char="•"/>
                      </a:pPr>
                      <a:r>
                        <a:rPr lang="en-GB" sz="1600" b="0" i="0" dirty="0">
                          <a:solidFill>
                            <a:schemeClr val="tx1"/>
                          </a:solidFill>
                          <a:effectLst/>
                          <a:latin typeface="+mj-lt"/>
                        </a:rPr>
                        <a:t>E.g. if a user clicks cancel on a file conversion process, a signal is sent from the mouse, interrupts the processor, and the operating system will trigger the cancellation routine</a:t>
                      </a:r>
                    </a:p>
                  </a:txBody>
                  <a:tcPr/>
                </a:tc>
                <a:extLst>
                  <a:ext uri="{0D108BD9-81ED-4DB2-BD59-A6C34878D82A}">
                    <a16:rowId xmlns:a16="http://schemas.microsoft.com/office/drawing/2014/main" val="4109479456"/>
                  </a:ext>
                </a:extLst>
              </a:tr>
              <a:tr h="370840">
                <a:tc>
                  <a:txBody>
                    <a:bodyPr/>
                    <a:lstStyle/>
                    <a:p>
                      <a:pPr algn="l">
                        <a:buNone/>
                      </a:pPr>
                      <a:r>
                        <a:rPr lang="en-GB" sz="1600" b="1" i="0" dirty="0">
                          <a:solidFill>
                            <a:schemeClr val="tx1"/>
                          </a:solidFill>
                          <a:effectLst/>
                          <a:latin typeface="+mj-lt"/>
                        </a:rPr>
                        <a:t>Security</a:t>
                      </a:r>
                    </a:p>
                    <a:p>
                      <a:endParaRPr lang="en-GB" sz="1600" dirty="0">
                        <a:solidFill>
                          <a:schemeClr val="tx1"/>
                        </a:solidFill>
                        <a:latin typeface="+mj-lt"/>
                      </a:endParaRPr>
                    </a:p>
                  </a:txBody>
                  <a:tcPr/>
                </a:tc>
                <a:tc>
                  <a:txBody>
                    <a:bodyPr/>
                    <a:lstStyle/>
                    <a:p>
                      <a:pPr marL="285750" indent="-285750" algn="l">
                        <a:buFont typeface="Arial" panose="020B0604020202020204" pitchFamily="34" charset="0"/>
                        <a:buChar char="•"/>
                      </a:pPr>
                      <a:r>
                        <a:rPr lang="en-GB" sz="1600" b="0" i="0" dirty="0">
                          <a:solidFill>
                            <a:schemeClr val="tx1"/>
                          </a:solidFill>
                          <a:effectLst/>
                          <a:latin typeface="+mj-lt"/>
                        </a:rPr>
                        <a:t>Operating systems provide various security features such as password-protected system accounts, a </a:t>
                      </a:r>
                      <a:r>
                        <a:rPr lang="en-GB" sz="1600" b="1" i="0" dirty="0">
                          <a:solidFill>
                            <a:schemeClr val="tx1"/>
                          </a:solidFill>
                          <a:effectLst/>
                          <a:latin typeface="+mj-lt"/>
                        </a:rPr>
                        <a:t>firewall</a:t>
                      </a:r>
                      <a:r>
                        <a:rPr lang="en-GB" sz="1600" b="0" i="0" dirty="0">
                          <a:solidFill>
                            <a:schemeClr val="tx1"/>
                          </a:solidFill>
                          <a:effectLst/>
                          <a:latin typeface="+mj-lt"/>
                        </a:rPr>
                        <a:t>, virus scanning and </a:t>
                      </a:r>
                      <a:r>
                        <a:rPr lang="en-GB" sz="1600" b="1" i="0" dirty="0">
                          <a:solidFill>
                            <a:schemeClr val="tx1"/>
                          </a:solidFill>
                          <a:effectLst/>
                          <a:latin typeface="+mj-lt"/>
                        </a:rPr>
                        <a:t>file encryption</a:t>
                      </a:r>
                      <a:endParaRPr lang="en-GB" sz="1600" b="0" i="0" dirty="0">
                        <a:solidFill>
                          <a:schemeClr val="tx1"/>
                        </a:solidFill>
                        <a:effectLst/>
                        <a:latin typeface="+mj-lt"/>
                      </a:endParaRPr>
                    </a:p>
                    <a:p>
                      <a:pPr marL="285750" indent="-285750" algn="l">
                        <a:buFont typeface="Arial" panose="020B0604020202020204" pitchFamily="34" charset="0"/>
                        <a:buChar char="•"/>
                      </a:pPr>
                      <a:r>
                        <a:rPr lang="en-GB" sz="1600" b="0" i="0" dirty="0">
                          <a:solidFill>
                            <a:schemeClr val="tx1"/>
                          </a:solidFill>
                          <a:effectLst/>
                          <a:latin typeface="+mj-lt"/>
                        </a:rPr>
                        <a:t>Password-protected system accounts are a very common feature in operating systems</a:t>
                      </a:r>
                    </a:p>
                    <a:p>
                      <a:pPr marL="285750" indent="-285750" algn="l">
                        <a:buFont typeface="Arial" panose="020B0604020202020204" pitchFamily="34" charset="0"/>
                        <a:buChar char="•"/>
                      </a:pPr>
                      <a:r>
                        <a:rPr lang="en-GB" sz="1600" b="0" i="0" dirty="0">
                          <a:solidFill>
                            <a:schemeClr val="tx1"/>
                          </a:solidFill>
                          <a:effectLst/>
                          <a:latin typeface="+mj-lt"/>
                        </a:rPr>
                        <a:t>System accounts can also be restricted from performing certain actions, e.g. editing network settings, installing unapproved software, changing the account settings of other users</a:t>
                      </a:r>
                    </a:p>
                  </a:txBody>
                  <a:tcPr/>
                </a:tc>
                <a:extLst>
                  <a:ext uri="{0D108BD9-81ED-4DB2-BD59-A6C34878D82A}">
                    <a16:rowId xmlns:a16="http://schemas.microsoft.com/office/drawing/2014/main" val="1461921200"/>
                  </a:ext>
                </a:extLst>
              </a:tr>
            </a:tbl>
          </a:graphicData>
        </a:graphic>
      </p:graphicFrame>
    </p:spTree>
    <p:extLst>
      <p:ext uri="{BB962C8B-B14F-4D97-AF65-F5344CB8AC3E}">
        <p14:creationId xmlns:p14="http://schemas.microsoft.com/office/powerpoint/2010/main" val="13496327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46664DB0-7AB7-F56D-C0EA-C013963A723E}"/>
              </a:ext>
            </a:extLst>
          </p:cNvPr>
          <p:cNvGraphicFramePr>
            <a:graphicFrameLocks noGrp="1"/>
          </p:cNvGraphicFramePr>
          <p:nvPr>
            <p:ph sz="quarter" idx="13"/>
            <p:extLst>
              <p:ext uri="{D42A27DB-BD31-4B8C-83A1-F6EECF244321}">
                <p14:modId xmlns:p14="http://schemas.microsoft.com/office/powerpoint/2010/main" val="2407224879"/>
              </p:ext>
            </p:extLst>
          </p:nvPr>
        </p:nvGraphicFramePr>
        <p:xfrm>
          <a:off x="264632" y="376047"/>
          <a:ext cx="11662735" cy="6614160"/>
        </p:xfrm>
        <a:graphic>
          <a:graphicData uri="http://schemas.openxmlformats.org/drawingml/2006/table">
            <a:tbl>
              <a:tblPr firstRow="1" bandRow="1">
                <a:tableStyleId>{5940675A-B579-460E-94D1-54222C63F5DA}</a:tableStyleId>
              </a:tblPr>
              <a:tblGrid>
                <a:gridCol w="2866523">
                  <a:extLst>
                    <a:ext uri="{9D8B030D-6E8A-4147-A177-3AD203B41FA5}">
                      <a16:colId xmlns:a16="http://schemas.microsoft.com/office/drawing/2014/main" val="4227346190"/>
                    </a:ext>
                  </a:extLst>
                </a:gridCol>
                <a:gridCol w="8796212">
                  <a:extLst>
                    <a:ext uri="{9D8B030D-6E8A-4147-A177-3AD203B41FA5}">
                      <a16:colId xmlns:a16="http://schemas.microsoft.com/office/drawing/2014/main" val="923261679"/>
                    </a:ext>
                  </a:extLst>
                </a:gridCol>
              </a:tblGrid>
              <a:tr h="370840">
                <a:tc>
                  <a:txBody>
                    <a:bodyPr/>
                    <a:lstStyle/>
                    <a:p>
                      <a:pPr algn="l">
                        <a:buNone/>
                      </a:pPr>
                      <a:r>
                        <a:rPr lang="en-GB" sz="1600" b="1" i="0" dirty="0">
                          <a:solidFill>
                            <a:srgbClr val="323232"/>
                          </a:solidFill>
                          <a:effectLst/>
                          <a:latin typeface="+mj-lt"/>
                        </a:rPr>
                        <a:t>Providing a platform for software to run</a:t>
                      </a:r>
                    </a:p>
                    <a:p>
                      <a:endParaRPr lang="en-GB" sz="1600" dirty="0">
                        <a:latin typeface="+mj-lt"/>
                      </a:endParaRPr>
                    </a:p>
                  </a:txBody>
                  <a:tcPr/>
                </a:tc>
                <a:tc>
                  <a:txBody>
                    <a:bodyPr/>
                    <a:lstStyle/>
                    <a:p>
                      <a:pPr marL="285750" indent="-285750" algn="l">
                        <a:buFont typeface="Arial" panose="020B0604020202020204" pitchFamily="34" charset="0"/>
                        <a:buChar char="•"/>
                      </a:pPr>
                      <a:r>
                        <a:rPr lang="en-GB" sz="1600" b="0" i="0" dirty="0">
                          <a:solidFill>
                            <a:srgbClr val="323232"/>
                          </a:solidFill>
                          <a:effectLst/>
                          <a:latin typeface="+mj-lt"/>
                        </a:rPr>
                        <a:t>Operating systems provide a platform on which application software can run, this is mainly by allowing software access to system resources</a:t>
                      </a:r>
                    </a:p>
                    <a:p>
                      <a:pPr marL="285750" indent="-285750" algn="l">
                        <a:buFont typeface="Arial" panose="020B0604020202020204" pitchFamily="34" charset="0"/>
                        <a:buChar char="•"/>
                      </a:pPr>
                      <a:r>
                        <a:rPr lang="en-GB" sz="1600" b="0" i="0" dirty="0">
                          <a:solidFill>
                            <a:srgbClr val="323232"/>
                          </a:solidFill>
                          <a:effectLst/>
                          <a:latin typeface="+mj-lt"/>
                        </a:rPr>
                        <a:t>e.g. if a computer game has intensive graphics and online play, the operating system will grant it access to the GPU and the network card</a:t>
                      </a:r>
                    </a:p>
                    <a:p>
                      <a:endParaRPr lang="en-GB" sz="1600" dirty="0">
                        <a:latin typeface="+mj-lt"/>
                      </a:endParaRPr>
                    </a:p>
                  </a:txBody>
                  <a:tcPr/>
                </a:tc>
                <a:extLst>
                  <a:ext uri="{0D108BD9-81ED-4DB2-BD59-A6C34878D82A}">
                    <a16:rowId xmlns:a16="http://schemas.microsoft.com/office/drawing/2014/main" val="583216792"/>
                  </a:ext>
                </a:extLst>
              </a:tr>
              <a:tr h="370840">
                <a:tc>
                  <a:txBody>
                    <a:bodyPr/>
                    <a:lstStyle/>
                    <a:p>
                      <a:r>
                        <a:rPr lang="en-GB" sz="1600" b="1" i="0" kern="1200" dirty="0">
                          <a:solidFill>
                            <a:schemeClr val="tx1"/>
                          </a:solidFill>
                          <a:effectLst/>
                          <a:latin typeface="+mj-lt"/>
                          <a:ea typeface="+mn-ea"/>
                          <a:cs typeface="+mn-cs"/>
                        </a:rPr>
                        <a:t>Providing a user interface</a:t>
                      </a:r>
                    </a:p>
                    <a:p>
                      <a:endParaRPr lang="en-GB" sz="1600" dirty="0">
                        <a:latin typeface="+mj-lt"/>
                      </a:endParaRPr>
                    </a:p>
                  </a:txBody>
                  <a:tcPr/>
                </a:tc>
                <a:tc>
                  <a:txBody>
                    <a:bodyPr/>
                    <a:lstStyle/>
                    <a:p>
                      <a:pPr marL="285750" indent="-285750">
                        <a:buFont typeface="Arial" panose="020B0604020202020204" pitchFamily="34" charset="0"/>
                        <a:buChar char="•"/>
                      </a:pPr>
                      <a:r>
                        <a:rPr lang="en-GB" sz="1600" b="0" i="0" kern="1200" dirty="0">
                          <a:solidFill>
                            <a:schemeClr val="tx1"/>
                          </a:solidFill>
                          <a:effectLst/>
                          <a:latin typeface="+mj-lt"/>
                          <a:ea typeface="+mn-ea"/>
                          <a:cs typeface="+mn-cs"/>
                        </a:rPr>
                        <a:t>Operating systems provide interaction in 2 ways: visually through a graphical user interface (GUI) or text-based through a command-line interface (CLI)</a:t>
                      </a:r>
                    </a:p>
                    <a:p>
                      <a:pPr marL="285750" indent="-285750">
                        <a:buFont typeface="Arial" panose="020B0604020202020204" pitchFamily="34" charset="0"/>
                        <a:buChar char="•"/>
                      </a:pPr>
                      <a:r>
                        <a:rPr lang="en-GB" sz="1600" b="0" i="0" kern="1200" dirty="0">
                          <a:solidFill>
                            <a:schemeClr val="tx1"/>
                          </a:solidFill>
                          <a:effectLst/>
                          <a:latin typeface="+mj-lt"/>
                          <a:ea typeface="+mn-ea"/>
                          <a:cs typeface="+mn-cs"/>
                        </a:rPr>
                        <a:t>Most modern PC operating systems provide both options, and a user will prefer one over the other depending on the task</a:t>
                      </a:r>
                    </a:p>
                    <a:p>
                      <a:pPr marL="285750" indent="-285750">
                        <a:buFont typeface="Arial" panose="020B0604020202020204" pitchFamily="34" charset="0"/>
                        <a:buChar char="•"/>
                      </a:pPr>
                      <a:r>
                        <a:rPr lang="en-GB" sz="1600" b="0" i="0" kern="1200" dirty="0">
                          <a:solidFill>
                            <a:schemeClr val="tx1"/>
                          </a:solidFill>
                          <a:effectLst/>
                          <a:latin typeface="+mj-lt"/>
                          <a:ea typeface="+mn-ea"/>
                          <a:cs typeface="+mn-cs"/>
                        </a:rPr>
                        <a:t>Mobile operating systems such as Android and iOS provide GUIs that are suitable for interaction through touch</a:t>
                      </a:r>
                    </a:p>
                    <a:p>
                      <a:pPr marL="285750" indent="-285750">
                        <a:buFont typeface="Arial" panose="020B0604020202020204" pitchFamily="34" charset="0"/>
                        <a:buChar char="•"/>
                      </a:pPr>
                      <a:r>
                        <a:rPr lang="en-GB" sz="1600" b="0" i="0" kern="1200" dirty="0">
                          <a:solidFill>
                            <a:schemeClr val="tx1"/>
                          </a:solidFill>
                          <a:effectLst/>
                          <a:latin typeface="+mj-lt"/>
                          <a:ea typeface="+mn-ea"/>
                          <a:cs typeface="+mn-cs"/>
                        </a:rPr>
                        <a:t>Ubuntu is an OS popular with software engineers because it provides a no-frills GUI and an efficient CLI</a:t>
                      </a:r>
                    </a:p>
                    <a:p>
                      <a:endParaRPr lang="en-GB" sz="1600" dirty="0">
                        <a:latin typeface="+mj-lt"/>
                      </a:endParaRPr>
                    </a:p>
                  </a:txBody>
                  <a:tcPr/>
                </a:tc>
                <a:extLst>
                  <a:ext uri="{0D108BD9-81ED-4DB2-BD59-A6C34878D82A}">
                    <a16:rowId xmlns:a16="http://schemas.microsoft.com/office/drawing/2014/main" val="165547388"/>
                  </a:ext>
                </a:extLst>
              </a:tr>
              <a:tr h="370840">
                <a:tc>
                  <a:txBody>
                    <a:bodyPr/>
                    <a:lstStyle/>
                    <a:p>
                      <a:r>
                        <a:rPr lang="en-GB" sz="1600" b="1" i="0" kern="1200" dirty="0">
                          <a:solidFill>
                            <a:schemeClr val="tx1"/>
                          </a:solidFill>
                          <a:effectLst/>
                          <a:latin typeface="+mj-lt"/>
                          <a:ea typeface="+mn-ea"/>
                          <a:cs typeface="+mn-cs"/>
                        </a:rPr>
                        <a:t>Providing utilities</a:t>
                      </a:r>
                    </a:p>
                    <a:p>
                      <a:endParaRPr lang="en-GB" sz="1600" dirty="0">
                        <a:latin typeface="+mj-lt"/>
                      </a:endParaRPr>
                    </a:p>
                  </a:txBody>
                  <a:tcPr/>
                </a:tc>
                <a:tc>
                  <a:txBody>
                    <a:bodyPr/>
                    <a:lstStyle/>
                    <a:p>
                      <a:pPr marL="285750" indent="-285750">
                        <a:buFont typeface="Arial" panose="020B0604020202020204" pitchFamily="34" charset="0"/>
                        <a:buChar char="•"/>
                      </a:pPr>
                      <a:r>
                        <a:rPr lang="en-GB" sz="1600" b="0" i="0" kern="1200" dirty="0">
                          <a:solidFill>
                            <a:schemeClr val="tx1"/>
                          </a:solidFill>
                          <a:effectLst/>
                          <a:latin typeface="+mj-lt"/>
                          <a:ea typeface="+mn-ea"/>
                          <a:cs typeface="+mn-cs"/>
                        </a:rPr>
                        <a:t>Utility programs help with system maintenance and security</a:t>
                      </a:r>
                    </a:p>
                    <a:p>
                      <a:pPr marL="285750" indent="-285750">
                        <a:buFont typeface="Arial" panose="020B0604020202020204" pitchFamily="34" charset="0"/>
                        <a:buChar char="•"/>
                      </a:pPr>
                      <a:r>
                        <a:rPr lang="en-GB" sz="1600" b="0" i="0" kern="1200" dirty="0">
                          <a:solidFill>
                            <a:schemeClr val="tx1"/>
                          </a:solidFill>
                          <a:effectLst/>
                          <a:latin typeface="+mj-lt"/>
                          <a:ea typeface="+mn-ea"/>
                          <a:cs typeface="+mn-cs"/>
                        </a:rPr>
                        <a:t>Some utility programs include: file encryption, file compression, disk defragmentation, system backup, disk cleanup</a:t>
                      </a:r>
                    </a:p>
                    <a:p>
                      <a:pPr marL="285750" indent="-285750">
                        <a:buFont typeface="Arial" panose="020B0604020202020204" pitchFamily="34" charset="0"/>
                        <a:buChar char="•"/>
                      </a:pPr>
                      <a:r>
                        <a:rPr lang="en-GB" sz="1600" b="0" i="0" kern="1200" dirty="0">
                          <a:solidFill>
                            <a:schemeClr val="tx1"/>
                          </a:solidFill>
                          <a:effectLst/>
                          <a:latin typeface="+mj-lt"/>
                          <a:ea typeface="+mn-ea"/>
                          <a:cs typeface="+mn-cs"/>
                        </a:rPr>
                        <a:t>File encryption allows users to send files over networks securely</a:t>
                      </a:r>
                    </a:p>
                    <a:p>
                      <a:pPr marL="285750" indent="-285750">
                        <a:buFont typeface="Arial" panose="020B0604020202020204" pitchFamily="34" charset="0"/>
                        <a:buChar char="•"/>
                      </a:pPr>
                      <a:r>
                        <a:rPr lang="en-GB" sz="1600" b="0" i="0" kern="1200" dirty="0">
                          <a:solidFill>
                            <a:schemeClr val="tx1"/>
                          </a:solidFill>
                          <a:effectLst/>
                          <a:latin typeface="+mj-lt"/>
                          <a:ea typeface="+mn-ea"/>
                          <a:cs typeface="+mn-cs"/>
                        </a:rPr>
                        <a:t>File compression reduces the size of a file, which helps send large files over a network</a:t>
                      </a:r>
                    </a:p>
                    <a:p>
                      <a:pPr marL="285750" indent="-285750">
                        <a:buFont typeface="Arial" panose="020B0604020202020204" pitchFamily="34" charset="0"/>
                        <a:buChar char="•"/>
                      </a:pPr>
                      <a:r>
                        <a:rPr lang="en-GB" sz="1600" b="0" i="0" kern="1200" dirty="0">
                          <a:solidFill>
                            <a:schemeClr val="tx1"/>
                          </a:solidFill>
                          <a:effectLst/>
                          <a:latin typeface="+mj-lt"/>
                          <a:ea typeface="+mn-ea"/>
                          <a:cs typeface="+mn-cs"/>
                        </a:rPr>
                        <a:t>Disk defragmentation physically reorganises files on the hard disk so they can be found and accessed faster</a:t>
                      </a:r>
                    </a:p>
                    <a:p>
                      <a:pPr marL="285750" indent="-285750">
                        <a:buFont typeface="Arial" panose="020B0604020202020204" pitchFamily="34" charset="0"/>
                        <a:buChar char="•"/>
                      </a:pPr>
                      <a:r>
                        <a:rPr lang="en-GB" sz="1600" b="0" i="0" kern="1200" dirty="0">
                          <a:solidFill>
                            <a:schemeClr val="tx1"/>
                          </a:solidFill>
                          <a:effectLst/>
                          <a:latin typeface="+mj-lt"/>
                          <a:ea typeface="+mn-ea"/>
                          <a:cs typeface="+mn-cs"/>
                        </a:rPr>
                        <a:t>Disk cleanup scans the hard disk for duplicate and corrupt files and deletes them to create more space on the disk</a:t>
                      </a:r>
                    </a:p>
                    <a:p>
                      <a:pPr marL="285750" indent="-285750">
                        <a:buFont typeface="Arial" panose="020B0604020202020204" pitchFamily="34" charset="0"/>
                        <a:buChar char="•"/>
                      </a:pPr>
                      <a:r>
                        <a:rPr lang="en-GB" sz="1600" b="0" i="0" kern="1200" dirty="0">
                          <a:solidFill>
                            <a:schemeClr val="tx1"/>
                          </a:solidFill>
                          <a:effectLst/>
                          <a:latin typeface="+mj-lt"/>
                          <a:ea typeface="+mn-ea"/>
                          <a:cs typeface="+mn-cs"/>
                        </a:rPr>
                        <a:t>Backup software allows users to restore their system to a point in history</a:t>
                      </a:r>
                    </a:p>
                    <a:p>
                      <a:endParaRPr lang="en-GB" sz="1600" dirty="0">
                        <a:latin typeface="+mj-lt"/>
                      </a:endParaRPr>
                    </a:p>
                  </a:txBody>
                  <a:tcPr/>
                </a:tc>
                <a:extLst>
                  <a:ext uri="{0D108BD9-81ED-4DB2-BD59-A6C34878D82A}">
                    <a16:rowId xmlns:a16="http://schemas.microsoft.com/office/drawing/2014/main" val="3881100145"/>
                  </a:ext>
                </a:extLst>
              </a:tr>
            </a:tbl>
          </a:graphicData>
        </a:graphic>
      </p:graphicFrame>
    </p:spTree>
    <p:extLst>
      <p:ext uri="{BB962C8B-B14F-4D97-AF65-F5344CB8AC3E}">
        <p14:creationId xmlns:p14="http://schemas.microsoft.com/office/powerpoint/2010/main" val="2817509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CB5915-D37A-A380-4059-8483C54D0192}"/>
              </a:ext>
            </a:extLst>
          </p:cNvPr>
          <p:cNvSpPr>
            <a:spLocks noGrp="1"/>
          </p:cNvSpPr>
          <p:nvPr>
            <p:ph type="title"/>
          </p:nvPr>
        </p:nvSpPr>
        <p:spPr/>
        <p:txBody>
          <a:bodyPr>
            <a:normAutofit/>
          </a:bodyPr>
          <a:lstStyle/>
          <a:p>
            <a:r>
              <a:rPr lang="en-GB" dirty="0">
                <a:solidFill>
                  <a:srgbClr val="323232"/>
                </a:solidFill>
              </a:rPr>
              <a:t>What is an OS?</a:t>
            </a:r>
            <a:endParaRPr lang="en-GB" dirty="0"/>
          </a:p>
        </p:txBody>
      </p:sp>
      <p:sp>
        <p:nvSpPr>
          <p:cNvPr id="3" name="Content Placeholder 2">
            <a:extLst>
              <a:ext uri="{FF2B5EF4-FFF2-40B4-BE49-F238E27FC236}">
                <a16:creationId xmlns:a16="http://schemas.microsoft.com/office/drawing/2014/main" id="{8C1E25B3-AD4F-BF60-B3AC-701779DF5466}"/>
              </a:ext>
            </a:extLst>
          </p:cNvPr>
          <p:cNvSpPr>
            <a:spLocks noGrp="1"/>
          </p:cNvSpPr>
          <p:nvPr>
            <p:ph sz="quarter" idx="13"/>
          </p:nvPr>
        </p:nvSpPr>
        <p:spPr/>
        <p:txBody>
          <a:bodyPr/>
          <a:lstStyle/>
          <a:p>
            <a:pPr algn="l">
              <a:buFont typeface="Arial" panose="020B0604020202020204" pitchFamily="34" charset="0"/>
              <a:buChar char="•"/>
            </a:pPr>
            <a:r>
              <a:rPr lang="en-GB" sz="2400" b="0" i="0" dirty="0">
                <a:solidFill>
                  <a:srgbClr val="323232"/>
                </a:solidFill>
                <a:effectLst/>
                <a:latin typeface="+mj-lt"/>
              </a:rPr>
              <a:t>An operating system (OS) is a fundamental software that </a:t>
            </a:r>
            <a:r>
              <a:rPr lang="en-GB" sz="2400" b="1" i="0" dirty="0">
                <a:solidFill>
                  <a:srgbClr val="323232"/>
                </a:solidFill>
                <a:effectLst/>
                <a:latin typeface="+mj-lt"/>
              </a:rPr>
              <a:t>manages the computer hardware</a:t>
            </a:r>
            <a:r>
              <a:rPr lang="en-GB" sz="2400" b="0" i="0" dirty="0">
                <a:solidFill>
                  <a:srgbClr val="323232"/>
                </a:solidFill>
                <a:effectLst/>
                <a:latin typeface="+mj-lt"/>
              </a:rPr>
              <a:t>, </a:t>
            </a:r>
            <a:r>
              <a:rPr lang="en-GB" sz="2400" b="1" i="0" dirty="0">
                <a:solidFill>
                  <a:srgbClr val="323232"/>
                </a:solidFill>
                <a:effectLst/>
                <a:latin typeface="+mj-lt"/>
              </a:rPr>
              <a:t>provides common services</a:t>
            </a:r>
            <a:r>
              <a:rPr lang="en-GB" sz="2400" b="0" i="0" dirty="0">
                <a:solidFill>
                  <a:srgbClr val="323232"/>
                </a:solidFill>
                <a:effectLst/>
                <a:latin typeface="+mj-lt"/>
              </a:rPr>
              <a:t> for computer programs, and a</a:t>
            </a:r>
            <a:r>
              <a:rPr lang="en-GB" sz="2400" b="1" i="0" dirty="0">
                <a:solidFill>
                  <a:srgbClr val="323232"/>
                </a:solidFill>
                <a:effectLst/>
                <a:latin typeface="+mj-lt"/>
              </a:rPr>
              <a:t>cts as an interface </a:t>
            </a:r>
            <a:r>
              <a:rPr lang="en-GB" sz="2400" b="0" i="0" dirty="0">
                <a:solidFill>
                  <a:srgbClr val="323232"/>
                </a:solidFill>
                <a:effectLst/>
                <a:latin typeface="+mj-lt"/>
              </a:rPr>
              <a:t>between users and the machine</a:t>
            </a:r>
          </a:p>
          <a:p>
            <a:pPr algn="l">
              <a:buFont typeface="Arial" panose="020B0604020202020204" pitchFamily="34" charset="0"/>
              <a:buChar char="•"/>
            </a:pPr>
            <a:r>
              <a:rPr lang="en-GB" sz="2400" b="0" i="0" dirty="0">
                <a:solidFill>
                  <a:srgbClr val="323232"/>
                </a:solidFill>
                <a:effectLst/>
                <a:latin typeface="+mj-lt"/>
              </a:rPr>
              <a:t>There are several different types of operating systems, each with </a:t>
            </a:r>
            <a:r>
              <a:rPr lang="en-GB" sz="2400" b="1" i="0" dirty="0">
                <a:solidFill>
                  <a:srgbClr val="323232"/>
                </a:solidFill>
                <a:effectLst/>
                <a:latin typeface="+mj-lt"/>
              </a:rPr>
              <a:t>unique characteristics</a:t>
            </a:r>
            <a:r>
              <a:rPr lang="en-GB" sz="2400" b="0" i="0" dirty="0">
                <a:solidFill>
                  <a:srgbClr val="323232"/>
                </a:solidFill>
                <a:effectLst/>
                <a:latin typeface="+mj-lt"/>
              </a:rPr>
              <a:t> and </a:t>
            </a:r>
            <a:r>
              <a:rPr lang="en-GB" sz="2400" b="1" i="0" dirty="0">
                <a:solidFill>
                  <a:srgbClr val="323232"/>
                </a:solidFill>
                <a:effectLst/>
                <a:latin typeface="+mj-lt"/>
              </a:rPr>
              <a:t>purposes</a:t>
            </a:r>
            <a:endParaRPr lang="en-GB" sz="2400" b="0" i="0" dirty="0">
              <a:solidFill>
                <a:srgbClr val="323232"/>
              </a:solidFill>
              <a:effectLst/>
              <a:latin typeface="+mj-lt"/>
            </a:endParaRPr>
          </a:p>
          <a:p>
            <a:pPr algn="l">
              <a:buFont typeface="Arial" panose="020B0604020202020204" pitchFamily="34" charset="0"/>
              <a:buChar char="•"/>
            </a:pPr>
            <a:r>
              <a:rPr lang="en-GB" sz="2400" b="0" i="0" dirty="0">
                <a:solidFill>
                  <a:srgbClr val="323232"/>
                </a:solidFill>
                <a:effectLst/>
                <a:latin typeface="+mj-lt"/>
              </a:rPr>
              <a:t>Understanding these types is essential for both </a:t>
            </a:r>
            <a:r>
              <a:rPr lang="en-GB" sz="2400" b="1" i="0" dirty="0">
                <a:solidFill>
                  <a:srgbClr val="323232"/>
                </a:solidFill>
                <a:effectLst/>
                <a:latin typeface="+mj-lt"/>
              </a:rPr>
              <a:t>developing </a:t>
            </a:r>
            <a:r>
              <a:rPr lang="en-GB" sz="2400" b="0" i="0" dirty="0">
                <a:solidFill>
                  <a:srgbClr val="323232"/>
                </a:solidFill>
                <a:effectLst/>
                <a:latin typeface="+mj-lt"/>
              </a:rPr>
              <a:t>and</a:t>
            </a:r>
            <a:r>
              <a:rPr lang="en-GB" sz="2400" b="1" i="0" dirty="0">
                <a:solidFill>
                  <a:srgbClr val="323232"/>
                </a:solidFill>
                <a:effectLst/>
                <a:latin typeface="+mj-lt"/>
              </a:rPr>
              <a:t> using </a:t>
            </a:r>
            <a:r>
              <a:rPr lang="en-GB" sz="2400" b="0" i="0" dirty="0">
                <a:solidFill>
                  <a:srgbClr val="323232"/>
                </a:solidFill>
                <a:effectLst/>
                <a:latin typeface="+mj-lt"/>
              </a:rPr>
              <a:t>computer systems</a:t>
            </a:r>
          </a:p>
          <a:p>
            <a:pPr marL="0" indent="0">
              <a:buNone/>
            </a:pPr>
            <a:endParaRPr lang="en-GB" dirty="0"/>
          </a:p>
        </p:txBody>
      </p:sp>
    </p:spTree>
    <p:extLst>
      <p:ext uri="{BB962C8B-B14F-4D97-AF65-F5344CB8AC3E}">
        <p14:creationId xmlns:p14="http://schemas.microsoft.com/office/powerpoint/2010/main" val="922454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65797-900F-8C35-5CBF-0E2CF28982D5}"/>
              </a:ext>
            </a:extLst>
          </p:cNvPr>
          <p:cNvSpPr>
            <a:spLocks noGrp="1"/>
          </p:cNvSpPr>
          <p:nvPr>
            <p:ph type="title"/>
          </p:nvPr>
        </p:nvSpPr>
        <p:spPr/>
        <p:txBody>
          <a:bodyPr>
            <a:normAutofit/>
          </a:bodyPr>
          <a:lstStyle/>
          <a:p>
            <a:r>
              <a:rPr lang="en-GB" b="1" i="0" dirty="0">
                <a:solidFill>
                  <a:srgbClr val="323232"/>
                </a:solidFill>
                <a:effectLst/>
              </a:rPr>
              <a:t>What are the different types of operating systems?</a:t>
            </a:r>
            <a:endParaRPr lang="en-GB" dirty="0"/>
          </a:p>
        </p:txBody>
      </p:sp>
      <p:graphicFrame>
        <p:nvGraphicFramePr>
          <p:cNvPr id="4" name="Content Placeholder 3">
            <a:extLst>
              <a:ext uri="{FF2B5EF4-FFF2-40B4-BE49-F238E27FC236}">
                <a16:creationId xmlns:a16="http://schemas.microsoft.com/office/drawing/2014/main" id="{C6F761BF-BBE1-2A26-3B54-19C05E6569A6}"/>
              </a:ext>
            </a:extLst>
          </p:cNvPr>
          <p:cNvGraphicFramePr>
            <a:graphicFrameLocks noGrp="1"/>
          </p:cNvGraphicFramePr>
          <p:nvPr>
            <p:ph sz="quarter" idx="13"/>
          </p:nvPr>
        </p:nvGraphicFramePr>
        <p:xfrm>
          <a:off x="405627" y="1062136"/>
          <a:ext cx="11172654" cy="4424262"/>
        </p:xfrm>
        <a:graphic>
          <a:graphicData uri="http://schemas.openxmlformats.org/drawingml/2006/table">
            <a:tbl>
              <a:tblPr/>
              <a:tblGrid>
                <a:gridCol w="3412611">
                  <a:extLst>
                    <a:ext uri="{9D8B030D-6E8A-4147-A177-3AD203B41FA5}">
                      <a16:colId xmlns:a16="http://schemas.microsoft.com/office/drawing/2014/main" val="2043004292"/>
                    </a:ext>
                  </a:extLst>
                </a:gridCol>
                <a:gridCol w="7760043">
                  <a:extLst>
                    <a:ext uri="{9D8B030D-6E8A-4147-A177-3AD203B41FA5}">
                      <a16:colId xmlns:a16="http://schemas.microsoft.com/office/drawing/2014/main" val="375620810"/>
                    </a:ext>
                  </a:extLst>
                </a:gridCol>
              </a:tblGrid>
              <a:tr h="379699">
                <a:tc>
                  <a:txBody>
                    <a:bodyPr/>
                    <a:lstStyle/>
                    <a:p>
                      <a:pPr algn="ctr">
                        <a:buNone/>
                      </a:pPr>
                      <a:r>
                        <a:rPr lang="en-GB" sz="1600" b="1" dirty="0">
                          <a:solidFill>
                            <a:srgbClr val="323232"/>
                          </a:solidFill>
                          <a:effectLst/>
                        </a:rPr>
                        <a:t>Type</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BFAFA"/>
                    </a:solidFill>
                  </a:tcPr>
                </a:tc>
                <a:tc>
                  <a:txBody>
                    <a:bodyPr/>
                    <a:lstStyle/>
                    <a:p>
                      <a:pPr algn="ctr">
                        <a:buNone/>
                      </a:pPr>
                      <a:r>
                        <a:rPr lang="en-GB" sz="1600" b="1">
                          <a:solidFill>
                            <a:srgbClr val="323232"/>
                          </a:solidFill>
                          <a:effectLst/>
                        </a:rPr>
                        <a:t>Description</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BFAFA"/>
                    </a:solidFill>
                  </a:tcPr>
                </a:tc>
                <a:extLst>
                  <a:ext uri="{0D108BD9-81ED-4DB2-BD59-A6C34878D82A}">
                    <a16:rowId xmlns:a16="http://schemas.microsoft.com/office/drawing/2014/main" val="1711742010"/>
                  </a:ext>
                </a:extLst>
              </a:tr>
              <a:tr h="618151">
                <a:tc>
                  <a:txBody>
                    <a:bodyPr/>
                    <a:lstStyle/>
                    <a:p>
                      <a:pPr algn="ctr">
                        <a:buNone/>
                      </a:pPr>
                      <a:r>
                        <a:rPr lang="en-GB" sz="1600" b="1" dirty="0">
                          <a:solidFill>
                            <a:srgbClr val="323232"/>
                          </a:solidFill>
                          <a:effectLst/>
                        </a:rPr>
                        <a:t>Distributed </a:t>
                      </a:r>
                      <a:r>
                        <a:rPr lang="en-GB" sz="1600" dirty="0">
                          <a:solidFill>
                            <a:srgbClr val="323232"/>
                          </a:solidFill>
                          <a:effectLst/>
                        </a:rPr>
                        <a:t>Operating Systems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FFFFF"/>
                    </a:solidFill>
                  </a:tcPr>
                </a:tc>
                <a:tc>
                  <a:txBody>
                    <a:bodyPr/>
                    <a:lstStyle/>
                    <a:p>
                      <a:pPr algn="ctr">
                        <a:buNone/>
                      </a:pPr>
                      <a:r>
                        <a:rPr lang="en-GB" sz="1600" dirty="0">
                          <a:solidFill>
                            <a:srgbClr val="323232"/>
                          </a:solidFill>
                          <a:effectLst/>
                        </a:rPr>
                        <a:t>Run on multiple machines appearing as a single unit, used for efficient task distribution and load balancing</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2938072006"/>
                  </a:ext>
                </a:extLst>
              </a:tr>
              <a:tr h="856603">
                <a:tc>
                  <a:txBody>
                    <a:bodyPr/>
                    <a:lstStyle/>
                    <a:p>
                      <a:pPr algn="ctr">
                        <a:buNone/>
                      </a:pPr>
                      <a:r>
                        <a:rPr lang="en-GB" sz="1600" b="1">
                          <a:solidFill>
                            <a:srgbClr val="323232"/>
                          </a:solidFill>
                          <a:effectLst/>
                        </a:rPr>
                        <a:t>Embedded </a:t>
                      </a:r>
                      <a:r>
                        <a:rPr lang="en-GB" sz="1600">
                          <a:solidFill>
                            <a:srgbClr val="323232"/>
                          </a:solidFill>
                          <a:effectLst/>
                        </a:rPr>
                        <a:t>Operating Systems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FFFFF"/>
                    </a:solidFill>
                  </a:tcPr>
                </a:tc>
                <a:tc>
                  <a:txBody>
                    <a:bodyPr/>
                    <a:lstStyle/>
                    <a:p>
                      <a:pPr algn="ctr">
                        <a:buNone/>
                      </a:pPr>
                      <a:r>
                        <a:rPr lang="en-GB" sz="1600" dirty="0">
                          <a:solidFill>
                            <a:srgbClr val="323232"/>
                          </a:solidFill>
                          <a:effectLst/>
                        </a:rPr>
                        <a:t>Designed for specific tasks, is the system running inside a device that is not primarily a computer system, e.g. microwave, dishwasher, washing machine</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687811669"/>
                  </a:ext>
                </a:extLst>
              </a:tr>
              <a:tr h="856603">
                <a:tc>
                  <a:txBody>
                    <a:bodyPr/>
                    <a:lstStyle/>
                    <a:p>
                      <a:pPr algn="ctr">
                        <a:buNone/>
                      </a:pPr>
                      <a:r>
                        <a:rPr lang="en-GB" sz="1600" b="1">
                          <a:solidFill>
                            <a:srgbClr val="323232"/>
                          </a:solidFill>
                          <a:effectLst/>
                        </a:rPr>
                        <a:t>Multi-tasking</a:t>
                      </a:r>
                      <a:r>
                        <a:rPr lang="en-GB" sz="1600">
                          <a:solidFill>
                            <a:srgbClr val="323232"/>
                          </a:solidFill>
                          <a:effectLst/>
                        </a:rPr>
                        <a:t> Operating Systems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FFFFF"/>
                    </a:solidFill>
                  </a:tcPr>
                </a:tc>
                <a:tc>
                  <a:txBody>
                    <a:bodyPr/>
                    <a:lstStyle/>
                    <a:p>
                      <a:pPr algn="ctr">
                        <a:buNone/>
                      </a:pPr>
                      <a:r>
                        <a:rPr lang="en-GB" sz="1600" dirty="0">
                          <a:solidFill>
                            <a:srgbClr val="323232"/>
                          </a:solidFill>
                          <a:effectLst/>
                        </a:rPr>
                        <a:t>Allows multiple tasks to run concurrently on a single processor, manages system resources and allocates CPU time to different processes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2553804760"/>
                  </a:ext>
                </a:extLst>
              </a:tr>
              <a:tr h="856603">
                <a:tc>
                  <a:txBody>
                    <a:bodyPr/>
                    <a:lstStyle/>
                    <a:p>
                      <a:pPr algn="ctr">
                        <a:buNone/>
                      </a:pPr>
                      <a:r>
                        <a:rPr lang="en-GB" sz="1600" b="1">
                          <a:solidFill>
                            <a:srgbClr val="323232"/>
                          </a:solidFill>
                          <a:effectLst/>
                        </a:rPr>
                        <a:t>Multi-user</a:t>
                      </a:r>
                      <a:r>
                        <a:rPr lang="en-GB" sz="1600">
                          <a:solidFill>
                            <a:srgbClr val="323232"/>
                          </a:solidFill>
                          <a:effectLst/>
                        </a:rPr>
                        <a:t> Operating Systems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FFFFF"/>
                    </a:solidFill>
                  </a:tcPr>
                </a:tc>
                <a:tc>
                  <a:txBody>
                    <a:bodyPr/>
                    <a:lstStyle/>
                    <a:p>
                      <a:pPr algn="ctr">
                        <a:buNone/>
                      </a:pPr>
                      <a:r>
                        <a:rPr lang="en-GB" sz="1600" dirty="0">
                          <a:solidFill>
                            <a:srgbClr val="323232"/>
                          </a:solidFill>
                          <a:effectLst/>
                        </a:rPr>
                        <a:t>Supports multiple users accessing computer resources concurrently, efficiently manages resource allocation, and provides features for data security and user privacy</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1721498466"/>
                  </a:ext>
                </a:extLst>
              </a:tr>
              <a:tr h="856603">
                <a:tc>
                  <a:txBody>
                    <a:bodyPr/>
                    <a:lstStyle/>
                    <a:p>
                      <a:pPr algn="ctr">
                        <a:buNone/>
                      </a:pPr>
                      <a:r>
                        <a:rPr lang="en-GB" sz="1600" b="1">
                          <a:solidFill>
                            <a:srgbClr val="323232"/>
                          </a:solidFill>
                          <a:effectLst/>
                        </a:rPr>
                        <a:t>Real-Time</a:t>
                      </a:r>
                      <a:r>
                        <a:rPr lang="en-GB" sz="1600">
                          <a:solidFill>
                            <a:srgbClr val="323232"/>
                          </a:solidFill>
                          <a:effectLst/>
                        </a:rPr>
                        <a:t> Operating Systems (RTOS)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FFFFF"/>
                    </a:solidFill>
                  </a:tcPr>
                </a:tc>
                <a:tc>
                  <a:txBody>
                    <a:bodyPr/>
                    <a:lstStyle/>
                    <a:p>
                      <a:pPr algn="ctr">
                        <a:buNone/>
                      </a:pPr>
                      <a:r>
                        <a:rPr lang="en-GB" sz="1600" dirty="0">
                          <a:solidFill>
                            <a:srgbClr val="323232"/>
                          </a:solidFill>
                          <a:effectLst/>
                        </a:rPr>
                        <a:t>Designed for immediate data processing, and can ensure tasks are processed in specific timeframes, highly efficient</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FFFFF"/>
                    </a:solidFill>
                  </a:tcPr>
                </a:tc>
                <a:extLst>
                  <a:ext uri="{0D108BD9-81ED-4DB2-BD59-A6C34878D82A}">
                    <a16:rowId xmlns:a16="http://schemas.microsoft.com/office/drawing/2014/main" val="467629159"/>
                  </a:ext>
                </a:extLst>
              </a:tr>
            </a:tbl>
          </a:graphicData>
        </a:graphic>
      </p:graphicFrame>
    </p:spTree>
    <p:extLst>
      <p:ext uri="{BB962C8B-B14F-4D97-AF65-F5344CB8AC3E}">
        <p14:creationId xmlns:p14="http://schemas.microsoft.com/office/powerpoint/2010/main" val="1571367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27EF0-01D7-6211-22F0-5145FE02A64F}"/>
              </a:ext>
            </a:extLst>
          </p:cNvPr>
          <p:cNvSpPr>
            <a:spLocks noGrp="1"/>
          </p:cNvSpPr>
          <p:nvPr>
            <p:ph type="title"/>
          </p:nvPr>
        </p:nvSpPr>
        <p:spPr/>
        <p:txBody>
          <a:bodyPr/>
          <a:lstStyle/>
          <a:p>
            <a:r>
              <a:rPr lang="en-GB" dirty="0"/>
              <a:t>Examples</a:t>
            </a:r>
          </a:p>
        </p:txBody>
      </p:sp>
      <p:graphicFrame>
        <p:nvGraphicFramePr>
          <p:cNvPr id="4" name="Content Placeholder 3">
            <a:extLst>
              <a:ext uri="{FF2B5EF4-FFF2-40B4-BE49-F238E27FC236}">
                <a16:creationId xmlns:a16="http://schemas.microsoft.com/office/drawing/2014/main" id="{EC8FED48-D9F5-F5F0-30AD-9D0E73D41E5F}"/>
              </a:ext>
            </a:extLst>
          </p:cNvPr>
          <p:cNvGraphicFramePr>
            <a:graphicFrameLocks noGrp="1"/>
          </p:cNvGraphicFramePr>
          <p:nvPr>
            <p:ph sz="quarter" idx="13"/>
          </p:nvPr>
        </p:nvGraphicFramePr>
        <p:xfrm>
          <a:off x="306773" y="976534"/>
          <a:ext cx="11073800" cy="4398653"/>
        </p:xfrm>
        <a:graphic>
          <a:graphicData uri="http://schemas.openxmlformats.org/drawingml/2006/table">
            <a:tbl>
              <a:tblPr/>
              <a:tblGrid>
                <a:gridCol w="3091335">
                  <a:extLst>
                    <a:ext uri="{9D8B030D-6E8A-4147-A177-3AD203B41FA5}">
                      <a16:colId xmlns:a16="http://schemas.microsoft.com/office/drawing/2014/main" val="568133113"/>
                    </a:ext>
                  </a:extLst>
                </a:gridCol>
                <a:gridCol w="7982465">
                  <a:extLst>
                    <a:ext uri="{9D8B030D-6E8A-4147-A177-3AD203B41FA5}">
                      <a16:colId xmlns:a16="http://schemas.microsoft.com/office/drawing/2014/main" val="3542312898"/>
                    </a:ext>
                  </a:extLst>
                </a:gridCol>
              </a:tblGrid>
              <a:tr h="423110">
                <a:tc>
                  <a:txBody>
                    <a:bodyPr/>
                    <a:lstStyle/>
                    <a:p>
                      <a:pPr algn="ctr">
                        <a:buNone/>
                      </a:pPr>
                      <a:r>
                        <a:rPr lang="en-GB" sz="1800" b="1" dirty="0">
                          <a:solidFill>
                            <a:schemeClr val="tx1"/>
                          </a:solidFill>
                          <a:effectLst/>
                        </a:rPr>
                        <a:t>Type</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BFAFA"/>
                    </a:solidFill>
                  </a:tcPr>
                </a:tc>
                <a:tc>
                  <a:txBody>
                    <a:bodyPr/>
                    <a:lstStyle/>
                    <a:p>
                      <a:pPr algn="ctr">
                        <a:buNone/>
                      </a:pPr>
                      <a:r>
                        <a:rPr lang="en-GB" sz="1800" b="1">
                          <a:solidFill>
                            <a:schemeClr val="tx1"/>
                          </a:solidFill>
                          <a:effectLst/>
                        </a:rPr>
                        <a:t>Example</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BFAFA"/>
                    </a:solidFill>
                  </a:tcPr>
                </a:tc>
                <a:extLst>
                  <a:ext uri="{0D108BD9-81ED-4DB2-BD59-A6C34878D82A}">
                    <a16:rowId xmlns:a16="http://schemas.microsoft.com/office/drawing/2014/main" val="2145494581"/>
                  </a:ext>
                </a:extLst>
              </a:tr>
              <a:tr h="688823">
                <a:tc>
                  <a:txBody>
                    <a:bodyPr/>
                    <a:lstStyle/>
                    <a:p>
                      <a:pPr algn="ctr">
                        <a:buNone/>
                      </a:pPr>
                      <a:r>
                        <a:rPr lang="en-GB" sz="1800" b="1" dirty="0">
                          <a:solidFill>
                            <a:schemeClr val="tx1"/>
                          </a:solidFill>
                          <a:effectLst/>
                        </a:rPr>
                        <a:t>Distributed </a:t>
                      </a:r>
                      <a:r>
                        <a:rPr lang="en-GB" sz="1800" dirty="0">
                          <a:solidFill>
                            <a:schemeClr val="tx1"/>
                          </a:solidFill>
                          <a:effectLst/>
                        </a:rPr>
                        <a:t>Operating Systems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800" dirty="0">
                          <a:solidFill>
                            <a:schemeClr val="tx1"/>
                          </a:solidFill>
                          <a:effectLst/>
                        </a:rPr>
                        <a:t>Hadoop is an </a:t>
                      </a:r>
                      <a:r>
                        <a:rPr lang="en-GB" sz="1800" b="1" dirty="0">
                          <a:solidFill>
                            <a:schemeClr val="tx1"/>
                          </a:solidFill>
                          <a:effectLst/>
                        </a:rPr>
                        <a:t>open-source</a:t>
                      </a:r>
                      <a:r>
                        <a:rPr lang="en-GB" sz="1800" dirty="0">
                          <a:solidFill>
                            <a:schemeClr val="tx1"/>
                          </a:solidFill>
                          <a:effectLst/>
                        </a:rPr>
                        <a:t> OS designed to process big data using multiple </a:t>
                      </a:r>
                      <a:r>
                        <a:rPr lang="en-GB" sz="1800" b="1" dirty="0">
                          <a:solidFill>
                            <a:schemeClr val="tx1"/>
                          </a:solidFill>
                          <a:effectLst/>
                        </a:rPr>
                        <a:t>nodes</a:t>
                      </a:r>
                      <a:r>
                        <a:rPr lang="en-GB" sz="1800" dirty="0">
                          <a:solidFill>
                            <a:schemeClr val="tx1"/>
                          </a:solidFill>
                          <a:effectLst/>
                        </a:rPr>
                        <a:t> in a distributed network.</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extLst>
                  <a:ext uri="{0D108BD9-81ED-4DB2-BD59-A6C34878D82A}">
                    <a16:rowId xmlns:a16="http://schemas.microsoft.com/office/drawing/2014/main" val="707367513"/>
                  </a:ext>
                </a:extLst>
              </a:tr>
              <a:tr h="1220251">
                <a:tc>
                  <a:txBody>
                    <a:bodyPr/>
                    <a:lstStyle/>
                    <a:p>
                      <a:pPr algn="ctr">
                        <a:buNone/>
                      </a:pPr>
                      <a:r>
                        <a:rPr lang="en-GB" sz="1800" b="1" dirty="0">
                          <a:solidFill>
                            <a:schemeClr val="tx1"/>
                          </a:solidFill>
                          <a:effectLst/>
                        </a:rPr>
                        <a:t>Embedded </a:t>
                      </a:r>
                      <a:r>
                        <a:rPr lang="en-GB" sz="1800" dirty="0">
                          <a:solidFill>
                            <a:schemeClr val="tx1"/>
                          </a:solidFill>
                          <a:effectLst/>
                        </a:rPr>
                        <a:t>Operating Systems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800" b="1" dirty="0">
                          <a:solidFill>
                            <a:schemeClr val="tx1"/>
                          </a:solidFill>
                          <a:effectLst/>
                        </a:rPr>
                        <a:t>IoT</a:t>
                      </a:r>
                      <a:r>
                        <a:rPr lang="en-GB" sz="1800" dirty="0">
                          <a:solidFill>
                            <a:schemeClr val="tx1"/>
                          </a:solidFill>
                          <a:effectLst/>
                        </a:rPr>
                        <a:t> devices and many household devices contain embedded OS. These devices don’t typically run a well-known OS. They run a proprietary OS that has a simple set of functions.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extLst>
                  <a:ext uri="{0D108BD9-81ED-4DB2-BD59-A6C34878D82A}">
                    <a16:rowId xmlns:a16="http://schemas.microsoft.com/office/drawing/2014/main" val="1174665723"/>
                  </a:ext>
                </a:extLst>
              </a:tr>
              <a:tr h="688823">
                <a:tc>
                  <a:txBody>
                    <a:bodyPr/>
                    <a:lstStyle/>
                    <a:p>
                      <a:pPr algn="ctr">
                        <a:buNone/>
                      </a:pPr>
                      <a:r>
                        <a:rPr lang="en-GB" sz="1800" b="1">
                          <a:solidFill>
                            <a:schemeClr val="tx1"/>
                          </a:solidFill>
                          <a:effectLst/>
                        </a:rPr>
                        <a:t>Multi-Tasking</a:t>
                      </a:r>
                      <a:r>
                        <a:rPr lang="en-GB" sz="1800">
                          <a:solidFill>
                            <a:schemeClr val="tx1"/>
                          </a:solidFill>
                          <a:effectLst/>
                        </a:rPr>
                        <a:t> Operating Systems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800" dirty="0">
                          <a:solidFill>
                            <a:schemeClr val="tx1"/>
                          </a:solidFill>
                          <a:effectLst/>
                        </a:rPr>
                        <a:t>Windows, MacOS, and Linux are multi-tasking OS that can run multiple applications simultaneously.</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extLst>
                  <a:ext uri="{0D108BD9-81ED-4DB2-BD59-A6C34878D82A}">
                    <a16:rowId xmlns:a16="http://schemas.microsoft.com/office/drawing/2014/main" val="733130663"/>
                  </a:ext>
                </a:extLst>
              </a:tr>
              <a:tr h="688823">
                <a:tc>
                  <a:txBody>
                    <a:bodyPr/>
                    <a:lstStyle/>
                    <a:p>
                      <a:pPr algn="ctr">
                        <a:buNone/>
                      </a:pPr>
                      <a:r>
                        <a:rPr lang="en-GB" sz="1800" b="1">
                          <a:solidFill>
                            <a:schemeClr val="tx1"/>
                          </a:solidFill>
                          <a:effectLst/>
                        </a:rPr>
                        <a:t>Multi-User</a:t>
                      </a:r>
                      <a:r>
                        <a:rPr lang="en-GB" sz="1800">
                          <a:solidFill>
                            <a:schemeClr val="tx1"/>
                          </a:solidFill>
                          <a:effectLst/>
                        </a:rPr>
                        <a:t> Operating Systems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800" dirty="0">
                          <a:solidFill>
                            <a:schemeClr val="tx1"/>
                          </a:solidFill>
                          <a:effectLst/>
                        </a:rPr>
                        <a:t>Windows, MacOS, and Linux are multi-user OSs where multiple users can log in and run independent processes.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extLst>
                  <a:ext uri="{0D108BD9-81ED-4DB2-BD59-A6C34878D82A}">
                    <a16:rowId xmlns:a16="http://schemas.microsoft.com/office/drawing/2014/main" val="907503024"/>
                  </a:ext>
                </a:extLst>
              </a:tr>
              <a:tr h="688823">
                <a:tc>
                  <a:txBody>
                    <a:bodyPr/>
                    <a:lstStyle/>
                    <a:p>
                      <a:pPr algn="ctr">
                        <a:buNone/>
                      </a:pPr>
                      <a:r>
                        <a:rPr lang="en-GB" sz="1800" b="1">
                          <a:solidFill>
                            <a:schemeClr val="tx1"/>
                          </a:solidFill>
                          <a:effectLst/>
                        </a:rPr>
                        <a:t>Real-Time</a:t>
                      </a:r>
                      <a:r>
                        <a:rPr lang="en-GB" sz="1800">
                          <a:solidFill>
                            <a:schemeClr val="tx1"/>
                          </a:solidFill>
                          <a:effectLst/>
                        </a:rPr>
                        <a:t> Operating Systems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800" dirty="0">
                          <a:solidFill>
                            <a:schemeClr val="tx1"/>
                          </a:solidFill>
                          <a:effectLst/>
                        </a:rPr>
                        <a:t>Real-time OS are used in industries like aerospace and automotive where low </a:t>
                      </a:r>
                      <a:r>
                        <a:rPr lang="en-GB" sz="1800" b="1" dirty="0">
                          <a:solidFill>
                            <a:schemeClr val="tx1"/>
                          </a:solidFill>
                          <a:effectLst/>
                        </a:rPr>
                        <a:t>latency</a:t>
                      </a:r>
                      <a:r>
                        <a:rPr lang="en-GB" sz="1800" dirty="0">
                          <a:solidFill>
                            <a:schemeClr val="tx1"/>
                          </a:solidFill>
                          <a:effectLst/>
                        </a:rPr>
                        <a:t> is critical to safety.</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extLst>
                  <a:ext uri="{0D108BD9-81ED-4DB2-BD59-A6C34878D82A}">
                    <a16:rowId xmlns:a16="http://schemas.microsoft.com/office/drawing/2014/main" val="3445519959"/>
                  </a:ext>
                </a:extLst>
              </a:tr>
            </a:tbl>
          </a:graphicData>
        </a:graphic>
      </p:graphicFrame>
    </p:spTree>
    <p:extLst>
      <p:ext uri="{BB962C8B-B14F-4D97-AF65-F5344CB8AC3E}">
        <p14:creationId xmlns:p14="http://schemas.microsoft.com/office/powerpoint/2010/main" val="25283165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DBEC1-172C-26F8-0045-A4F4E1495341}"/>
              </a:ext>
            </a:extLst>
          </p:cNvPr>
          <p:cNvSpPr>
            <a:spLocks noGrp="1"/>
          </p:cNvSpPr>
          <p:nvPr>
            <p:ph type="title"/>
          </p:nvPr>
        </p:nvSpPr>
        <p:spPr/>
        <p:txBody>
          <a:bodyPr>
            <a:normAutofit/>
          </a:bodyPr>
          <a:lstStyle/>
          <a:p>
            <a:r>
              <a:rPr lang="en-GB" b="1" dirty="0">
                <a:solidFill>
                  <a:srgbClr val="323232"/>
                </a:solidFill>
              </a:rPr>
              <a:t>Worked Example</a:t>
            </a:r>
            <a:endParaRPr lang="en-GB" dirty="0"/>
          </a:p>
        </p:txBody>
      </p:sp>
      <p:sp>
        <p:nvSpPr>
          <p:cNvPr id="3" name="Content Placeholder 2">
            <a:extLst>
              <a:ext uri="{FF2B5EF4-FFF2-40B4-BE49-F238E27FC236}">
                <a16:creationId xmlns:a16="http://schemas.microsoft.com/office/drawing/2014/main" id="{6A04E045-DC0A-D34A-7746-14DFE83FCD6E}"/>
              </a:ext>
            </a:extLst>
          </p:cNvPr>
          <p:cNvSpPr>
            <a:spLocks noGrp="1"/>
          </p:cNvSpPr>
          <p:nvPr>
            <p:ph sz="quarter" idx="13"/>
          </p:nvPr>
        </p:nvSpPr>
        <p:spPr/>
        <p:txBody>
          <a:bodyPr>
            <a:normAutofit fontScale="92500" lnSpcReduction="20000"/>
          </a:bodyPr>
          <a:lstStyle/>
          <a:p>
            <a:pPr algn="l">
              <a:buNone/>
            </a:pPr>
            <a:r>
              <a:rPr lang="en-GB" b="1" i="0" dirty="0">
                <a:effectLst/>
                <a:latin typeface="+mj-lt"/>
              </a:rPr>
              <a:t>A taxi firm is investigating replacing its drivers with self-driving cars.</a:t>
            </a:r>
            <a:endParaRPr lang="en-GB" b="0" i="0" dirty="0">
              <a:effectLst/>
              <a:latin typeface="+mj-lt"/>
            </a:endParaRPr>
          </a:p>
          <a:p>
            <a:pPr algn="l">
              <a:buNone/>
            </a:pPr>
            <a:r>
              <a:rPr lang="en-GB" b="1" i="0" dirty="0">
                <a:effectLst/>
                <a:latin typeface="+mj-lt"/>
              </a:rPr>
              <a:t>Explain why the self-driving system will use a real-time operating system.</a:t>
            </a:r>
            <a:endParaRPr lang="en-GB" b="0" i="0" dirty="0">
              <a:effectLst/>
              <a:latin typeface="+mj-lt"/>
            </a:endParaRPr>
          </a:p>
          <a:p>
            <a:pPr algn="r">
              <a:buNone/>
            </a:pPr>
            <a:r>
              <a:rPr lang="en-GB" b="0" i="0" dirty="0">
                <a:effectLst/>
                <a:latin typeface="+mj-lt"/>
              </a:rPr>
              <a:t>[3]</a:t>
            </a:r>
          </a:p>
          <a:p>
            <a:pPr algn="l">
              <a:buNone/>
            </a:pPr>
            <a:r>
              <a:rPr lang="en-GB" b="1" i="0" dirty="0">
                <a:effectLst/>
                <a:latin typeface="+mj-lt"/>
              </a:rPr>
              <a:t>How to answer this question:</a:t>
            </a:r>
            <a:endParaRPr lang="en-GB" b="0" i="0" dirty="0">
              <a:effectLst/>
              <a:latin typeface="+mj-lt"/>
            </a:endParaRPr>
          </a:p>
          <a:p>
            <a:pPr algn="l">
              <a:buFont typeface="Arial" panose="020B0604020202020204" pitchFamily="34" charset="0"/>
              <a:buChar char="•"/>
            </a:pPr>
            <a:r>
              <a:rPr lang="en-GB" b="0" i="0" dirty="0">
                <a:effectLst/>
                <a:latin typeface="+mj-lt"/>
              </a:rPr>
              <a:t>Be able to state the purpose of an operating system and recall the advantages of a real-time operating system</a:t>
            </a:r>
          </a:p>
          <a:p>
            <a:pPr algn="l">
              <a:buFont typeface="Arial" panose="020B0604020202020204" pitchFamily="34" charset="0"/>
              <a:buChar char="•"/>
            </a:pPr>
            <a:r>
              <a:rPr lang="en-GB" b="0" i="0" dirty="0">
                <a:effectLst/>
                <a:latin typeface="+mj-lt"/>
              </a:rPr>
              <a:t>Link the advantage to the scenario in the question</a:t>
            </a:r>
          </a:p>
          <a:p>
            <a:pPr algn="l">
              <a:buNone/>
            </a:pPr>
            <a:endParaRPr lang="en-GB" b="0" i="0" dirty="0">
              <a:effectLst/>
              <a:latin typeface="+mj-lt"/>
            </a:endParaRPr>
          </a:p>
          <a:p>
            <a:pPr algn="l">
              <a:buNone/>
            </a:pPr>
            <a:endParaRPr lang="en-GB" dirty="0">
              <a:latin typeface="+mj-lt"/>
            </a:endParaRPr>
          </a:p>
          <a:p>
            <a:pPr algn="l">
              <a:buNone/>
            </a:pPr>
            <a:r>
              <a:rPr lang="en-GB" b="0" i="0" dirty="0">
                <a:effectLst/>
                <a:latin typeface="+mj-lt"/>
              </a:rPr>
              <a:t> </a:t>
            </a:r>
            <a:r>
              <a:rPr lang="en-GB" b="1" i="0" dirty="0">
                <a:effectLst/>
                <a:latin typeface="+mj-lt"/>
              </a:rPr>
              <a:t>Example answer that gets full marks:</a:t>
            </a:r>
            <a:endParaRPr lang="en-GB" b="0" i="0" dirty="0">
              <a:effectLst/>
              <a:latin typeface="+mj-lt"/>
            </a:endParaRPr>
          </a:p>
          <a:p>
            <a:pPr algn="l">
              <a:buNone/>
            </a:pPr>
            <a:r>
              <a:rPr lang="en-GB" b="0" i="0" dirty="0">
                <a:effectLst/>
                <a:latin typeface="+mj-lt"/>
              </a:rPr>
              <a:t>A self-driving car system must process data in real-time from input sensors such as radar cameras. Data needs to be processed instantly so that the vehicle can operate safely. A vehicle that cannot process data quickly will be an unreliable danger to people. Faster processing of input data will lead to safer operation of the vehicle. A real-time system will replicate hazard perception, navigation, and vehicle control that humans can instinctively do.</a:t>
            </a:r>
          </a:p>
          <a:p>
            <a:pPr algn="l">
              <a:buNone/>
            </a:pPr>
            <a:r>
              <a:rPr lang="en-GB" b="1" i="0" dirty="0">
                <a:effectLst/>
                <a:latin typeface="+mj-lt"/>
              </a:rPr>
              <a:t>Acceptable answers you could have given instead:</a:t>
            </a:r>
            <a:endParaRPr lang="en-GB" b="0" i="0" dirty="0">
              <a:effectLst/>
              <a:latin typeface="+mj-lt"/>
            </a:endParaRPr>
          </a:p>
          <a:p>
            <a:pPr algn="l"/>
            <a:r>
              <a:rPr lang="en-GB" b="0" i="0" dirty="0">
                <a:effectLst/>
                <a:latin typeface="+mj-lt"/>
              </a:rPr>
              <a:t>An operating system needs to process tasks quickly. A real-time operating system needs to process them instantly. A real-time operating system should be used in a self-driving car so that it can react to hazards quickly.</a:t>
            </a:r>
          </a:p>
          <a:p>
            <a:pPr marL="0" indent="0">
              <a:buNone/>
            </a:pPr>
            <a:endParaRPr lang="en-GB" dirty="0"/>
          </a:p>
        </p:txBody>
      </p:sp>
    </p:spTree>
    <p:extLst>
      <p:ext uri="{BB962C8B-B14F-4D97-AF65-F5344CB8AC3E}">
        <p14:creationId xmlns:p14="http://schemas.microsoft.com/office/powerpoint/2010/main" val="2358980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04E55-55BA-917D-F1CF-3642D85BD085}"/>
              </a:ext>
            </a:extLst>
          </p:cNvPr>
          <p:cNvSpPr>
            <a:spLocks noGrp="1"/>
          </p:cNvSpPr>
          <p:nvPr>
            <p:ph type="title"/>
          </p:nvPr>
        </p:nvSpPr>
        <p:spPr/>
        <p:txBody>
          <a:bodyPr>
            <a:normAutofit/>
          </a:bodyPr>
          <a:lstStyle/>
          <a:p>
            <a:r>
              <a:rPr lang="en-GB" dirty="0">
                <a:solidFill>
                  <a:srgbClr val="323232"/>
                </a:solidFill>
              </a:rPr>
              <a:t>Worked Example</a:t>
            </a:r>
            <a:endParaRPr lang="en-GB" dirty="0"/>
          </a:p>
        </p:txBody>
      </p:sp>
      <p:sp>
        <p:nvSpPr>
          <p:cNvPr id="3" name="Content Placeholder 2">
            <a:extLst>
              <a:ext uri="{FF2B5EF4-FFF2-40B4-BE49-F238E27FC236}">
                <a16:creationId xmlns:a16="http://schemas.microsoft.com/office/drawing/2014/main" id="{E6A87F6D-2D1C-E4D9-460D-0410F8B6753E}"/>
              </a:ext>
            </a:extLst>
          </p:cNvPr>
          <p:cNvSpPr>
            <a:spLocks noGrp="1"/>
          </p:cNvSpPr>
          <p:nvPr>
            <p:ph sz="quarter" idx="13"/>
          </p:nvPr>
        </p:nvSpPr>
        <p:spPr/>
        <p:txBody>
          <a:bodyPr>
            <a:normAutofit fontScale="92500" lnSpcReduction="20000"/>
          </a:bodyPr>
          <a:lstStyle/>
          <a:p>
            <a:pPr algn="l">
              <a:buNone/>
            </a:pPr>
            <a:r>
              <a:rPr lang="en-GB" b="1" i="0" dirty="0">
                <a:effectLst/>
                <a:latin typeface="+mj-lt"/>
              </a:rPr>
              <a:t>A company releases an in-home virtual assistant called ‘Bertie Butler’. When placed in a room, the device listens out for the phrase “Hey Bertie”. When someone says that phrase, it listens to the following question and tries to give a relevant answer.</a:t>
            </a:r>
            <a:endParaRPr lang="en-GB" b="0" i="0" dirty="0">
              <a:effectLst/>
              <a:latin typeface="+mj-lt"/>
            </a:endParaRPr>
          </a:p>
          <a:p>
            <a:pPr algn="l">
              <a:buNone/>
            </a:pPr>
            <a:r>
              <a:rPr lang="en-GB" b="1" i="0" dirty="0">
                <a:effectLst/>
                <a:latin typeface="+mj-lt"/>
              </a:rPr>
              <a:t>The Bertie Butler device runs off an embedded operating system.</a:t>
            </a:r>
            <a:endParaRPr lang="en-GB" b="0" i="0" dirty="0">
              <a:effectLst/>
              <a:latin typeface="+mj-lt"/>
            </a:endParaRPr>
          </a:p>
          <a:p>
            <a:pPr algn="l">
              <a:buNone/>
            </a:pPr>
            <a:r>
              <a:rPr lang="en-GB" b="1" i="0" dirty="0">
                <a:effectLst/>
                <a:latin typeface="+mj-lt"/>
              </a:rPr>
              <a:t>Define the term ‘embedded operating system’.</a:t>
            </a:r>
            <a:endParaRPr lang="en-GB" b="0" i="0" dirty="0">
              <a:effectLst/>
              <a:latin typeface="+mj-lt"/>
            </a:endParaRPr>
          </a:p>
          <a:p>
            <a:pPr algn="r">
              <a:buNone/>
            </a:pPr>
            <a:r>
              <a:rPr lang="en-GB" b="0" i="0" dirty="0">
                <a:effectLst/>
                <a:latin typeface="+mj-lt"/>
              </a:rPr>
              <a:t>[2]</a:t>
            </a:r>
          </a:p>
          <a:p>
            <a:pPr algn="l">
              <a:buNone/>
            </a:pPr>
            <a:r>
              <a:rPr lang="en-GB" b="1" i="0" dirty="0">
                <a:effectLst/>
                <a:latin typeface="+mj-lt"/>
              </a:rPr>
              <a:t>How to answer this question:</a:t>
            </a:r>
            <a:endParaRPr lang="en-GB" b="0" i="0" dirty="0">
              <a:effectLst/>
              <a:latin typeface="+mj-lt"/>
            </a:endParaRPr>
          </a:p>
          <a:p>
            <a:pPr algn="l">
              <a:buFont typeface="Arial" panose="020B0604020202020204" pitchFamily="34" charset="0"/>
              <a:buChar char="•"/>
            </a:pPr>
            <a:r>
              <a:rPr lang="en-GB" b="0" i="0" dirty="0">
                <a:effectLst/>
                <a:latin typeface="+mj-lt"/>
              </a:rPr>
              <a:t>Recall the features of an embedded system</a:t>
            </a:r>
          </a:p>
          <a:p>
            <a:pPr algn="l">
              <a:buFont typeface="Arial" panose="020B0604020202020204" pitchFamily="34" charset="0"/>
              <a:buChar char="•"/>
            </a:pPr>
            <a:r>
              <a:rPr lang="en-GB" b="0" i="0" dirty="0">
                <a:effectLst/>
                <a:latin typeface="+mj-lt"/>
              </a:rPr>
              <a:t>Use the scenario to include examples in your answer</a:t>
            </a:r>
          </a:p>
          <a:p>
            <a:pPr algn="l">
              <a:buNone/>
            </a:pPr>
            <a:endParaRPr lang="en-GB" b="1" i="0" dirty="0">
              <a:effectLst/>
              <a:latin typeface="+mj-lt"/>
            </a:endParaRPr>
          </a:p>
          <a:p>
            <a:pPr algn="l">
              <a:buNone/>
            </a:pPr>
            <a:r>
              <a:rPr lang="en-GB" b="1" i="0" dirty="0">
                <a:effectLst/>
                <a:latin typeface="+mj-lt"/>
              </a:rPr>
              <a:t>Example answer that gets full marks:</a:t>
            </a:r>
            <a:endParaRPr lang="en-GB" b="0" i="0" dirty="0">
              <a:effectLst/>
              <a:latin typeface="+mj-lt"/>
            </a:endParaRPr>
          </a:p>
          <a:p>
            <a:pPr algn="l">
              <a:buNone/>
            </a:pPr>
            <a:r>
              <a:rPr lang="en-GB" b="0" i="0" dirty="0">
                <a:effectLst/>
                <a:latin typeface="+mj-lt"/>
              </a:rPr>
              <a:t>Embedded systems are those running inside everyday items that are not primarily computers. Embedded systems usually have a simple set of features that they perform efficiently. Some other embedded systems, such as microwaves, have much simpler features and functions.</a:t>
            </a:r>
          </a:p>
          <a:p>
            <a:pPr algn="l">
              <a:buNone/>
            </a:pPr>
            <a:endParaRPr lang="en-GB" b="1" i="0" dirty="0">
              <a:effectLst/>
              <a:latin typeface="+mj-lt"/>
            </a:endParaRPr>
          </a:p>
          <a:p>
            <a:pPr algn="l">
              <a:buNone/>
            </a:pPr>
            <a:r>
              <a:rPr lang="en-GB" b="1" i="0" dirty="0">
                <a:effectLst/>
                <a:latin typeface="+mj-lt"/>
              </a:rPr>
              <a:t>Acceptable answers you could have given instead:</a:t>
            </a:r>
            <a:endParaRPr lang="en-GB" b="0" i="0" dirty="0">
              <a:effectLst/>
              <a:latin typeface="+mj-lt"/>
            </a:endParaRPr>
          </a:p>
          <a:p>
            <a:pPr algn="l"/>
            <a:r>
              <a:rPr lang="en-GB" b="0" i="0" dirty="0">
                <a:effectLst/>
                <a:latin typeface="+mj-lt"/>
              </a:rPr>
              <a:t>An embedded system runs in most household devices that require some processing e.g. microwaves, dishwashers, electric toothbrushes</a:t>
            </a:r>
          </a:p>
          <a:p>
            <a:pPr marL="0" indent="0">
              <a:buNone/>
            </a:pPr>
            <a:endParaRPr lang="en-GB" dirty="0"/>
          </a:p>
        </p:txBody>
      </p:sp>
    </p:spTree>
    <p:extLst>
      <p:ext uri="{BB962C8B-B14F-4D97-AF65-F5344CB8AC3E}">
        <p14:creationId xmlns:p14="http://schemas.microsoft.com/office/powerpoint/2010/main" val="4404887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8273C-C65D-798B-A9B3-277931878E4A}"/>
              </a:ext>
            </a:extLst>
          </p:cNvPr>
          <p:cNvSpPr>
            <a:spLocks noGrp="1"/>
          </p:cNvSpPr>
          <p:nvPr>
            <p:ph type="title"/>
          </p:nvPr>
        </p:nvSpPr>
        <p:spPr/>
        <p:txBody>
          <a:bodyPr/>
          <a:lstStyle/>
          <a:p>
            <a:pPr algn="l">
              <a:buNone/>
            </a:pPr>
            <a:r>
              <a:rPr lang="en-GB" sz="2800" b="1" i="0" dirty="0">
                <a:solidFill>
                  <a:srgbClr val="323232"/>
                </a:solidFill>
                <a:effectLst/>
                <a:latin typeface="+mj-lt"/>
              </a:rPr>
              <a:t>What is memory management?</a:t>
            </a:r>
          </a:p>
        </p:txBody>
      </p:sp>
      <p:sp>
        <p:nvSpPr>
          <p:cNvPr id="3" name="Content Placeholder 2">
            <a:extLst>
              <a:ext uri="{FF2B5EF4-FFF2-40B4-BE49-F238E27FC236}">
                <a16:creationId xmlns:a16="http://schemas.microsoft.com/office/drawing/2014/main" id="{FB80FC4A-1681-70EB-5A00-1FE73F602DF9}"/>
              </a:ext>
            </a:extLst>
          </p:cNvPr>
          <p:cNvSpPr>
            <a:spLocks noGrp="1"/>
          </p:cNvSpPr>
          <p:nvPr>
            <p:ph sz="quarter" idx="13"/>
          </p:nvPr>
        </p:nvSpPr>
        <p:spPr/>
        <p:txBody>
          <a:bodyPr>
            <a:normAutofit lnSpcReduction="10000"/>
          </a:bodyPr>
          <a:lstStyle/>
          <a:p>
            <a:pPr algn="l">
              <a:buFont typeface="Arial" panose="020B0604020202020204" pitchFamily="34" charset="0"/>
              <a:buChar char="•"/>
            </a:pPr>
            <a:r>
              <a:rPr lang="en-GB" sz="2000" b="0" i="0" dirty="0">
                <a:solidFill>
                  <a:srgbClr val="323232"/>
                </a:solidFill>
                <a:effectLst/>
                <a:latin typeface="+mj-lt"/>
              </a:rPr>
              <a:t>Memory management is a </a:t>
            </a:r>
            <a:r>
              <a:rPr lang="en-GB" sz="2000" i="0" dirty="0">
                <a:solidFill>
                  <a:srgbClr val="323232"/>
                </a:solidFill>
                <a:effectLst/>
                <a:latin typeface="+mj-lt"/>
              </a:rPr>
              <a:t>fundamental</a:t>
            </a:r>
            <a:r>
              <a:rPr lang="en-GB" sz="2000" b="0" i="0" dirty="0">
                <a:solidFill>
                  <a:srgbClr val="323232"/>
                </a:solidFill>
                <a:effectLst/>
                <a:latin typeface="+mj-lt"/>
              </a:rPr>
              <a:t> role of the operating system, dealing with the </a:t>
            </a:r>
            <a:r>
              <a:rPr lang="en-GB" sz="2000" b="1" i="0" dirty="0">
                <a:solidFill>
                  <a:srgbClr val="323232"/>
                </a:solidFill>
                <a:effectLst/>
                <a:latin typeface="+mj-lt"/>
              </a:rPr>
              <a:t>allocation</a:t>
            </a:r>
            <a:r>
              <a:rPr lang="en-GB" sz="2000" b="0" i="0" dirty="0">
                <a:solidFill>
                  <a:srgbClr val="323232"/>
                </a:solidFill>
                <a:effectLst/>
                <a:latin typeface="+mj-lt"/>
              </a:rPr>
              <a:t> and </a:t>
            </a:r>
            <a:r>
              <a:rPr lang="en-GB" sz="2000" b="1" i="0" dirty="0">
                <a:solidFill>
                  <a:srgbClr val="323232"/>
                </a:solidFill>
                <a:effectLst/>
                <a:latin typeface="+mj-lt"/>
              </a:rPr>
              <a:t>deallocation</a:t>
            </a:r>
            <a:r>
              <a:rPr lang="en-GB" sz="2000" b="0" i="0" dirty="0">
                <a:solidFill>
                  <a:srgbClr val="323232"/>
                </a:solidFill>
                <a:effectLst/>
                <a:latin typeface="+mj-lt"/>
              </a:rPr>
              <a:t> of the computer's primary memory</a:t>
            </a:r>
          </a:p>
          <a:p>
            <a:pPr algn="l">
              <a:buFont typeface="Arial" panose="020B0604020202020204" pitchFamily="34" charset="0"/>
              <a:buChar char="•"/>
            </a:pPr>
            <a:r>
              <a:rPr lang="en-GB" sz="2000" b="0" i="0" dirty="0">
                <a:solidFill>
                  <a:srgbClr val="323232"/>
                </a:solidFill>
                <a:effectLst/>
                <a:latin typeface="+mj-lt"/>
              </a:rPr>
              <a:t>When a user opens an application, its </a:t>
            </a:r>
            <a:r>
              <a:rPr lang="en-GB" sz="2000" b="1" i="0" dirty="0">
                <a:solidFill>
                  <a:srgbClr val="323232"/>
                </a:solidFill>
                <a:effectLst/>
                <a:latin typeface="+mj-lt"/>
              </a:rPr>
              <a:t>data is loaded from storage</a:t>
            </a:r>
            <a:r>
              <a:rPr lang="en-GB" sz="2000" b="0" i="0" dirty="0">
                <a:solidFill>
                  <a:srgbClr val="323232"/>
                </a:solidFill>
                <a:effectLst/>
                <a:latin typeface="+mj-lt"/>
              </a:rPr>
              <a:t> into active memory so that it can run </a:t>
            </a:r>
            <a:r>
              <a:rPr lang="en-GB" sz="2000" b="1" i="0" dirty="0">
                <a:solidFill>
                  <a:srgbClr val="323232"/>
                </a:solidFill>
                <a:effectLst/>
                <a:latin typeface="+mj-lt"/>
              </a:rPr>
              <a:t>smoothly</a:t>
            </a:r>
            <a:endParaRPr lang="en-GB" sz="2000" b="0" i="0" dirty="0">
              <a:solidFill>
                <a:srgbClr val="323232"/>
              </a:solidFill>
              <a:effectLst/>
              <a:latin typeface="+mj-lt"/>
            </a:endParaRPr>
          </a:p>
          <a:p>
            <a:pPr algn="l">
              <a:buFont typeface="Arial" panose="020B0604020202020204" pitchFamily="34" charset="0"/>
              <a:buChar char="•"/>
            </a:pPr>
            <a:r>
              <a:rPr lang="en-GB" sz="2000" b="0" i="0" dirty="0">
                <a:solidFill>
                  <a:srgbClr val="323232"/>
                </a:solidFill>
                <a:effectLst/>
                <a:latin typeface="+mj-lt"/>
              </a:rPr>
              <a:t>When a user opens a file from the file system, e.g. word document, the CPU loads this </a:t>
            </a:r>
            <a:r>
              <a:rPr lang="en-GB" sz="2000" b="1" i="0" dirty="0">
                <a:solidFill>
                  <a:srgbClr val="323232"/>
                </a:solidFill>
                <a:effectLst/>
                <a:latin typeface="+mj-lt"/>
              </a:rPr>
              <a:t>file data,</a:t>
            </a:r>
            <a:r>
              <a:rPr lang="en-GB" sz="2000" b="0" i="0" dirty="0">
                <a:solidFill>
                  <a:srgbClr val="323232"/>
                </a:solidFill>
                <a:effectLst/>
                <a:latin typeface="+mj-lt"/>
              </a:rPr>
              <a:t> as well as </a:t>
            </a:r>
            <a:r>
              <a:rPr lang="en-GB" sz="2000" b="1" i="0" dirty="0">
                <a:solidFill>
                  <a:srgbClr val="323232"/>
                </a:solidFill>
                <a:effectLst/>
                <a:latin typeface="+mj-lt"/>
              </a:rPr>
              <a:t>application data, </a:t>
            </a:r>
            <a:r>
              <a:rPr lang="en-GB" sz="2000" b="0" i="0" dirty="0">
                <a:solidFill>
                  <a:srgbClr val="323232"/>
                </a:solidFill>
                <a:effectLst/>
                <a:latin typeface="+mj-lt"/>
              </a:rPr>
              <a:t>into the primary memory</a:t>
            </a:r>
          </a:p>
          <a:p>
            <a:pPr algn="l">
              <a:buFont typeface="Arial" panose="020B0604020202020204" pitchFamily="34" charset="0"/>
              <a:buChar char="•"/>
            </a:pPr>
            <a:r>
              <a:rPr lang="en-GB" sz="2000" b="0" i="0" dirty="0">
                <a:solidFill>
                  <a:srgbClr val="323232"/>
                </a:solidFill>
                <a:effectLst/>
                <a:latin typeface="+mj-lt"/>
              </a:rPr>
              <a:t>Primary memory is a </a:t>
            </a:r>
            <a:r>
              <a:rPr lang="en-GB" sz="2000" b="1" i="0" dirty="0">
                <a:solidFill>
                  <a:srgbClr val="323232"/>
                </a:solidFill>
                <a:effectLst/>
                <a:latin typeface="+mj-lt"/>
              </a:rPr>
              <a:t>limited resource</a:t>
            </a:r>
            <a:r>
              <a:rPr lang="en-GB" sz="2000" b="0" i="0" dirty="0">
                <a:solidFill>
                  <a:srgbClr val="323232"/>
                </a:solidFill>
                <a:effectLst/>
                <a:latin typeface="+mj-lt"/>
              </a:rPr>
              <a:t> in the system, so it needs </a:t>
            </a:r>
            <a:r>
              <a:rPr lang="en-GB" sz="2000" b="1" i="0" dirty="0">
                <a:solidFill>
                  <a:srgbClr val="323232"/>
                </a:solidFill>
                <a:effectLst/>
                <a:latin typeface="+mj-lt"/>
              </a:rPr>
              <a:t>careful management</a:t>
            </a:r>
            <a:endParaRPr lang="en-GB" sz="2000" b="0" i="0" dirty="0">
              <a:solidFill>
                <a:srgbClr val="323232"/>
              </a:solidFill>
              <a:effectLst/>
              <a:latin typeface="+mj-lt"/>
            </a:endParaRPr>
          </a:p>
          <a:p>
            <a:pPr algn="l">
              <a:buFont typeface="Arial" panose="020B0604020202020204" pitchFamily="34" charset="0"/>
              <a:buChar char="•"/>
            </a:pPr>
            <a:r>
              <a:rPr lang="en-GB" sz="2000" b="1" i="0" dirty="0">
                <a:solidFill>
                  <a:srgbClr val="323232"/>
                </a:solidFill>
                <a:effectLst/>
                <a:latin typeface="+mj-lt"/>
              </a:rPr>
              <a:t>Benefits </a:t>
            </a:r>
            <a:r>
              <a:rPr lang="en-GB" sz="2000" b="0" i="0" dirty="0">
                <a:solidFill>
                  <a:srgbClr val="323232"/>
                </a:solidFill>
                <a:effectLst/>
                <a:latin typeface="+mj-lt"/>
              </a:rPr>
              <a:t>of memory management are:</a:t>
            </a:r>
          </a:p>
          <a:p>
            <a:pPr marL="742950" lvl="1" indent="-285750" algn="l">
              <a:buFont typeface="Arial" panose="020B0604020202020204" pitchFamily="34" charset="0"/>
              <a:buChar char="•"/>
            </a:pPr>
            <a:r>
              <a:rPr lang="en-GB" sz="2000" b="0" i="0" dirty="0">
                <a:solidFill>
                  <a:srgbClr val="323232"/>
                </a:solidFill>
                <a:effectLst/>
                <a:latin typeface="+mj-lt"/>
              </a:rPr>
              <a:t>Efficient allocation of memory </a:t>
            </a:r>
            <a:r>
              <a:rPr lang="en-GB" sz="2000" b="1" i="0" dirty="0">
                <a:solidFill>
                  <a:srgbClr val="323232"/>
                </a:solidFill>
                <a:effectLst/>
                <a:latin typeface="+mj-lt"/>
              </a:rPr>
              <a:t>enables multitasking</a:t>
            </a:r>
            <a:r>
              <a:rPr lang="en-GB" sz="2000" b="0" i="0" dirty="0">
                <a:solidFill>
                  <a:srgbClr val="323232"/>
                </a:solidFill>
                <a:effectLst/>
                <a:latin typeface="+mj-lt"/>
              </a:rPr>
              <a:t>, allowing multiple programs to run at once</a:t>
            </a:r>
          </a:p>
          <a:p>
            <a:pPr marL="742950" lvl="1" indent="-285750" algn="l">
              <a:buFont typeface="Arial" panose="020B0604020202020204" pitchFamily="34" charset="0"/>
              <a:buChar char="•"/>
            </a:pPr>
            <a:r>
              <a:rPr lang="en-GB" sz="2000" b="0" i="0" dirty="0">
                <a:solidFill>
                  <a:srgbClr val="323232"/>
                </a:solidFill>
                <a:effectLst/>
                <a:latin typeface="+mj-lt"/>
              </a:rPr>
              <a:t>Memory management </a:t>
            </a:r>
            <a:r>
              <a:rPr lang="en-GB" sz="2000" b="1" i="0" dirty="0">
                <a:solidFill>
                  <a:srgbClr val="323232"/>
                </a:solidFill>
                <a:effectLst/>
                <a:latin typeface="+mj-lt"/>
              </a:rPr>
              <a:t>maintains security</a:t>
            </a:r>
            <a:r>
              <a:rPr lang="en-GB" sz="2000" b="0" i="0" dirty="0">
                <a:solidFill>
                  <a:srgbClr val="323232"/>
                </a:solidFill>
                <a:effectLst/>
                <a:latin typeface="+mj-lt"/>
              </a:rPr>
              <a:t>, it does not let programs access memory reserved for other programs</a:t>
            </a:r>
          </a:p>
          <a:p>
            <a:pPr algn="l">
              <a:buFont typeface="Arial" panose="020B0604020202020204" pitchFamily="34" charset="0"/>
              <a:buChar char="•"/>
            </a:pPr>
            <a:r>
              <a:rPr lang="en-GB" sz="2000" b="0" i="0" dirty="0">
                <a:solidFill>
                  <a:srgbClr val="323232"/>
                </a:solidFill>
                <a:effectLst/>
                <a:latin typeface="+mj-lt"/>
              </a:rPr>
              <a:t>Memory management is made </a:t>
            </a:r>
            <a:r>
              <a:rPr lang="en-GB" sz="2000" b="1" i="0" dirty="0">
                <a:solidFill>
                  <a:srgbClr val="323232"/>
                </a:solidFill>
                <a:effectLst/>
                <a:latin typeface="+mj-lt"/>
              </a:rPr>
              <a:t>more efficient</a:t>
            </a:r>
            <a:r>
              <a:rPr lang="en-GB" sz="2000" b="0" i="0" dirty="0">
                <a:solidFill>
                  <a:srgbClr val="323232"/>
                </a:solidFill>
                <a:effectLst/>
                <a:latin typeface="+mj-lt"/>
              </a:rPr>
              <a:t> through 3 techniques:</a:t>
            </a:r>
          </a:p>
          <a:p>
            <a:pPr marL="742950" lvl="1" indent="-285750" algn="l">
              <a:buFont typeface="Arial" panose="020B0604020202020204" pitchFamily="34" charset="0"/>
              <a:buChar char="•"/>
            </a:pPr>
            <a:r>
              <a:rPr lang="en-GB" sz="2000" b="1" i="0" dirty="0">
                <a:solidFill>
                  <a:srgbClr val="323232"/>
                </a:solidFill>
                <a:effectLst/>
                <a:latin typeface="+mj-lt"/>
              </a:rPr>
              <a:t>Paging</a:t>
            </a:r>
            <a:endParaRPr lang="en-GB" sz="2000" b="0" i="0" dirty="0">
              <a:solidFill>
                <a:srgbClr val="323232"/>
              </a:solidFill>
              <a:effectLst/>
              <a:latin typeface="+mj-lt"/>
            </a:endParaRPr>
          </a:p>
          <a:p>
            <a:pPr marL="742950" lvl="1" indent="-285750" algn="l">
              <a:buFont typeface="Arial" panose="020B0604020202020204" pitchFamily="34" charset="0"/>
              <a:buChar char="•"/>
            </a:pPr>
            <a:r>
              <a:rPr lang="en-GB" sz="2000" b="1" i="0" dirty="0">
                <a:solidFill>
                  <a:srgbClr val="323232"/>
                </a:solidFill>
                <a:effectLst/>
                <a:latin typeface="+mj-lt"/>
              </a:rPr>
              <a:t>Segmentation</a:t>
            </a:r>
            <a:endParaRPr lang="en-GB" sz="2000" b="0" i="0" dirty="0">
              <a:solidFill>
                <a:srgbClr val="323232"/>
              </a:solidFill>
              <a:effectLst/>
              <a:latin typeface="+mj-lt"/>
            </a:endParaRPr>
          </a:p>
          <a:p>
            <a:pPr marL="742950" lvl="1" indent="-285750" algn="l">
              <a:buFont typeface="Arial" panose="020B0604020202020204" pitchFamily="34" charset="0"/>
              <a:buChar char="•"/>
            </a:pPr>
            <a:r>
              <a:rPr lang="en-GB" sz="2000" b="1" i="0" dirty="0">
                <a:solidFill>
                  <a:srgbClr val="323232"/>
                </a:solidFill>
                <a:effectLst/>
                <a:latin typeface="+mj-lt"/>
              </a:rPr>
              <a:t>Virtual Memory</a:t>
            </a:r>
            <a:endParaRPr lang="en-GB" sz="2000" b="0" i="0" dirty="0">
              <a:solidFill>
                <a:srgbClr val="323232"/>
              </a:solidFill>
              <a:effectLst/>
              <a:latin typeface="+mj-lt"/>
            </a:endParaRPr>
          </a:p>
          <a:p>
            <a:pPr marL="0" indent="0">
              <a:buNone/>
            </a:pPr>
            <a:endParaRPr lang="en-GB" dirty="0"/>
          </a:p>
        </p:txBody>
      </p:sp>
    </p:spTree>
    <p:extLst>
      <p:ext uri="{BB962C8B-B14F-4D97-AF65-F5344CB8AC3E}">
        <p14:creationId xmlns:p14="http://schemas.microsoft.com/office/powerpoint/2010/main" val="1200202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F8627-4BFD-909B-B7D1-1368C9351F36}"/>
              </a:ext>
            </a:extLst>
          </p:cNvPr>
          <p:cNvSpPr>
            <a:spLocks noGrp="1"/>
          </p:cNvSpPr>
          <p:nvPr>
            <p:ph type="title"/>
          </p:nvPr>
        </p:nvSpPr>
        <p:spPr/>
        <p:txBody>
          <a:bodyPr>
            <a:normAutofit/>
          </a:bodyPr>
          <a:lstStyle/>
          <a:p>
            <a:r>
              <a:rPr lang="en-GB" b="1" dirty="0">
                <a:solidFill>
                  <a:srgbClr val="323232"/>
                </a:solidFill>
                <a:latin typeface="jakarta"/>
              </a:rPr>
              <a:t>What are interrupts?</a:t>
            </a:r>
            <a:endParaRPr lang="en-GB" dirty="0"/>
          </a:p>
        </p:txBody>
      </p:sp>
      <p:sp>
        <p:nvSpPr>
          <p:cNvPr id="3" name="Content Placeholder 2">
            <a:extLst>
              <a:ext uri="{FF2B5EF4-FFF2-40B4-BE49-F238E27FC236}">
                <a16:creationId xmlns:a16="http://schemas.microsoft.com/office/drawing/2014/main" id="{EEF45388-CCFF-12F5-A2A3-A508DDE03EED}"/>
              </a:ext>
            </a:extLst>
          </p:cNvPr>
          <p:cNvSpPr>
            <a:spLocks noGrp="1"/>
          </p:cNvSpPr>
          <p:nvPr>
            <p:ph sz="quarter" idx="13"/>
          </p:nvPr>
        </p:nvSpPr>
        <p:spPr/>
        <p:txBody>
          <a:bodyPr/>
          <a:lstStyle/>
          <a:p>
            <a:pPr algn="l">
              <a:buFont typeface="Arial" panose="020B0604020202020204" pitchFamily="34" charset="0"/>
              <a:buChar char="•"/>
            </a:pPr>
            <a:r>
              <a:rPr lang="en-GB" sz="1800" dirty="0">
                <a:solidFill>
                  <a:srgbClr val="323232"/>
                </a:solidFill>
                <a:latin typeface="+mj-lt"/>
              </a:rPr>
              <a:t>A</a:t>
            </a:r>
            <a:r>
              <a:rPr lang="en-GB" sz="1800" b="0" i="0" dirty="0">
                <a:solidFill>
                  <a:srgbClr val="323232"/>
                </a:solidFill>
                <a:effectLst/>
                <a:latin typeface="+mj-lt"/>
              </a:rPr>
              <a:t>n interrupt is a signal to the processor that </a:t>
            </a:r>
            <a:r>
              <a:rPr lang="en-GB" sz="1800" b="1" i="0" dirty="0">
                <a:solidFill>
                  <a:srgbClr val="323232"/>
                </a:solidFill>
                <a:effectLst/>
                <a:latin typeface="+mj-lt"/>
              </a:rPr>
              <a:t>stops its current task</a:t>
            </a:r>
            <a:r>
              <a:rPr lang="en-GB" sz="1800" b="0" i="0" dirty="0">
                <a:solidFill>
                  <a:srgbClr val="323232"/>
                </a:solidFill>
                <a:effectLst/>
                <a:latin typeface="+mj-lt"/>
              </a:rPr>
              <a:t> and performs a different task temporarily</a:t>
            </a:r>
          </a:p>
          <a:p>
            <a:pPr algn="l">
              <a:buFont typeface="Arial" panose="020B0604020202020204" pitchFamily="34" charset="0"/>
              <a:buChar char="•"/>
            </a:pPr>
            <a:r>
              <a:rPr lang="en-GB" sz="1800" b="0" i="0" dirty="0">
                <a:solidFill>
                  <a:srgbClr val="323232"/>
                </a:solidFill>
                <a:effectLst/>
                <a:latin typeface="+mj-lt"/>
              </a:rPr>
              <a:t>Interrupts can be hardware events or time-sensitive tasks</a:t>
            </a:r>
          </a:p>
          <a:p>
            <a:pPr algn="l">
              <a:buFont typeface="Arial" panose="020B0604020202020204" pitchFamily="34" charset="0"/>
              <a:buChar char="•"/>
            </a:pPr>
            <a:r>
              <a:rPr lang="en-GB" sz="1800" b="0" i="0" dirty="0">
                <a:solidFill>
                  <a:srgbClr val="323232"/>
                </a:solidFill>
                <a:effectLst/>
                <a:latin typeface="+mj-lt"/>
              </a:rPr>
              <a:t>When an interrupt occurs, the processor </a:t>
            </a:r>
            <a:r>
              <a:rPr lang="en-GB" sz="1800" b="1" i="0" dirty="0">
                <a:solidFill>
                  <a:srgbClr val="323232"/>
                </a:solidFill>
                <a:effectLst/>
                <a:latin typeface="+mj-lt"/>
              </a:rPr>
              <a:t>suspends the current program</a:t>
            </a:r>
            <a:r>
              <a:rPr lang="en-GB" sz="1800" b="0" i="0" dirty="0">
                <a:solidFill>
                  <a:srgbClr val="323232"/>
                </a:solidFill>
                <a:effectLst/>
                <a:latin typeface="+mj-lt"/>
              </a:rPr>
              <a:t> execution and transfers control to an </a:t>
            </a:r>
            <a:r>
              <a:rPr lang="en-GB" sz="1800" b="1" i="0" dirty="0">
                <a:solidFill>
                  <a:srgbClr val="323232"/>
                </a:solidFill>
                <a:effectLst/>
                <a:latin typeface="+mj-lt"/>
              </a:rPr>
              <a:t>interrupt service routine</a:t>
            </a:r>
            <a:endParaRPr lang="en-GB" sz="1800" b="0" i="0" dirty="0">
              <a:solidFill>
                <a:srgbClr val="323232"/>
              </a:solidFill>
              <a:effectLst/>
              <a:latin typeface="+mj-lt"/>
            </a:endParaRPr>
          </a:p>
          <a:p>
            <a:pPr algn="l">
              <a:buNone/>
            </a:pPr>
            <a:endParaRPr lang="en-GB" sz="1800" b="1" i="0" dirty="0">
              <a:solidFill>
                <a:srgbClr val="323232"/>
              </a:solidFill>
              <a:effectLst/>
              <a:latin typeface="+mj-lt"/>
            </a:endParaRPr>
          </a:p>
          <a:p>
            <a:pPr algn="l">
              <a:buNone/>
            </a:pPr>
            <a:endParaRPr lang="en-GB" sz="1800" b="1" dirty="0">
              <a:solidFill>
                <a:srgbClr val="323232"/>
              </a:solidFill>
              <a:latin typeface="+mj-lt"/>
            </a:endParaRPr>
          </a:p>
          <a:p>
            <a:pPr algn="l">
              <a:buNone/>
            </a:pPr>
            <a:r>
              <a:rPr lang="en-GB" sz="1800" b="1" i="0" dirty="0">
                <a:solidFill>
                  <a:srgbClr val="323232"/>
                </a:solidFill>
                <a:effectLst/>
                <a:latin typeface="+mj-lt"/>
              </a:rPr>
              <a:t>Purpose and role of interrupts</a:t>
            </a:r>
          </a:p>
          <a:p>
            <a:pPr algn="l">
              <a:buFont typeface="Arial" panose="020B0604020202020204" pitchFamily="34" charset="0"/>
              <a:buChar char="•"/>
            </a:pPr>
            <a:r>
              <a:rPr lang="en-GB" sz="1800" b="1" i="0" dirty="0">
                <a:solidFill>
                  <a:srgbClr val="323232"/>
                </a:solidFill>
                <a:effectLst/>
                <a:latin typeface="+mj-lt"/>
              </a:rPr>
              <a:t>Real-time Event Handling</a:t>
            </a:r>
            <a:r>
              <a:rPr lang="en-GB" sz="1800" b="0" i="0" dirty="0">
                <a:solidFill>
                  <a:srgbClr val="323232"/>
                </a:solidFill>
                <a:effectLst/>
                <a:latin typeface="+mj-lt"/>
              </a:rPr>
              <a:t>: hardware errors and signals from input devices e.g. hard disk failure</a:t>
            </a:r>
          </a:p>
          <a:p>
            <a:pPr algn="l">
              <a:buFont typeface="Arial" panose="020B0604020202020204" pitchFamily="34" charset="0"/>
              <a:buChar char="•"/>
            </a:pPr>
            <a:r>
              <a:rPr lang="en-GB" sz="1800" b="1" i="0" dirty="0">
                <a:solidFill>
                  <a:srgbClr val="323232"/>
                </a:solidFill>
                <a:effectLst/>
                <a:latin typeface="+mj-lt"/>
              </a:rPr>
              <a:t>Device Communication</a:t>
            </a:r>
            <a:r>
              <a:rPr lang="en-GB" sz="1800" b="0" i="0" dirty="0">
                <a:solidFill>
                  <a:srgbClr val="323232"/>
                </a:solidFill>
                <a:effectLst/>
                <a:latin typeface="+mj-lt"/>
              </a:rPr>
              <a:t>: alerts from external devices e.g. printer jams and network errors</a:t>
            </a:r>
          </a:p>
          <a:p>
            <a:pPr algn="l">
              <a:buFont typeface="Arial" panose="020B0604020202020204" pitchFamily="34" charset="0"/>
              <a:buChar char="•"/>
            </a:pPr>
            <a:r>
              <a:rPr lang="en-GB" sz="1800" b="1" i="0" dirty="0">
                <a:solidFill>
                  <a:srgbClr val="323232"/>
                </a:solidFill>
                <a:effectLst/>
                <a:latin typeface="+mj-lt"/>
              </a:rPr>
              <a:t>Multitasking</a:t>
            </a:r>
            <a:r>
              <a:rPr lang="en-GB" sz="1800" b="0" i="0" dirty="0">
                <a:solidFill>
                  <a:srgbClr val="323232"/>
                </a:solidFill>
                <a:effectLst/>
                <a:latin typeface="+mj-lt"/>
              </a:rPr>
              <a:t>: suspending processing in one application so that the user can switch to another</a:t>
            </a:r>
          </a:p>
          <a:p>
            <a:pPr marL="0" indent="0">
              <a:buNone/>
            </a:pPr>
            <a:endParaRPr lang="en-GB" dirty="0"/>
          </a:p>
        </p:txBody>
      </p:sp>
    </p:spTree>
    <p:extLst>
      <p:ext uri="{BB962C8B-B14F-4D97-AF65-F5344CB8AC3E}">
        <p14:creationId xmlns:p14="http://schemas.microsoft.com/office/powerpoint/2010/main" val="3999893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D51DE-9038-5F98-C8AF-CD4ED01B5C59}"/>
              </a:ext>
            </a:extLst>
          </p:cNvPr>
          <p:cNvSpPr>
            <a:spLocks noGrp="1"/>
          </p:cNvSpPr>
          <p:nvPr>
            <p:ph type="title"/>
          </p:nvPr>
        </p:nvSpPr>
        <p:spPr>
          <a:xfrm>
            <a:off x="0" y="0"/>
            <a:ext cx="12170063" cy="707090"/>
          </a:xfrm>
        </p:spPr>
        <p:txBody>
          <a:bodyPr>
            <a:normAutofit/>
          </a:bodyPr>
          <a:lstStyle/>
          <a:p>
            <a:r>
              <a:rPr kumimoji="0" lang="en-US" altLang="en-US" sz="2800" b="1" i="0" u="none" strike="noStrike" cap="none" normalizeH="0" baseline="0" dirty="0">
                <a:ln>
                  <a:noFill/>
                </a:ln>
                <a:solidFill>
                  <a:srgbClr val="323232"/>
                </a:solidFill>
                <a:effectLst/>
              </a:rPr>
              <a:t>Types of interrupts</a:t>
            </a:r>
            <a:endParaRPr lang="en-GB" dirty="0"/>
          </a:p>
        </p:txBody>
      </p:sp>
      <p:graphicFrame>
        <p:nvGraphicFramePr>
          <p:cNvPr id="4" name="Content Placeholder 3">
            <a:extLst>
              <a:ext uri="{FF2B5EF4-FFF2-40B4-BE49-F238E27FC236}">
                <a16:creationId xmlns:a16="http://schemas.microsoft.com/office/drawing/2014/main" id="{ABBFF296-2591-0EB2-8ABA-231FF5EED8F2}"/>
              </a:ext>
            </a:extLst>
          </p:cNvPr>
          <p:cNvGraphicFramePr>
            <a:graphicFrameLocks noGrp="1"/>
          </p:cNvGraphicFramePr>
          <p:nvPr>
            <p:ph sz="quarter" idx="13"/>
            <p:extLst>
              <p:ext uri="{D42A27DB-BD31-4B8C-83A1-F6EECF244321}">
                <p14:modId xmlns:p14="http://schemas.microsoft.com/office/powerpoint/2010/main" val="2961036628"/>
              </p:ext>
            </p:extLst>
          </p:nvPr>
        </p:nvGraphicFramePr>
        <p:xfrm>
          <a:off x="615693" y="1165568"/>
          <a:ext cx="10604241" cy="2788433"/>
        </p:xfrm>
        <a:graphic>
          <a:graphicData uri="http://schemas.openxmlformats.org/drawingml/2006/table">
            <a:tbl>
              <a:tblPr/>
              <a:tblGrid>
                <a:gridCol w="3534747">
                  <a:extLst>
                    <a:ext uri="{9D8B030D-6E8A-4147-A177-3AD203B41FA5}">
                      <a16:colId xmlns:a16="http://schemas.microsoft.com/office/drawing/2014/main" val="1964673770"/>
                    </a:ext>
                  </a:extLst>
                </a:gridCol>
                <a:gridCol w="3534747">
                  <a:extLst>
                    <a:ext uri="{9D8B030D-6E8A-4147-A177-3AD203B41FA5}">
                      <a16:colId xmlns:a16="http://schemas.microsoft.com/office/drawing/2014/main" val="751908237"/>
                    </a:ext>
                  </a:extLst>
                </a:gridCol>
                <a:gridCol w="3534747">
                  <a:extLst>
                    <a:ext uri="{9D8B030D-6E8A-4147-A177-3AD203B41FA5}">
                      <a16:colId xmlns:a16="http://schemas.microsoft.com/office/drawing/2014/main" val="2612932743"/>
                    </a:ext>
                  </a:extLst>
                </a:gridCol>
              </a:tblGrid>
              <a:tr h="440327">
                <a:tc>
                  <a:txBody>
                    <a:bodyPr/>
                    <a:lstStyle/>
                    <a:p>
                      <a:pPr algn="ctr">
                        <a:buNone/>
                      </a:pPr>
                      <a:r>
                        <a:rPr lang="en-GB" sz="1800" b="1" dirty="0">
                          <a:solidFill>
                            <a:schemeClr val="tx1"/>
                          </a:solidFill>
                          <a:effectLst/>
                        </a:rPr>
                        <a:t>Type</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BFAFA"/>
                    </a:solidFill>
                  </a:tcPr>
                </a:tc>
                <a:tc>
                  <a:txBody>
                    <a:bodyPr/>
                    <a:lstStyle/>
                    <a:p>
                      <a:pPr algn="ctr">
                        <a:buNone/>
                      </a:pPr>
                      <a:r>
                        <a:rPr lang="en-GB" sz="1800" b="1">
                          <a:solidFill>
                            <a:schemeClr val="tx1"/>
                          </a:solidFill>
                          <a:effectLst/>
                        </a:rPr>
                        <a:t>Definition</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BFAFA"/>
                    </a:solidFill>
                  </a:tcPr>
                </a:tc>
                <a:tc>
                  <a:txBody>
                    <a:bodyPr/>
                    <a:lstStyle/>
                    <a:p>
                      <a:pPr algn="ctr">
                        <a:buNone/>
                      </a:pPr>
                      <a:r>
                        <a:rPr lang="en-GB" sz="1800" b="1">
                          <a:solidFill>
                            <a:schemeClr val="tx1"/>
                          </a:solidFill>
                          <a:effectLst/>
                        </a:rPr>
                        <a:t>Example</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BFAFA"/>
                    </a:solidFill>
                  </a:tcPr>
                </a:tc>
                <a:extLst>
                  <a:ext uri="{0D108BD9-81ED-4DB2-BD59-A6C34878D82A}">
                    <a16:rowId xmlns:a16="http://schemas.microsoft.com/office/drawing/2014/main" val="3600917173"/>
                  </a:ext>
                </a:extLst>
              </a:tr>
              <a:tr h="716853">
                <a:tc>
                  <a:txBody>
                    <a:bodyPr/>
                    <a:lstStyle/>
                    <a:p>
                      <a:pPr algn="ctr">
                        <a:buNone/>
                      </a:pPr>
                      <a:r>
                        <a:rPr lang="en-GB" sz="1800" b="1" dirty="0">
                          <a:solidFill>
                            <a:schemeClr val="tx1"/>
                          </a:solidFill>
                          <a:effectLst/>
                        </a:rPr>
                        <a:t>Hardware Interrupts</a:t>
                      </a:r>
                      <a:endParaRPr lang="en-GB" sz="1800" dirty="0">
                        <a:solidFill>
                          <a:schemeClr val="tx1"/>
                        </a:solidFill>
                        <a:effectLst/>
                      </a:endParaRP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800" dirty="0">
                          <a:solidFill>
                            <a:schemeClr val="tx1"/>
                          </a:solidFill>
                          <a:effectLst/>
                        </a:rPr>
                        <a:t>Generated by external devices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800">
                          <a:solidFill>
                            <a:schemeClr val="tx1"/>
                          </a:solidFill>
                          <a:effectLst/>
                        </a:rPr>
                        <a:t>Keyboard input, mouse movements, disk I/O requests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extLst>
                  <a:ext uri="{0D108BD9-81ED-4DB2-BD59-A6C34878D82A}">
                    <a16:rowId xmlns:a16="http://schemas.microsoft.com/office/drawing/2014/main" val="926372455"/>
                  </a:ext>
                </a:extLst>
              </a:tr>
              <a:tr h="716853">
                <a:tc>
                  <a:txBody>
                    <a:bodyPr/>
                    <a:lstStyle/>
                    <a:p>
                      <a:pPr algn="ctr">
                        <a:buNone/>
                      </a:pPr>
                      <a:r>
                        <a:rPr lang="en-GB" sz="1800" b="1">
                          <a:solidFill>
                            <a:schemeClr val="tx1"/>
                          </a:solidFill>
                          <a:effectLst/>
                        </a:rPr>
                        <a:t>Software Interrupts</a:t>
                      </a:r>
                      <a:endParaRPr lang="en-GB" sz="1800">
                        <a:solidFill>
                          <a:schemeClr val="tx1"/>
                        </a:solidFill>
                        <a:effectLst/>
                      </a:endParaRP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800" dirty="0">
                          <a:solidFill>
                            <a:schemeClr val="tx1"/>
                          </a:solidFill>
                          <a:effectLst/>
                        </a:rPr>
                        <a:t>Triggered by software or the operating system</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800" dirty="0">
                          <a:solidFill>
                            <a:schemeClr val="tx1"/>
                          </a:solidFill>
                          <a:effectLst/>
                        </a:rPr>
                        <a:t>Application requests to open a file, </a:t>
                      </a:r>
                      <a:r>
                        <a:rPr lang="en-GB" sz="1800" b="1" dirty="0">
                          <a:solidFill>
                            <a:schemeClr val="tx1"/>
                          </a:solidFill>
                          <a:effectLst/>
                        </a:rPr>
                        <a:t>division by zero</a:t>
                      </a:r>
                      <a:r>
                        <a:rPr lang="en-GB" sz="1800" dirty="0">
                          <a:solidFill>
                            <a:schemeClr val="tx1"/>
                          </a:solidFill>
                          <a:effectLst/>
                        </a:rPr>
                        <a:t> errors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extLst>
                  <a:ext uri="{0D108BD9-81ED-4DB2-BD59-A6C34878D82A}">
                    <a16:rowId xmlns:a16="http://schemas.microsoft.com/office/drawing/2014/main" val="979069350"/>
                  </a:ext>
                </a:extLst>
              </a:tr>
              <a:tr h="716853">
                <a:tc>
                  <a:txBody>
                    <a:bodyPr/>
                    <a:lstStyle/>
                    <a:p>
                      <a:pPr algn="ctr">
                        <a:buNone/>
                      </a:pPr>
                      <a:r>
                        <a:rPr lang="en-GB" sz="1800" b="1" dirty="0">
                          <a:solidFill>
                            <a:schemeClr val="tx1"/>
                          </a:solidFill>
                          <a:effectLst/>
                        </a:rPr>
                        <a:t>Trap Interrupts</a:t>
                      </a:r>
                      <a:endParaRPr lang="en-GB" sz="1800" dirty="0">
                        <a:solidFill>
                          <a:schemeClr val="tx1"/>
                        </a:solidFill>
                        <a:effectLst/>
                      </a:endParaRP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800">
                          <a:solidFill>
                            <a:schemeClr val="tx1"/>
                          </a:solidFill>
                          <a:effectLst/>
                        </a:rPr>
                        <a:t>Intentionally triggered by a program</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800" dirty="0">
                          <a:solidFill>
                            <a:schemeClr val="tx1"/>
                          </a:solidFill>
                          <a:effectLst/>
                        </a:rPr>
                        <a:t>Software debugging, handling unexpected error cases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extLst>
                  <a:ext uri="{0D108BD9-81ED-4DB2-BD59-A6C34878D82A}">
                    <a16:rowId xmlns:a16="http://schemas.microsoft.com/office/drawing/2014/main" val="2903855588"/>
                  </a:ext>
                </a:extLst>
              </a:tr>
            </a:tbl>
          </a:graphicData>
        </a:graphic>
      </p:graphicFrame>
      <p:sp>
        <p:nvSpPr>
          <p:cNvPr id="5" name="Rectangle 1">
            <a:extLst>
              <a:ext uri="{FF2B5EF4-FFF2-40B4-BE49-F238E27FC236}">
                <a16:creationId xmlns:a16="http://schemas.microsoft.com/office/drawing/2014/main" id="{2DDDE54E-D393-6AAA-D104-57D854A39162}"/>
              </a:ext>
            </a:extLst>
          </p:cNvPr>
          <p:cNvSpPr>
            <a:spLocks noChangeArrowheads="1"/>
          </p:cNvSpPr>
          <p:nvPr/>
        </p:nvSpPr>
        <p:spPr bwMode="auto">
          <a:xfrm>
            <a:off x="3597112" y="1997925"/>
            <a:ext cx="5848386" cy="4462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03578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0DE02-D2F9-FA93-F2B0-8A91723EAF86}"/>
              </a:ext>
            </a:extLst>
          </p:cNvPr>
          <p:cNvSpPr>
            <a:spLocks noGrp="1"/>
          </p:cNvSpPr>
          <p:nvPr>
            <p:ph type="title"/>
          </p:nvPr>
        </p:nvSpPr>
        <p:spPr/>
        <p:txBody>
          <a:bodyPr>
            <a:normAutofit/>
          </a:bodyPr>
          <a:lstStyle/>
          <a:p>
            <a:r>
              <a:rPr lang="en-GB" b="1" dirty="0">
                <a:solidFill>
                  <a:srgbClr val="323232"/>
                </a:solidFill>
                <a:latin typeface="jakarta"/>
              </a:rPr>
              <a:t>The interrupt process</a:t>
            </a:r>
            <a:endParaRPr lang="en-GB" dirty="0"/>
          </a:p>
        </p:txBody>
      </p:sp>
      <p:sp>
        <p:nvSpPr>
          <p:cNvPr id="3" name="Content Placeholder 2">
            <a:extLst>
              <a:ext uri="{FF2B5EF4-FFF2-40B4-BE49-F238E27FC236}">
                <a16:creationId xmlns:a16="http://schemas.microsoft.com/office/drawing/2014/main" id="{D0E6B730-2DF7-8F42-7D57-EF63E06F5726}"/>
              </a:ext>
            </a:extLst>
          </p:cNvPr>
          <p:cNvSpPr>
            <a:spLocks noGrp="1"/>
          </p:cNvSpPr>
          <p:nvPr>
            <p:ph sz="quarter" idx="13"/>
          </p:nvPr>
        </p:nvSpPr>
        <p:spPr>
          <a:xfrm>
            <a:off x="132970" y="822451"/>
            <a:ext cx="11449879" cy="5022835"/>
          </a:xfrm>
        </p:spPr>
        <p:txBody>
          <a:bodyPr>
            <a:normAutofit lnSpcReduction="10000"/>
          </a:bodyPr>
          <a:lstStyle/>
          <a:p>
            <a:pPr algn="l">
              <a:buFont typeface="+mj-lt"/>
              <a:buAutoNum type="arabicPeriod"/>
            </a:pPr>
            <a:r>
              <a:rPr lang="en-GB" sz="2000" b="1" i="0" dirty="0">
                <a:solidFill>
                  <a:srgbClr val="323232"/>
                </a:solidFill>
                <a:effectLst/>
                <a:latin typeface="+mj-lt"/>
              </a:rPr>
              <a:t>Interrupt Request (IRQ)</a:t>
            </a:r>
            <a:endParaRPr lang="en-GB" sz="2000" b="0" i="0" dirty="0">
              <a:solidFill>
                <a:srgbClr val="323232"/>
              </a:solidFill>
              <a:effectLst/>
              <a:latin typeface="+mj-lt"/>
            </a:endParaRPr>
          </a:p>
          <a:p>
            <a:pPr marL="742950" lvl="1" indent="-285750" algn="l">
              <a:buFont typeface="+mj-lt"/>
              <a:buAutoNum type="arabicPeriod"/>
            </a:pPr>
            <a:r>
              <a:rPr lang="en-GB" sz="2000" b="0" i="0" dirty="0">
                <a:solidFill>
                  <a:srgbClr val="323232"/>
                </a:solidFill>
                <a:effectLst/>
                <a:latin typeface="+mj-lt"/>
              </a:rPr>
              <a:t>An external device or software generates an interrupt, signalling the processor to stop its current task</a:t>
            </a:r>
          </a:p>
          <a:p>
            <a:pPr marL="742950" lvl="1" indent="-285750" algn="l">
              <a:buFont typeface="+mj-lt"/>
              <a:buAutoNum type="arabicPeriod"/>
            </a:pPr>
            <a:r>
              <a:rPr lang="en-GB" sz="2000" b="0" i="0" dirty="0">
                <a:solidFill>
                  <a:srgbClr val="323232"/>
                </a:solidFill>
                <a:effectLst/>
                <a:latin typeface="+mj-lt"/>
              </a:rPr>
              <a:t>The interrupt controller passes this to the interrupt handler for assessment</a:t>
            </a:r>
          </a:p>
          <a:p>
            <a:pPr algn="l">
              <a:buFont typeface="+mj-lt"/>
              <a:buAutoNum type="arabicPeriod"/>
            </a:pPr>
            <a:r>
              <a:rPr lang="en-GB" sz="2000" b="1" i="0" dirty="0">
                <a:solidFill>
                  <a:srgbClr val="323232"/>
                </a:solidFill>
                <a:effectLst/>
                <a:latin typeface="+mj-lt"/>
              </a:rPr>
              <a:t>Interrupt Acknowledge</a:t>
            </a:r>
            <a:endParaRPr lang="en-GB" sz="2000" b="0" i="0" dirty="0">
              <a:solidFill>
                <a:srgbClr val="323232"/>
              </a:solidFill>
              <a:effectLst/>
              <a:latin typeface="+mj-lt"/>
            </a:endParaRPr>
          </a:p>
          <a:p>
            <a:pPr marL="742950" lvl="1" indent="-285750" algn="l">
              <a:buFont typeface="+mj-lt"/>
              <a:buAutoNum type="arabicPeriod"/>
            </a:pPr>
            <a:r>
              <a:rPr lang="en-GB" sz="2000" b="0" i="0" dirty="0">
                <a:solidFill>
                  <a:srgbClr val="323232"/>
                </a:solidFill>
                <a:effectLst/>
                <a:latin typeface="+mj-lt"/>
              </a:rPr>
              <a:t>The interrupt handler decides if the interrupt needs to be dealt with now or later</a:t>
            </a:r>
          </a:p>
          <a:p>
            <a:pPr marL="742950" lvl="1" indent="-285750" algn="l">
              <a:buFont typeface="+mj-lt"/>
              <a:buAutoNum type="arabicPeriod"/>
            </a:pPr>
            <a:r>
              <a:rPr lang="en-GB" sz="2000" b="0" i="0" dirty="0">
                <a:solidFill>
                  <a:srgbClr val="323232"/>
                </a:solidFill>
                <a:effectLst/>
                <a:latin typeface="+mj-lt"/>
              </a:rPr>
              <a:t>If yes, the </a:t>
            </a:r>
            <a:r>
              <a:rPr lang="en-GB" sz="2000" b="1" i="0" dirty="0">
                <a:solidFill>
                  <a:srgbClr val="323232"/>
                </a:solidFill>
                <a:effectLst/>
                <a:latin typeface="+mj-lt"/>
              </a:rPr>
              <a:t>current contents of the processor registers are saved</a:t>
            </a:r>
            <a:r>
              <a:rPr lang="en-GB" sz="2000" b="0" i="0" dirty="0">
                <a:solidFill>
                  <a:srgbClr val="323232"/>
                </a:solidFill>
                <a:effectLst/>
                <a:latin typeface="+mj-lt"/>
              </a:rPr>
              <a:t> in memory</a:t>
            </a:r>
          </a:p>
          <a:p>
            <a:pPr algn="l">
              <a:buFont typeface="+mj-lt"/>
              <a:buAutoNum type="arabicPeriod"/>
            </a:pPr>
            <a:r>
              <a:rPr lang="en-GB" sz="2000" b="1" i="0" dirty="0">
                <a:solidFill>
                  <a:srgbClr val="323232"/>
                </a:solidFill>
                <a:effectLst/>
                <a:latin typeface="+mj-lt"/>
              </a:rPr>
              <a:t>Interrupt Service Routine (ISR) Lookup</a:t>
            </a:r>
            <a:endParaRPr lang="en-GB" sz="2000" b="0" i="0" dirty="0">
              <a:solidFill>
                <a:srgbClr val="323232"/>
              </a:solidFill>
              <a:effectLst/>
              <a:latin typeface="+mj-lt"/>
            </a:endParaRPr>
          </a:p>
          <a:p>
            <a:pPr marL="742950" lvl="1" indent="-285750" algn="l">
              <a:buFont typeface="+mj-lt"/>
              <a:buAutoNum type="arabicPeriod"/>
            </a:pPr>
            <a:r>
              <a:rPr lang="en-GB" sz="2000" b="0" i="0" dirty="0">
                <a:solidFill>
                  <a:srgbClr val="323232"/>
                </a:solidFill>
                <a:effectLst/>
                <a:latin typeface="+mj-lt"/>
              </a:rPr>
              <a:t>The processor fetches the corresponding Interrupt Service Routine (ISR) associated with the interrupt type</a:t>
            </a:r>
          </a:p>
          <a:p>
            <a:pPr algn="l">
              <a:buFont typeface="+mj-lt"/>
              <a:buAutoNum type="arabicPeriod"/>
            </a:pPr>
            <a:r>
              <a:rPr lang="en-GB" sz="2000" b="1" i="0" dirty="0">
                <a:solidFill>
                  <a:srgbClr val="323232"/>
                </a:solidFill>
                <a:effectLst/>
                <a:latin typeface="+mj-lt"/>
              </a:rPr>
              <a:t>ISR Execution</a:t>
            </a:r>
            <a:endParaRPr lang="en-GB" sz="2000" b="0" i="0" dirty="0">
              <a:solidFill>
                <a:srgbClr val="323232"/>
              </a:solidFill>
              <a:effectLst/>
              <a:latin typeface="+mj-lt"/>
            </a:endParaRPr>
          </a:p>
          <a:p>
            <a:pPr marL="742950" lvl="1" indent="-285750" algn="l">
              <a:buFont typeface="+mj-lt"/>
              <a:buAutoNum type="arabicPeriod"/>
            </a:pPr>
            <a:r>
              <a:rPr lang="en-GB" sz="2000" b="0" i="0" dirty="0">
                <a:solidFill>
                  <a:srgbClr val="323232"/>
                </a:solidFill>
                <a:effectLst/>
                <a:latin typeface="+mj-lt"/>
              </a:rPr>
              <a:t>The processor transfers control to the ISR and executes the routine to handle the specific interrupt</a:t>
            </a:r>
          </a:p>
          <a:p>
            <a:pPr algn="l">
              <a:buFont typeface="+mj-lt"/>
              <a:buAutoNum type="arabicPeriod"/>
            </a:pPr>
            <a:r>
              <a:rPr lang="en-GB" sz="2000" b="1" i="0" dirty="0">
                <a:solidFill>
                  <a:srgbClr val="323232"/>
                </a:solidFill>
                <a:effectLst/>
                <a:latin typeface="+mj-lt"/>
              </a:rPr>
              <a:t>Interrupt Exit</a:t>
            </a:r>
            <a:endParaRPr lang="en-GB" sz="2000" b="0" i="0" dirty="0">
              <a:solidFill>
                <a:srgbClr val="323232"/>
              </a:solidFill>
              <a:effectLst/>
              <a:latin typeface="+mj-lt"/>
            </a:endParaRPr>
          </a:p>
          <a:p>
            <a:pPr marL="742950" lvl="1" indent="-285750" algn="l">
              <a:buFont typeface="+mj-lt"/>
              <a:buAutoNum type="arabicPeriod"/>
            </a:pPr>
            <a:r>
              <a:rPr lang="en-GB" sz="2000" b="0" i="0" dirty="0">
                <a:solidFill>
                  <a:srgbClr val="323232"/>
                </a:solidFill>
                <a:effectLst/>
                <a:latin typeface="+mj-lt"/>
              </a:rPr>
              <a:t>After the ISR completes, </a:t>
            </a:r>
            <a:r>
              <a:rPr lang="en-GB" sz="2000" b="1" i="0" dirty="0">
                <a:solidFill>
                  <a:srgbClr val="323232"/>
                </a:solidFill>
                <a:effectLst/>
                <a:latin typeface="+mj-lt"/>
              </a:rPr>
              <a:t>the processor restores the content of the registers</a:t>
            </a:r>
            <a:r>
              <a:rPr lang="en-GB" sz="2000" b="0" i="0" dirty="0">
                <a:solidFill>
                  <a:srgbClr val="323232"/>
                </a:solidFill>
                <a:effectLst/>
                <a:latin typeface="+mj-lt"/>
              </a:rPr>
              <a:t> from step 2</a:t>
            </a:r>
          </a:p>
          <a:p>
            <a:pPr marL="742950" lvl="1" indent="-285750" algn="l">
              <a:buFont typeface="+mj-lt"/>
              <a:buAutoNum type="arabicPeriod"/>
            </a:pPr>
            <a:r>
              <a:rPr lang="en-GB" sz="2000" b="0" i="0" dirty="0">
                <a:solidFill>
                  <a:srgbClr val="323232"/>
                </a:solidFill>
                <a:effectLst/>
                <a:latin typeface="+mj-lt"/>
              </a:rPr>
              <a:t>The fetch-decode-execute cycle is resumed</a:t>
            </a:r>
          </a:p>
          <a:p>
            <a:pPr marL="0" indent="0">
              <a:buNone/>
            </a:pPr>
            <a:endParaRPr lang="en-GB" dirty="0"/>
          </a:p>
        </p:txBody>
      </p:sp>
    </p:spTree>
    <p:extLst>
      <p:ext uri="{BB962C8B-B14F-4D97-AF65-F5344CB8AC3E}">
        <p14:creationId xmlns:p14="http://schemas.microsoft.com/office/powerpoint/2010/main" val="2478639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Diagram illustrating interrupt handling in a CPU, showing stages: initialise program, fetch decode execute, interrupt handler, and service routines.">
            <a:extLst>
              <a:ext uri="{FF2B5EF4-FFF2-40B4-BE49-F238E27FC236}">
                <a16:creationId xmlns:a16="http://schemas.microsoft.com/office/drawing/2014/main" id="{03C194D0-D092-E108-1E5D-AECCB0136C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270" y="510781"/>
            <a:ext cx="11154967" cy="47655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78013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1F10B-9D46-ECAA-C21E-85184B699EAB}"/>
              </a:ext>
            </a:extLst>
          </p:cNvPr>
          <p:cNvSpPr>
            <a:spLocks noGrp="1"/>
          </p:cNvSpPr>
          <p:nvPr>
            <p:ph type="title"/>
          </p:nvPr>
        </p:nvSpPr>
        <p:spPr/>
        <p:txBody>
          <a:bodyPr>
            <a:normAutofit/>
          </a:bodyPr>
          <a:lstStyle/>
          <a:p>
            <a:r>
              <a:rPr lang="en-GB" b="1" dirty="0">
                <a:solidFill>
                  <a:srgbClr val="323232"/>
                </a:solidFill>
              </a:rPr>
              <a:t>What is an ISR?</a:t>
            </a:r>
            <a:endParaRPr lang="en-GB" dirty="0"/>
          </a:p>
        </p:txBody>
      </p:sp>
      <p:sp>
        <p:nvSpPr>
          <p:cNvPr id="3" name="Content Placeholder 2">
            <a:extLst>
              <a:ext uri="{FF2B5EF4-FFF2-40B4-BE49-F238E27FC236}">
                <a16:creationId xmlns:a16="http://schemas.microsoft.com/office/drawing/2014/main" id="{9D7AD11C-3AF9-0EDA-8035-FFED4FD684FC}"/>
              </a:ext>
            </a:extLst>
          </p:cNvPr>
          <p:cNvSpPr>
            <a:spLocks noGrp="1"/>
          </p:cNvSpPr>
          <p:nvPr>
            <p:ph sz="quarter" idx="13"/>
          </p:nvPr>
        </p:nvSpPr>
        <p:spPr/>
        <p:txBody>
          <a:bodyPr/>
          <a:lstStyle/>
          <a:p>
            <a:pPr algn="l">
              <a:buFont typeface="Arial" panose="020B0604020202020204" pitchFamily="34" charset="0"/>
              <a:buChar char="•"/>
            </a:pPr>
            <a:r>
              <a:rPr lang="en-GB" sz="2800" b="0" i="0" dirty="0">
                <a:solidFill>
                  <a:srgbClr val="323232"/>
                </a:solidFill>
                <a:effectLst/>
                <a:latin typeface="+mj-lt"/>
              </a:rPr>
              <a:t>An ISR is a </a:t>
            </a:r>
            <a:r>
              <a:rPr lang="en-GB" sz="2800" b="1" i="0" dirty="0">
                <a:solidFill>
                  <a:srgbClr val="323232"/>
                </a:solidFill>
                <a:effectLst/>
                <a:latin typeface="+mj-lt"/>
              </a:rPr>
              <a:t>special function</a:t>
            </a:r>
            <a:r>
              <a:rPr lang="en-GB" sz="2800" b="0" i="0" dirty="0">
                <a:solidFill>
                  <a:srgbClr val="323232"/>
                </a:solidFill>
                <a:effectLst/>
                <a:latin typeface="+mj-lt"/>
              </a:rPr>
              <a:t> that handles a particular interrupt type</a:t>
            </a:r>
          </a:p>
          <a:p>
            <a:pPr algn="l">
              <a:buFont typeface="Arial" panose="020B0604020202020204" pitchFamily="34" charset="0"/>
              <a:buChar char="•"/>
            </a:pPr>
            <a:r>
              <a:rPr lang="en-GB" sz="2800" b="0" i="0" dirty="0">
                <a:solidFill>
                  <a:srgbClr val="323232"/>
                </a:solidFill>
                <a:effectLst/>
                <a:latin typeface="+mj-lt"/>
              </a:rPr>
              <a:t>Each type of interrupt has a corresponding routine, e.g. printer jam, hard disk failure, file download error, network connection error all have routines to be followed when they happen</a:t>
            </a:r>
          </a:p>
          <a:p>
            <a:pPr algn="l">
              <a:buFont typeface="Arial" panose="020B0604020202020204" pitchFamily="34" charset="0"/>
              <a:buChar char="•"/>
            </a:pPr>
            <a:r>
              <a:rPr lang="en-GB" sz="2800" b="0" i="0" dirty="0">
                <a:solidFill>
                  <a:srgbClr val="323232"/>
                </a:solidFill>
                <a:effectLst/>
                <a:latin typeface="+mj-lt"/>
              </a:rPr>
              <a:t>ISRs should be </a:t>
            </a:r>
            <a:r>
              <a:rPr lang="en-GB" sz="2800" b="1" i="0" dirty="0">
                <a:solidFill>
                  <a:srgbClr val="323232"/>
                </a:solidFill>
                <a:effectLst/>
                <a:latin typeface="+mj-lt"/>
              </a:rPr>
              <a:t>concise</a:t>
            </a:r>
            <a:r>
              <a:rPr lang="en-GB" sz="2800" b="0" i="0" dirty="0">
                <a:solidFill>
                  <a:srgbClr val="323232"/>
                </a:solidFill>
                <a:effectLst/>
                <a:latin typeface="+mj-lt"/>
              </a:rPr>
              <a:t>, </a:t>
            </a:r>
            <a:r>
              <a:rPr lang="en-GB" sz="2800" b="1" i="0" dirty="0">
                <a:solidFill>
                  <a:srgbClr val="323232"/>
                </a:solidFill>
                <a:effectLst/>
                <a:latin typeface="+mj-lt"/>
              </a:rPr>
              <a:t>efficient</a:t>
            </a:r>
            <a:r>
              <a:rPr lang="en-GB" sz="2800" b="0" i="0" dirty="0">
                <a:solidFill>
                  <a:srgbClr val="323232"/>
                </a:solidFill>
                <a:effectLst/>
                <a:latin typeface="+mj-lt"/>
              </a:rPr>
              <a:t>, and carefully designed to minimise the time taken to execute, as they often need to handle time-sensitive events</a:t>
            </a:r>
          </a:p>
          <a:p>
            <a:pPr marL="0" indent="0">
              <a:buNone/>
            </a:pPr>
            <a:endParaRPr lang="en-GB" dirty="0"/>
          </a:p>
        </p:txBody>
      </p:sp>
      <p:pic>
        <p:nvPicPr>
          <p:cNvPr id="6146" name="Picture 2" descr="Nesting of interrupts">
            <a:extLst>
              <a:ext uri="{FF2B5EF4-FFF2-40B4-BE49-F238E27FC236}">
                <a16:creationId xmlns:a16="http://schemas.microsoft.com/office/drawing/2014/main" id="{6B940BAA-0A30-3AF0-B80E-C2D7ED4EE4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1437" y="4152685"/>
            <a:ext cx="4175983" cy="2532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0961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52897-53B8-B78A-4473-E961E4B057A5}"/>
              </a:ext>
            </a:extLst>
          </p:cNvPr>
          <p:cNvSpPr>
            <a:spLocks noGrp="1"/>
          </p:cNvSpPr>
          <p:nvPr>
            <p:ph type="title"/>
          </p:nvPr>
        </p:nvSpPr>
        <p:spPr/>
        <p:txBody>
          <a:bodyPr>
            <a:normAutofit/>
          </a:bodyPr>
          <a:lstStyle/>
          <a:p>
            <a:r>
              <a:rPr lang="en-GB" dirty="0">
                <a:solidFill>
                  <a:srgbClr val="323232"/>
                </a:solidFill>
              </a:rPr>
              <a:t>Interrupt priority and nesting</a:t>
            </a:r>
            <a:endParaRPr lang="en-GB" dirty="0"/>
          </a:p>
        </p:txBody>
      </p:sp>
      <p:sp>
        <p:nvSpPr>
          <p:cNvPr id="3" name="Content Placeholder 2">
            <a:extLst>
              <a:ext uri="{FF2B5EF4-FFF2-40B4-BE49-F238E27FC236}">
                <a16:creationId xmlns:a16="http://schemas.microsoft.com/office/drawing/2014/main" id="{64477425-19D4-579C-3B75-0D7D2F92BF0E}"/>
              </a:ext>
            </a:extLst>
          </p:cNvPr>
          <p:cNvSpPr>
            <a:spLocks noGrp="1"/>
          </p:cNvSpPr>
          <p:nvPr>
            <p:ph sz="quarter" idx="13"/>
          </p:nvPr>
        </p:nvSpPr>
        <p:spPr/>
        <p:txBody>
          <a:bodyPr/>
          <a:lstStyle/>
          <a:p>
            <a:pPr algn="l">
              <a:buFont typeface="Arial" panose="020B0604020202020204" pitchFamily="34" charset="0"/>
              <a:buChar char="•"/>
            </a:pPr>
            <a:r>
              <a:rPr lang="en-GB" sz="2800" b="0" i="0" dirty="0">
                <a:solidFill>
                  <a:srgbClr val="323232"/>
                </a:solidFill>
                <a:effectLst/>
                <a:latin typeface="+mj-lt"/>
              </a:rPr>
              <a:t>Interrupt prioritisation means the processor can acknowledge and </a:t>
            </a:r>
            <a:r>
              <a:rPr lang="en-GB" sz="2800" b="1" i="0" dirty="0">
                <a:solidFill>
                  <a:srgbClr val="323232"/>
                </a:solidFill>
                <a:effectLst/>
                <a:latin typeface="+mj-lt"/>
              </a:rPr>
              <a:t>switch to resolving a higher-priority interrupt</a:t>
            </a:r>
            <a:endParaRPr lang="en-GB" sz="2800" b="0" i="0" dirty="0">
              <a:solidFill>
                <a:srgbClr val="323232"/>
              </a:solidFill>
              <a:effectLst/>
              <a:latin typeface="+mj-lt"/>
            </a:endParaRPr>
          </a:p>
          <a:p>
            <a:pPr algn="l">
              <a:buFont typeface="Arial" panose="020B0604020202020204" pitchFamily="34" charset="0"/>
              <a:buChar char="•"/>
            </a:pPr>
            <a:r>
              <a:rPr lang="en-GB" sz="2800" b="0" i="0" dirty="0">
                <a:solidFill>
                  <a:srgbClr val="323232"/>
                </a:solidFill>
                <a:effectLst/>
                <a:latin typeface="+mj-lt"/>
              </a:rPr>
              <a:t>Prioritising interrupts is vital because many things can go wrong at the same time</a:t>
            </a:r>
          </a:p>
          <a:p>
            <a:pPr algn="l">
              <a:buFont typeface="Arial" panose="020B0604020202020204" pitchFamily="34" charset="0"/>
              <a:buChar char="•"/>
            </a:pPr>
            <a:r>
              <a:rPr lang="en-GB" sz="2800" b="1" i="0" dirty="0">
                <a:solidFill>
                  <a:srgbClr val="323232"/>
                </a:solidFill>
                <a:effectLst/>
                <a:latin typeface="+mj-lt"/>
              </a:rPr>
              <a:t>Lower-priority ISRs may be temporarily suspended</a:t>
            </a:r>
            <a:r>
              <a:rPr lang="en-GB" sz="2800" b="0" i="0" dirty="0">
                <a:solidFill>
                  <a:srgbClr val="323232"/>
                </a:solidFill>
                <a:effectLst/>
                <a:latin typeface="+mj-lt"/>
              </a:rPr>
              <a:t> until the higher-priority ISR completes the execution</a:t>
            </a:r>
          </a:p>
          <a:p>
            <a:pPr algn="l">
              <a:buFont typeface="Arial" panose="020B0604020202020204" pitchFamily="34" charset="0"/>
              <a:buChar char="•"/>
            </a:pPr>
            <a:r>
              <a:rPr lang="en-GB" sz="2800" b="0" i="0" dirty="0">
                <a:solidFill>
                  <a:srgbClr val="323232"/>
                </a:solidFill>
                <a:effectLst/>
                <a:latin typeface="+mj-lt"/>
              </a:rPr>
              <a:t>Nesting of interrupts refers to the ability of the processor to handle interrupts within interrupts</a:t>
            </a:r>
          </a:p>
          <a:p>
            <a:pPr algn="l">
              <a:buFont typeface="Arial" panose="020B0604020202020204" pitchFamily="34" charset="0"/>
              <a:buChar char="•"/>
            </a:pPr>
            <a:r>
              <a:rPr lang="en-GB" sz="2800" b="0" i="0" dirty="0">
                <a:solidFill>
                  <a:srgbClr val="323232"/>
                </a:solidFill>
                <a:effectLst/>
                <a:latin typeface="+mj-lt"/>
              </a:rPr>
              <a:t>Proper management of nested interrupts avoids potential conflicts and ensures system stability</a:t>
            </a:r>
          </a:p>
          <a:p>
            <a:pPr marL="0" indent="0">
              <a:buNone/>
            </a:pPr>
            <a:endParaRPr lang="en-GB" dirty="0"/>
          </a:p>
        </p:txBody>
      </p:sp>
    </p:spTree>
    <p:extLst>
      <p:ext uri="{BB962C8B-B14F-4D97-AF65-F5344CB8AC3E}">
        <p14:creationId xmlns:p14="http://schemas.microsoft.com/office/powerpoint/2010/main" val="41394956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F8B69-8127-D9EA-06D0-B76FD2818E94}"/>
              </a:ext>
            </a:extLst>
          </p:cNvPr>
          <p:cNvSpPr>
            <a:spLocks noGrp="1"/>
          </p:cNvSpPr>
          <p:nvPr>
            <p:ph type="title"/>
          </p:nvPr>
        </p:nvSpPr>
        <p:spPr/>
        <p:txBody>
          <a:bodyPr>
            <a:normAutofit/>
          </a:bodyPr>
          <a:lstStyle/>
          <a:p>
            <a:r>
              <a:rPr lang="en-GB" b="1" i="0" dirty="0">
                <a:solidFill>
                  <a:srgbClr val="323232"/>
                </a:solidFill>
                <a:effectLst/>
              </a:rPr>
              <a:t>Interrupt priority handling</a:t>
            </a:r>
            <a:endParaRPr lang="en-GB" dirty="0"/>
          </a:p>
        </p:txBody>
      </p:sp>
      <p:pic>
        <p:nvPicPr>
          <p:cNvPr id="7170" name="Picture 2" descr="System handling of interrupt priority">
            <a:extLst>
              <a:ext uri="{FF2B5EF4-FFF2-40B4-BE49-F238E27FC236}">
                <a16:creationId xmlns:a16="http://schemas.microsoft.com/office/drawing/2014/main" id="{8BA9FC51-424E-C21A-43DC-FAED2612D0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5810" y="815006"/>
            <a:ext cx="5801354" cy="58378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16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99D5D-8C8E-9C15-62AD-2E6B987DB041}"/>
              </a:ext>
            </a:extLst>
          </p:cNvPr>
          <p:cNvSpPr>
            <a:spLocks noGrp="1"/>
          </p:cNvSpPr>
          <p:nvPr>
            <p:ph type="title"/>
          </p:nvPr>
        </p:nvSpPr>
        <p:spPr/>
        <p:txBody>
          <a:bodyPr/>
          <a:lstStyle/>
          <a:p>
            <a:r>
              <a:rPr lang="en-GB" dirty="0"/>
              <a:t>Interrupt sequence </a:t>
            </a:r>
          </a:p>
        </p:txBody>
      </p:sp>
      <p:sp>
        <p:nvSpPr>
          <p:cNvPr id="3" name="Content Placeholder 2">
            <a:extLst>
              <a:ext uri="{FF2B5EF4-FFF2-40B4-BE49-F238E27FC236}">
                <a16:creationId xmlns:a16="http://schemas.microsoft.com/office/drawing/2014/main" id="{498640AE-0F43-7D5D-9D48-913E5C31E8AC}"/>
              </a:ext>
            </a:extLst>
          </p:cNvPr>
          <p:cNvSpPr>
            <a:spLocks noGrp="1"/>
          </p:cNvSpPr>
          <p:nvPr>
            <p:ph sz="quarter" idx="13"/>
          </p:nvPr>
        </p:nvSpPr>
        <p:spPr/>
        <p:txBody>
          <a:bodyPr/>
          <a:lstStyle/>
          <a:p>
            <a:pPr marL="457200" indent="-457200">
              <a:buFont typeface="+mj-lt"/>
              <a:buAutoNum type="arabicPeriod"/>
            </a:pPr>
            <a:r>
              <a:rPr lang="en-GB" sz="2000" dirty="0">
                <a:effectLst/>
                <a:latin typeface="+mj-lt"/>
              </a:rPr>
              <a:t>Interrupt checked for at start/end of each fetch-execute cycle </a:t>
            </a:r>
          </a:p>
          <a:p>
            <a:pPr marL="457200" indent="-457200">
              <a:buFont typeface="+mj-lt"/>
              <a:buAutoNum type="arabicPeriod"/>
            </a:pPr>
            <a:r>
              <a:rPr lang="en-GB" sz="2000" dirty="0">
                <a:effectLst/>
                <a:latin typeface="+mj-lt"/>
              </a:rPr>
              <a:t>If the interrupt is of a lower/equal priority to the current process then the current process continues </a:t>
            </a:r>
          </a:p>
          <a:p>
            <a:pPr marL="457200" indent="-457200">
              <a:buFont typeface="+mj-lt"/>
              <a:buAutoNum type="arabicPeriod"/>
            </a:pPr>
            <a:r>
              <a:rPr lang="en-GB" sz="2000" dirty="0">
                <a:effectLst/>
                <a:latin typeface="+mj-lt"/>
              </a:rPr>
              <a:t>(If interrupt raised) contents of </a:t>
            </a:r>
            <a:r>
              <a:rPr lang="en-GB" sz="2000" b="1" dirty="0">
                <a:effectLst/>
                <a:latin typeface="+mj-lt"/>
              </a:rPr>
              <a:t>registers </a:t>
            </a:r>
            <a:r>
              <a:rPr lang="en-GB" sz="2000" dirty="0">
                <a:effectLst/>
                <a:latin typeface="+mj-lt"/>
              </a:rPr>
              <a:t>copied to stack </a:t>
            </a:r>
          </a:p>
          <a:p>
            <a:pPr marL="457200" indent="-457200">
              <a:buFont typeface="+mj-lt"/>
              <a:buAutoNum type="arabicPeriod"/>
            </a:pPr>
            <a:r>
              <a:rPr lang="en-GB" sz="2000" dirty="0">
                <a:effectLst/>
                <a:latin typeface="+mj-lt"/>
              </a:rPr>
              <a:t>Flags are set to determine if interrupts are enabled / disabled </a:t>
            </a:r>
          </a:p>
          <a:p>
            <a:pPr marL="457200" indent="-457200">
              <a:buFont typeface="+mj-lt"/>
              <a:buAutoNum type="arabicPeriod"/>
            </a:pPr>
            <a:r>
              <a:rPr lang="en-GB" sz="2000" dirty="0">
                <a:effectLst/>
                <a:latin typeface="+mj-lt"/>
              </a:rPr>
              <a:t>Program counter changed to point to Interrupt Service Routine (ISR) // ISR runs </a:t>
            </a:r>
          </a:p>
          <a:p>
            <a:pPr marL="457200" indent="-457200">
              <a:buFont typeface="+mj-lt"/>
              <a:buAutoNum type="arabicPeriod"/>
            </a:pPr>
            <a:r>
              <a:rPr lang="en-GB" sz="2000" dirty="0">
                <a:effectLst/>
                <a:latin typeface="+mj-lt"/>
              </a:rPr>
              <a:t>After interrupt complete, previous </a:t>
            </a:r>
            <a:r>
              <a:rPr lang="en-GB" sz="2000" b="1" dirty="0">
                <a:effectLst/>
                <a:latin typeface="+mj-lt"/>
              </a:rPr>
              <a:t>register </a:t>
            </a:r>
            <a:r>
              <a:rPr lang="en-GB" sz="2000" dirty="0">
                <a:effectLst/>
                <a:latin typeface="+mj-lt"/>
              </a:rPr>
              <a:t>values restored back from stack </a:t>
            </a:r>
          </a:p>
          <a:p>
            <a:pPr marL="457200" indent="-457200">
              <a:buFont typeface="+mj-lt"/>
              <a:buAutoNum type="arabicPeriod"/>
            </a:pPr>
            <a:r>
              <a:rPr lang="en-GB" sz="2000" dirty="0">
                <a:effectLst/>
                <a:latin typeface="+mj-lt"/>
              </a:rPr>
              <a:t>Flag is reset </a:t>
            </a:r>
          </a:p>
          <a:p>
            <a:pPr marL="457200" indent="-457200">
              <a:buFont typeface="+mj-lt"/>
              <a:buAutoNum type="arabicPeriod"/>
            </a:pPr>
            <a:r>
              <a:rPr lang="en-GB" sz="2000" dirty="0">
                <a:effectLst/>
                <a:latin typeface="+mj-lt"/>
              </a:rPr>
              <a:t>If higher priority interrupt received during servicing of interrupt… </a:t>
            </a:r>
          </a:p>
          <a:p>
            <a:pPr marL="457200" indent="-457200">
              <a:buFont typeface="+mj-lt"/>
              <a:buAutoNum type="arabicPeriod"/>
            </a:pPr>
            <a:r>
              <a:rPr lang="en-GB" sz="2000" dirty="0">
                <a:effectLst/>
                <a:latin typeface="+mj-lt"/>
              </a:rPr>
              <a:t>…this is added to stack and new interrupt dealt with </a:t>
            </a:r>
          </a:p>
          <a:p>
            <a:pPr marL="0" indent="0">
              <a:buNone/>
            </a:pPr>
            <a:endParaRPr lang="en-GB" dirty="0"/>
          </a:p>
        </p:txBody>
      </p:sp>
    </p:spTree>
    <p:extLst>
      <p:ext uri="{BB962C8B-B14F-4D97-AF65-F5344CB8AC3E}">
        <p14:creationId xmlns:p14="http://schemas.microsoft.com/office/powerpoint/2010/main" val="4176616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BD825-2349-361E-AC84-C2E3409C6478}"/>
              </a:ext>
            </a:extLst>
          </p:cNvPr>
          <p:cNvSpPr>
            <a:spLocks noGrp="1"/>
          </p:cNvSpPr>
          <p:nvPr>
            <p:ph type="title"/>
          </p:nvPr>
        </p:nvSpPr>
        <p:spPr/>
        <p:txBody>
          <a:bodyPr>
            <a:normAutofit/>
          </a:bodyPr>
          <a:lstStyle/>
          <a:p>
            <a:r>
              <a:rPr lang="en-GB" dirty="0">
                <a:solidFill>
                  <a:srgbClr val="323232"/>
                </a:solidFill>
                <a:latin typeface="jakarta"/>
              </a:rPr>
              <a:t>Scheduling</a:t>
            </a:r>
            <a:endParaRPr lang="en-GB" dirty="0"/>
          </a:p>
        </p:txBody>
      </p:sp>
      <p:sp>
        <p:nvSpPr>
          <p:cNvPr id="3" name="Content Placeholder 2">
            <a:extLst>
              <a:ext uri="{FF2B5EF4-FFF2-40B4-BE49-F238E27FC236}">
                <a16:creationId xmlns:a16="http://schemas.microsoft.com/office/drawing/2014/main" id="{046437EB-63E5-0C4A-3ABE-73822046FEA2}"/>
              </a:ext>
            </a:extLst>
          </p:cNvPr>
          <p:cNvSpPr>
            <a:spLocks noGrp="1"/>
          </p:cNvSpPr>
          <p:nvPr>
            <p:ph sz="quarter" idx="13"/>
          </p:nvPr>
        </p:nvSpPr>
        <p:spPr/>
        <p:txBody>
          <a:bodyPr/>
          <a:lstStyle/>
          <a:p>
            <a:pPr algn="l">
              <a:buNone/>
            </a:pPr>
            <a:r>
              <a:rPr lang="en-GB" sz="2000" b="1" i="0" dirty="0">
                <a:solidFill>
                  <a:srgbClr val="323232"/>
                </a:solidFill>
                <a:effectLst/>
                <a:latin typeface="+mj-lt"/>
              </a:rPr>
              <a:t>What is scheduling? </a:t>
            </a:r>
          </a:p>
          <a:p>
            <a:pPr algn="l">
              <a:buFont typeface="Arial" panose="020B0604020202020204" pitchFamily="34" charset="0"/>
              <a:buChar char="•"/>
            </a:pPr>
            <a:r>
              <a:rPr lang="en-GB" sz="2000" b="0" i="0" dirty="0">
                <a:solidFill>
                  <a:srgbClr val="323232"/>
                </a:solidFill>
                <a:effectLst/>
                <a:latin typeface="+mj-lt"/>
              </a:rPr>
              <a:t>Deciding </a:t>
            </a:r>
            <a:r>
              <a:rPr lang="en-GB" sz="2000" b="1" i="0" dirty="0">
                <a:solidFill>
                  <a:srgbClr val="323232"/>
                </a:solidFill>
                <a:effectLst/>
                <a:latin typeface="+mj-lt"/>
              </a:rPr>
              <a:t>which tasks </a:t>
            </a:r>
            <a:r>
              <a:rPr lang="en-GB" sz="2000" b="0" i="0" dirty="0">
                <a:solidFill>
                  <a:srgbClr val="323232"/>
                </a:solidFill>
                <a:effectLst/>
                <a:latin typeface="+mj-lt"/>
              </a:rPr>
              <a:t>to process, for </a:t>
            </a:r>
            <a:r>
              <a:rPr lang="en-GB" sz="2000" b="1" i="0" dirty="0">
                <a:solidFill>
                  <a:srgbClr val="323232"/>
                </a:solidFill>
                <a:effectLst/>
                <a:latin typeface="+mj-lt"/>
              </a:rPr>
              <a:t>how long</a:t>
            </a:r>
            <a:r>
              <a:rPr lang="en-GB" sz="2000" b="0" i="0" dirty="0">
                <a:solidFill>
                  <a:srgbClr val="323232"/>
                </a:solidFill>
                <a:effectLst/>
                <a:latin typeface="+mj-lt"/>
              </a:rPr>
              <a:t>, and in </a:t>
            </a:r>
            <a:r>
              <a:rPr lang="en-GB" sz="2000" b="1" i="0" dirty="0">
                <a:solidFill>
                  <a:srgbClr val="323232"/>
                </a:solidFill>
                <a:effectLst/>
                <a:latin typeface="+mj-lt"/>
              </a:rPr>
              <a:t>what order</a:t>
            </a:r>
            <a:r>
              <a:rPr lang="en-GB" sz="2000" b="0" i="0" dirty="0">
                <a:solidFill>
                  <a:srgbClr val="323232"/>
                </a:solidFill>
                <a:effectLst/>
                <a:latin typeface="+mj-lt"/>
              </a:rPr>
              <a:t> is achieved through scheduling algorithms</a:t>
            </a:r>
          </a:p>
          <a:p>
            <a:pPr algn="l">
              <a:buFont typeface="Arial" panose="020B0604020202020204" pitchFamily="34" charset="0"/>
              <a:buChar char="•"/>
            </a:pPr>
            <a:r>
              <a:rPr lang="en-GB" sz="2000" b="0" i="0" dirty="0">
                <a:solidFill>
                  <a:srgbClr val="323232"/>
                </a:solidFill>
                <a:effectLst/>
                <a:latin typeface="+mj-lt"/>
              </a:rPr>
              <a:t>A CPU is responsible for processing tasks as fast as possible</a:t>
            </a:r>
          </a:p>
          <a:p>
            <a:pPr algn="l">
              <a:buFont typeface="Arial" panose="020B0604020202020204" pitchFamily="34" charset="0"/>
              <a:buChar char="•"/>
            </a:pPr>
            <a:r>
              <a:rPr lang="en-GB" sz="2000" b="0" i="0" dirty="0">
                <a:solidFill>
                  <a:srgbClr val="323232"/>
                </a:solidFill>
                <a:effectLst/>
                <a:latin typeface="+mj-lt"/>
              </a:rPr>
              <a:t>Different algorithms are used to prioritise and process tasks that need CPU time</a:t>
            </a:r>
          </a:p>
          <a:p>
            <a:pPr algn="l">
              <a:buFont typeface="Arial" panose="020B0604020202020204" pitchFamily="34" charset="0"/>
              <a:buChar char="•"/>
            </a:pPr>
            <a:r>
              <a:rPr lang="en-GB" sz="2000" b="0" i="0" dirty="0">
                <a:solidFill>
                  <a:srgbClr val="323232"/>
                </a:solidFill>
                <a:effectLst/>
                <a:latin typeface="+mj-lt"/>
              </a:rPr>
              <a:t>The algorithms have different uses, benefits and drawbacks.</a:t>
            </a:r>
          </a:p>
          <a:p>
            <a:pPr>
              <a:buNone/>
            </a:pPr>
            <a:br>
              <a:rPr lang="en-GB" dirty="0"/>
            </a:br>
            <a:endParaRPr lang="en-GB" dirty="0"/>
          </a:p>
        </p:txBody>
      </p:sp>
    </p:spTree>
    <p:extLst>
      <p:ext uri="{BB962C8B-B14F-4D97-AF65-F5344CB8AC3E}">
        <p14:creationId xmlns:p14="http://schemas.microsoft.com/office/powerpoint/2010/main" val="16227814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1A75A-159B-8A65-4CF5-2E44EFF75A88}"/>
              </a:ext>
            </a:extLst>
          </p:cNvPr>
          <p:cNvSpPr>
            <a:spLocks noGrp="1"/>
          </p:cNvSpPr>
          <p:nvPr>
            <p:ph type="title"/>
          </p:nvPr>
        </p:nvSpPr>
        <p:spPr/>
        <p:txBody>
          <a:bodyPr>
            <a:normAutofit/>
          </a:bodyPr>
          <a:lstStyle/>
          <a:p>
            <a:r>
              <a:rPr lang="en-GB" dirty="0">
                <a:solidFill>
                  <a:srgbClr val="323232"/>
                </a:solidFill>
              </a:rPr>
              <a:t>Scheduling categories</a:t>
            </a:r>
            <a:endParaRPr lang="en-GB" dirty="0"/>
          </a:p>
        </p:txBody>
      </p:sp>
      <p:sp>
        <p:nvSpPr>
          <p:cNvPr id="3" name="Content Placeholder 2">
            <a:extLst>
              <a:ext uri="{FF2B5EF4-FFF2-40B4-BE49-F238E27FC236}">
                <a16:creationId xmlns:a16="http://schemas.microsoft.com/office/drawing/2014/main" id="{BE0ED6B9-C3C7-EF36-BC3F-B94FFCB387EE}"/>
              </a:ext>
            </a:extLst>
          </p:cNvPr>
          <p:cNvSpPr>
            <a:spLocks noGrp="1"/>
          </p:cNvSpPr>
          <p:nvPr>
            <p:ph sz="quarter" idx="13"/>
          </p:nvPr>
        </p:nvSpPr>
        <p:spPr/>
        <p:txBody>
          <a:bodyPr>
            <a:normAutofit fontScale="77500" lnSpcReduction="20000"/>
          </a:bodyPr>
          <a:lstStyle/>
          <a:p>
            <a:pPr algn="l">
              <a:buFont typeface="Arial" panose="020B0604020202020204" pitchFamily="34" charset="0"/>
              <a:buChar char="•"/>
            </a:pPr>
            <a:r>
              <a:rPr lang="en-GB" sz="2800" b="1" i="0" dirty="0">
                <a:solidFill>
                  <a:srgbClr val="323232"/>
                </a:solidFill>
                <a:effectLst/>
                <a:latin typeface="+mj-lt"/>
              </a:rPr>
              <a:t>Pre-emptive</a:t>
            </a:r>
            <a:r>
              <a:rPr lang="en-GB" sz="2800" b="0" i="0" dirty="0">
                <a:solidFill>
                  <a:srgbClr val="323232"/>
                </a:solidFill>
                <a:effectLst/>
                <a:latin typeface="+mj-lt"/>
              </a:rPr>
              <a:t>: allocates the CPU for</a:t>
            </a:r>
            <a:r>
              <a:rPr lang="en-GB" sz="2800" b="1" i="0" dirty="0">
                <a:solidFill>
                  <a:srgbClr val="323232"/>
                </a:solidFill>
                <a:effectLst/>
                <a:latin typeface="+mj-lt"/>
              </a:rPr>
              <a:t> time-limited slots</a:t>
            </a:r>
            <a:endParaRPr lang="en-GB" sz="2800" b="0" i="0" dirty="0">
              <a:solidFill>
                <a:srgbClr val="323232"/>
              </a:solidFill>
              <a:effectLst/>
              <a:latin typeface="+mj-lt"/>
            </a:endParaRPr>
          </a:p>
          <a:p>
            <a:pPr algn="l">
              <a:buFont typeface="Arial" panose="020B0604020202020204" pitchFamily="34" charset="0"/>
              <a:buChar char="•"/>
            </a:pPr>
            <a:r>
              <a:rPr lang="en-GB" sz="2800" b="1" i="0" dirty="0">
                <a:solidFill>
                  <a:srgbClr val="323232"/>
                </a:solidFill>
                <a:effectLst/>
                <a:latin typeface="+mj-lt"/>
              </a:rPr>
              <a:t>Non-pre-emptive</a:t>
            </a:r>
            <a:r>
              <a:rPr lang="en-GB" sz="2800" b="0" i="0" dirty="0">
                <a:solidFill>
                  <a:srgbClr val="323232"/>
                </a:solidFill>
                <a:effectLst/>
                <a:latin typeface="+mj-lt"/>
              </a:rPr>
              <a:t>: allocates the CPU to tasks for </a:t>
            </a:r>
            <a:r>
              <a:rPr lang="en-GB" sz="2800" b="1" i="0" dirty="0">
                <a:solidFill>
                  <a:srgbClr val="323232"/>
                </a:solidFill>
                <a:effectLst/>
                <a:latin typeface="+mj-lt"/>
              </a:rPr>
              <a:t>unlimited time slots</a:t>
            </a:r>
            <a:endParaRPr lang="en-GB" sz="2800" b="0" i="0" dirty="0">
              <a:solidFill>
                <a:srgbClr val="323232"/>
              </a:solidFill>
              <a:effectLst/>
              <a:latin typeface="+mj-lt"/>
            </a:endParaRPr>
          </a:p>
          <a:p>
            <a:pPr algn="l">
              <a:buNone/>
            </a:pPr>
            <a:endParaRPr lang="en-GB" sz="2800" b="1" i="0" dirty="0">
              <a:solidFill>
                <a:srgbClr val="323232"/>
              </a:solidFill>
              <a:effectLst/>
              <a:latin typeface="+mj-lt"/>
            </a:endParaRPr>
          </a:p>
          <a:p>
            <a:pPr algn="l">
              <a:buNone/>
            </a:pPr>
            <a:r>
              <a:rPr lang="en-GB" sz="2800" b="1" i="0" dirty="0">
                <a:solidFill>
                  <a:srgbClr val="323232"/>
                </a:solidFill>
                <a:effectLst/>
                <a:latin typeface="+mj-lt"/>
              </a:rPr>
              <a:t>Pre-emptive Scheduling</a:t>
            </a:r>
          </a:p>
          <a:p>
            <a:pPr algn="l">
              <a:buFont typeface="Arial" panose="020B0604020202020204" pitchFamily="34" charset="0"/>
              <a:buChar char="•"/>
            </a:pPr>
            <a:r>
              <a:rPr lang="en-GB" sz="2800" b="0" i="0" dirty="0">
                <a:solidFill>
                  <a:srgbClr val="323232"/>
                </a:solidFill>
                <a:effectLst/>
                <a:latin typeface="+mj-lt"/>
              </a:rPr>
              <a:t>Allocates the CPU for a specific </a:t>
            </a:r>
            <a:r>
              <a:rPr lang="en-GB" sz="2800" b="1" i="0" dirty="0">
                <a:solidFill>
                  <a:srgbClr val="265BF6"/>
                </a:solidFill>
                <a:effectLst/>
                <a:latin typeface="+mj-lt"/>
              </a:rPr>
              <a:t>time quantum</a:t>
            </a:r>
            <a:r>
              <a:rPr lang="en-GB" sz="2800" b="0" i="0" dirty="0">
                <a:solidFill>
                  <a:srgbClr val="323232"/>
                </a:solidFill>
                <a:effectLst/>
                <a:latin typeface="+mj-lt"/>
              </a:rPr>
              <a:t> to a process</a:t>
            </a:r>
          </a:p>
          <a:p>
            <a:pPr algn="l">
              <a:buFont typeface="Arial" panose="020B0604020202020204" pitchFamily="34" charset="0"/>
              <a:buChar char="•"/>
            </a:pPr>
            <a:r>
              <a:rPr lang="en-GB" sz="2800" b="0" i="0" dirty="0">
                <a:solidFill>
                  <a:srgbClr val="323232"/>
                </a:solidFill>
                <a:effectLst/>
                <a:latin typeface="+mj-lt"/>
              </a:rPr>
              <a:t>Allows interruption of processes currently being handled</a:t>
            </a:r>
          </a:p>
          <a:p>
            <a:pPr algn="l">
              <a:buFont typeface="Arial" panose="020B0604020202020204" pitchFamily="34" charset="0"/>
              <a:buChar char="•"/>
            </a:pPr>
            <a:r>
              <a:rPr lang="en-GB" sz="2800" b="0" i="0" dirty="0">
                <a:solidFill>
                  <a:srgbClr val="323232"/>
                </a:solidFill>
                <a:effectLst/>
                <a:latin typeface="+mj-lt"/>
              </a:rPr>
              <a:t>It can result in low-priority processes being neglected if high-priority processes arrive frequently</a:t>
            </a:r>
          </a:p>
          <a:p>
            <a:pPr algn="l">
              <a:buFont typeface="Arial" panose="020B0604020202020204" pitchFamily="34" charset="0"/>
              <a:buChar char="•"/>
            </a:pPr>
            <a:r>
              <a:rPr lang="en-GB" sz="2800" b="0" i="0" dirty="0">
                <a:solidFill>
                  <a:srgbClr val="323232"/>
                </a:solidFill>
                <a:effectLst/>
                <a:latin typeface="+mj-lt"/>
              </a:rPr>
              <a:t>Example algorithms include </a:t>
            </a:r>
            <a:r>
              <a:rPr lang="en-GB" sz="2800" b="1" i="0" dirty="0">
                <a:solidFill>
                  <a:srgbClr val="323232"/>
                </a:solidFill>
                <a:effectLst/>
                <a:latin typeface="+mj-lt"/>
              </a:rPr>
              <a:t>Round Robin</a:t>
            </a:r>
            <a:r>
              <a:rPr lang="en-GB" sz="2800" b="0" i="0" dirty="0">
                <a:solidFill>
                  <a:srgbClr val="323232"/>
                </a:solidFill>
                <a:effectLst/>
                <a:latin typeface="+mj-lt"/>
              </a:rPr>
              <a:t> and </a:t>
            </a:r>
            <a:r>
              <a:rPr lang="en-GB" sz="2800" b="1" i="0" dirty="0">
                <a:solidFill>
                  <a:srgbClr val="323232"/>
                </a:solidFill>
                <a:effectLst/>
                <a:latin typeface="+mj-lt"/>
              </a:rPr>
              <a:t>Shortest Remaining Time First</a:t>
            </a:r>
            <a:r>
              <a:rPr lang="en-GB" sz="2800" b="0" i="0" dirty="0">
                <a:solidFill>
                  <a:srgbClr val="323232"/>
                </a:solidFill>
                <a:effectLst/>
                <a:latin typeface="+mj-lt"/>
              </a:rPr>
              <a:t> </a:t>
            </a:r>
          </a:p>
          <a:p>
            <a:pPr algn="l">
              <a:buNone/>
            </a:pPr>
            <a:endParaRPr lang="en-GB" sz="2800" b="1" i="0" dirty="0">
              <a:solidFill>
                <a:srgbClr val="323232"/>
              </a:solidFill>
              <a:effectLst/>
              <a:latin typeface="+mj-lt"/>
            </a:endParaRPr>
          </a:p>
          <a:p>
            <a:pPr algn="l">
              <a:buNone/>
            </a:pPr>
            <a:r>
              <a:rPr lang="en-GB" sz="2800" b="1" i="0" dirty="0">
                <a:solidFill>
                  <a:srgbClr val="323232"/>
                </a:solidFill>
                <a:effectLst/>
                <a:latin typeface="+mj-lt"/>
              </a:rPr>
              <a:t>Non-pre-emptive scheduling</a:t>
            </a:r>
          </a:p>
          <a:p>
            <a:pPr algn="l">
              <a:buFont typeface="Arial" panose="020B0604020202020204" pitchFamily="34" charset="0"/>
              <a:buChar char="•"/>
            </a:pPr>
            <a:r>
              <a:rPr lang="en-GB" sz="2800" b="0" i="0" dirty="0">
                <a:solidFill>
                  <a:srgbClr val="323232"/>
                </a:solidFill>
                <a:effectLst/>
                <a:latin typeface="+mj-lt"/>
              </a:rPr>
              <a:t>Once the CPU is allocated to a process, the process holds it until it completes its </a:t>
            </a:r>
            <a:r>
              <a:rPr lang="en-GB" sz="2800" b="1" i="0" dirty="0">
                <a:solidFill>
                  <a:srgbClr val="265BF6"/>
                </a:solidFill>
                <a:effectLst/>
                <a:latin typeface="+mj-lt"/>
              </a:rPr>
              <a:t>burst time</a:t>
            </a:r>
            <a:r>
              <a:rPr lang="en-GB" sz="2800" b="0" i="0" dirty="0">
                <a:solidFill>
                  <a:srgbClr val="323232"/>
                </a:solidFill>
                <a:effectLst/>
                <a:latin typeface="+mj-lt"/>
              </a:rPr>
              <a:t> or switches to a 'waiting' state</a:t>
            </a:r>
          </a:p>
          <a:p>
            <a:pPr algn="l">
              <a:buFont typeface="Arial" panose="020B0604020202020204" pitchFamily="34" charset="0"/>
              <a:buChar char="•"/>
            </a:pPr>
            <a:r>
              <a:rPr lang="en-GB" sz="2800" b="0" i="0" dirty="0">
                <a:solidFill>
                  <a:srgbClr val="323232"/>
                </a:solidFill>
                <a:effectLst/>
                <a:latin typeface="+mj-lt"/>
              </a:rPr>
              <a:t>A process cannot be interrupted unless it completes or its burst time is reached</a:t>
            </a:r>
          </a:p>
          <a:p>
            <a:pPr algn="l">
              <a:buFont typeface="Arial" panose="020B0604020202020204" pitchFamily="34" charset="0"/>
              <a:buChar char="•"/>
            </a:pPr>
            <a:r>
              <a:rPr lang="en-GB" sz="2800" b="0" i="0" dirty="0">
                <a:solidFill>
                  <a:srgbClr val="323232"/>
                </a:solidFill>
                <a:effectLst/>
                <a:latin typeface="+mj-lt"/>
              </a:rPr>
              <a:t>If a process with a long burst time is running, shorter processes will be neglected</a:t>
            </a:r>
          </a:p>
          <a:p>
            <a:pPr algn="l">
              <a:buFont typeface="Arial" panose="020B0604020202020204" pitchFamily="34" charset="0"/>
              <a:buChar char="•"/>
            </a:pPr>
            <a:r>
              <a:rPr lang="en-GB" sz="2800" b="0" i="0" dirty="0">
                <a:solidFill>
                  <a:srgbClr val="323232"/>
                </a:solidFill>
                <a:effectLst/>
                <a:latin typeface="+mj-lt"/>
              </a:rPr>
              <a:t>Example algorithms include </a:t>
            </a:r>
            <a:r>
              <a:rPr lang="en-GB" sz="2800" b="1" i="0" dirty="0">
                <a:solidFill>
                  <a:srgbClr val="323232"/>
                </a:solidFill>
                <a:effectLst/>
                <a:latin typeface="+mj-lt"/>
              </a:rPr>
              <a:t>First Come First Serve</a:t>
            </a:r>
            <a:r>
              <a:rPr lang="en-GB" sz="2800" b="0" i="0" dirty="0">
                <a:solidFill>
                  <a:srgbClr val="323232"/>
                </a:solidFill>
                <a:effectLst/>
                <a:latin typeface="+mj-lt"/>
              </a:rPr>
              <a:t> and </a:t>
            </a:r>
            <a:r>
              <a:rPr lang="en-GB" sz="2800" b="1" i="0" dirty="0">
                <a:solidFill>
                  <a:srgbClr val="323232"/>
                </a:solidFill>
                <a:effectLst/>
                <a:latin typeface="+mj-lt"/>
              </a:rPr>
              <a:t>Shortest Job First</a:t>
            </a:r>
            <a:endParaRPr lang="en-GB" sz="2800" b="0" i="0" dirty="0">
              <a:solidFill>
                <a:srgbClr val="323232"/>
              </a:solidFill>
              <a:effectLst/>
              <a:latin typeface="+mj-lt"/>
            </a:endParaRPr>
          </a:p>
          <a:p>
            <a:pPr marL="0" indent="0">
              <a:buNone/>
            </a:pPr>
            <a:endParaRPr lang="en-GB" dirty="0"/>
          </a:p>
        </p:txBody>
      </p:sp>
    </p:spTree>
    <p:extLst>
      <p:ext uri="{BB962C8B-B14F-4D97-AF65-F5344CB8AC3E}">
        <p14:creationId xmlns:p14="http://schemas.microsoft.com/office/powerpoint/2010/main" val="7041783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BAAC1-35CA-7398-3E4F-97C8590CD811}"/>
              </a:ext>
            </a:extLst>
          </p:cNvPr>
          <p:cNvSpPr>
            <a:spLocks noGrp="1"/>
          </p:cNvSpPr>
          <p:nvPr>
            <p:ph type="title"/>
          </p:nvPr>
        </p:nvSpPr>
        <p:spPr/>
        <p:txBody>
          <a:bodyPr>
            <a:normAutofit/>
          </a:bodyPr>
          <a:lstStyle/>
          <a:p>
            <a:pPr algn="l">
              <a:buNone/>
            </a:pPr>
            <a:r>
              <a:rPr lang="en-GB" i="0" dirty="0">
                <a:solidFill>
                  <a:srgbClr val="323232"/>
                </a:solidFill>
                <a:effectLst/>
                <a:latin typeface="jakarta"/>
              </a:rPr>
              <a:t>Round robin (RR)</a:t>
            </a:r>
          </a:p>
        </p:txBody>
      </p:sp>
      <p:sp>
        <p:nvSpPr>
          <p:cNvPr id="3" name="Content Placeholder 2">
            <a:extLst>
              <a:ext uri="{FF2B5EF4-FFF2-40B4-BE49-F238E27FC236}">
                <a16:creationId xmlns:a16="http://schemas.microsoft.com/office/drawing/2014/main" id="{A592D784-9F28-B858-AC27-66F0052246D8}"/>
              </a:ext>
            </a:extLst>
          </p:cNvPr>
          <p:cNvSpPr>
            <a:spLocks noGrp="1"/>
          </p:cNvSpPr>
          <p:nvPr>
            <p:ph sz="quarter" idx="13"/>
          </p:nvPr>
        </p:nvSpPr>
        <p:spPr/>
        <p:txBody>
          <a:bodyPr/>
          <a:lstStyle/>
          <a:p>
            <a:pPr algn="l">
              <a:buFont typeface="Arial" panose="020B0604020202020204" pitchFamily="34" charset="0"/>
              <a:buChar char="•"/>
            </a:pPr>
            <a:r>
              <a:rPr lang="en-GB" b="0" i="0" dirty="0">
                <a:solidFill>
                  <a:srgbClr val="323232"/>
                </a:solidFill>
                <a:effectLst/>
                <a:latin typeface="+mj-lt"/>
              </a:rPr>
              <a:t>RR is a pre-emptive scheduling algorithm</a:t>
            </a:r>
          </a:p>
          <a:p>
            <a:pPr algn="l">
              <a:buFont typeface="Arial" panose="020B0604020202020204" pitchFamily="34" charset="0"/>
              <a:buChar char="•"/>
            </a:pPr>
            <a:r>
              <a:rPr lang="en-GB" b="0" i="0" dirty="0">
                <a:solidFill>
                  <a:srgbClr val="323232"/>
                </a:solidFill>
                <a:effectLst/>
                <a:latin typeface="+mj-lt"/>
              </a:rPr>
              <a:t>Equally distributing processor time amongst all processes</a:t>
            </a:r>
          </a:p>
          <a:p>
            <a:pPr algn="l">
              <a:buFont typeface="Arial" panose="020B0604020202020204" pitchFamily="34" charset="0"/>
              <a:buChar char="•"/>
            </a:pPr>
            <a:r>
              <a:rPr lang="en-GB" b="0" i="0" dirty="0">
                <a:solidFill>
                  <a:srgbClr val="323232"/>
                </a:solidFill>
                <a:effectLst/>
                <a:latin typeface="+mj-lt"/>
              </a:rPr>
              <a:t>Each process is given a </a:t>
            </a:r>
            <a:r>
              <a:rPr lang="en-GB" b="1" i="0" dirty="0">
                <a:solidFill>
                  <a:srgbClr val="265BF6"/>
                </a:solidFill>
                <a:effectLst/>
                <a:latin typeface="+mj-lt"/>
              </a:rPr>
              <a:t>time quantum</a:t>
            </a:r>
            <a:r>
              <a:rPr lang="en-GB" b="0" i="0" dirty="0">
                <a:solidFill>
                  <a:srgbClr val="323232"/>
                </a:solidFill>
                <a:effectLst/>
                <a:latin typeface="+mj-lt"/>
              </a:rPr>
              <a:t> to execute</a:t>
            </a:r>
          </a:p>
          <a:p>
            <a:pPr algn="l">
              <a:buFont typeface="Arial" panose="020B0604020202020204" pitchFamily="34" charset="0"/>
              <a:buChar char="•"/>
            </a:pPr>
            <a:r>
              <a:rPr lang="en-GB" b="0" i="0" dirty="0">
                <a:solidFill>
                  <a:srgbClr val="323232"/>
                </a:solidFill>
                <a:effectLst/>
                <a:latin typeface="+mj-lt"/>
              </a:rPr>
              <a:t>Processes that are ready to be worked on get queued</a:t>
            </a:r>
          </a:p>
          <a:p>
            <a:pPr algn="l">
              <a:buFont typeface="Arial" panose="020B0604020202020204" pitchFamily="34" charset="0"/>
              <a:buChar char="•"/>
            </a:pPr>
            <a:r>
              <a:rPr lang="en-GB" b="0" i="0" dirty="0">
                <a:solidFill>
                  <a:srgbClr val="323232"/>
                </a:solidFill>
                <a:effectLst/>
                <a:latin typeface="+mj-lt"/>
              </a:rPr>
              <a:t>If a process hasn’t been completed by the end of its time quantum, it will be moved to the back of the queue</a:t>
            </a:r>
          </a:p>
          <a:p>
            <a:pPr marL="0" indent="0">
              <a:buNone/>
            </a:pPr>
            <a:endParaRPr lang="en-GB" dirty="0"/>
          </a:p>
        </p:txBody>
      </p:sp>
      <p:pic>
        <p:nvPicPr>
          <p:cNvPr id="8194" name="Picture 2" descr="Round robin scheduling algorithm">
            <a:extLst>
              <a:ext uri="{FF2B5EF4-FFF2-40B4-BE49-F238E27FC236}">
                <a16:creationId xmlns:a16="http://schemas.microsoft.com/office/drawing/2014/main" id="{0946D0F6-C847-BF2D-ACBD-C185BEBFE8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73396" y="2789828"/>
            <a:ext cx="6638582" cy="37839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82070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EDE9E-EEB6-879D-99A2-4A7FEEFCEDC9}"/>
              </a:ext>
            </a:extLst>
          </p:cNvPr>
          <p:cNvSpPr>
            <a:spLocks noGrp="1"/>
          </p:cNvSpPr>
          <p:nvPr>
            <p:ph type="title"/>
          </p:nvPr>
        </p:nvSpPr>
        <p:spPr/>
        <p:txBody>
          <a:bodyPr>
            <a:normAutofit/>
          </a:bodyPr>
          <a:lstStyle/>
          <a:p>
            <a:r>
              <a:rPr lang="en-GB" dirty="0">
                <a:solidFill>
                  <a:srgbClr val="323232"/>
                </a:solidFill>
              </a:rPr>
              <a:t>First-Come-First-Served (FCFS)</a:t>
            </a:r>
            <a:endParaRPr lang="en-GB" dirty="0"/>
          </a:p>
        </p:txBody>
      </p:sp>
      <p:sp>
        <p:nvSpPr>
          <p:cNvPr id="3" name="Content Placeholder 2">
            <a:extLst>
              <a:ext uri="{FF2B5EF4-FFF2-40B4-BE49-F238E27FC236}">
                <a16:creationId xmlns:a16="http://schemas.microsoft.com/office/drawing/2014/main" id="{8143F409-B3E4-06AF-3B70-1BB443C8FB9C}"/>
              </a:ext>
            </a:extLst>
          </p:cNvPr>
          <p:cNvSpPr>
            <a:spLocks noGrp="1"/>
          </p:cNvSpPr>
          <p:nvPr>
            <p:ph sz="quarter" idx="13"/>
          </p:nvPr>
        </p:nvSpPr>
        <p:spPr/>
        <p:txBody>
          <a:bodyPr/>
          <a:lstStyle/>
          <a:p>
            <a:pPr algn="l">
              <a:buFont typeface="Arial" panose="020B0604020202020204" pitchFamily="34" charset="0"/>
              <a:buChar char="•"/>
            </a:pPr>
            <a:r>
              <a:rPr lang="en-GB" b="0" i="0" dirty="0">
                <a:solidFill>
                  <a:srgbClr val="323232"/>
                </a:solidFill>
                <a:effectLst/>
                <a:latin typeface="+mj-lt"/>
              </a:rPr>
              <a:t>FCFS is non-</a:t>
            </a:r>
            <a:r>
              <a:rPr lang="en-GB" b="0" i="0" dirty="0" err="1">
                <a:solidFill>
                  <a:srgbClr val="323232"/>
                </a:solidFill>
                <a:effectLst/>
                <a:latin typeface="+mj-lt"/>
              </a:rPr>
              <a:t>preemptive</a:t>
            </a:r>
            <a:r>
              <a:rPr lang="en-GB" b="0" i="0" dirty="0">
                <a:solidFill>
                  <a:srgbClr val="323232"/>
                </a:solidFill>
                <a:effectLst/>
                <a:latin typeface="+mj-lt"/>
              </a:rPr>
              <a:t>, prioritising processes that arrive at the queue first</a:t>
            </a:r>
          </a:p>
          <a:p>
            <a:pPr algn="l">
              <a:buFont typeface="Arial" panose="020B0604020202020204" pitchFamily="34" charset="0"/>
              <a:buChar char="•"/>
            </a:pPr>
            <a:r>
              <a:rPr lang="en-GB" b="0" i="0" dirty="0">
                <a:solidFill>
                  <a:srgbClr val="323232"/>
                </a:solidFill>
                <a:effectLst/>
                <a:latin typeface="+mj-lt"/>
              </a:rPr>
              <a:t>The process currently being worked on will block all other processes until it is complete</a:t>
            </a:r>
          </a:p>
          <a:p>
            <a:pPr algn="l">
              <a:buFont typeface="Arial" panose="020B0604020202020204" pitchFamily="34" charset="0"/>
              <a:buChar char="•"/>
            </a:pPr>
            <a:r>
              <a:rPr lang="en-GB" b="0" i="0" dirty="0">
                <a:solidFill>
                  <a:srgbClr val="323232"/>
                </a:solidFill>
                <a:effectLst/>
                <a:latin typeface="+mj-lt"/>
              </a:rPr>
              <a:t>All new tasks join the back of the queue</a:t>
            </a:r>
          </a:p>
          <a:p>
            <a:pPr marL="0" indent="0">
              <a:buNone/>
            </a:pPr>
            <a:endParaRPr lang="en-GB" dirty="0"/>
          </a:p>
        </p:txBody>
      </p:sp>
      <p:pic>
        <p:nvPicPr>
          <p:cNvPr id="9218" name="Picture 2" descr="First-Come-First-Served scheduling algorithm">
            <a:extLst>
              <a:ext uri="{FF2B5EF4-FFF2-40B4-BE49-F238E27FC236}">
                <a16:creationId xmlns:a16="http://schemas.microsoft.com/office/drawing/2014/main" id="{096B9FD7-890B-6D58-EE62-24E9872214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5322" y="2224216"/>
            <a:ext cx="8014730" cy="46337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50232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F6991-D9F4-84B9-DE00-F7990214CCFD}"/>
              </a:ext>
            </a:extLst>
          </p:cNvPr>
          <p:cNvSpPr>
            <a:spLocks noGrp="1"/>
          </p:cNvSpPr>
          <p:nvPr>
            <p:ph type="title"/>
          </p:nvPr>
        </p:nvSpPr>
        <p:spPr/>
        <p:txBody>
          <a:bodyPr>
            <a:normAutofit/>
          </a:bodyPr>
          <a:lstStyle/>
          <a:p>
            <a:r>
              <a:rPr lang="en-GB" dirty="0">
                <a:solidFill>
                  <a:srgbClr val="323232"/>
                </a:solidFill>
              </a:rPr>
              <a:t>Multi-Level Feedback Queue (MLFQ)</a:t>
            </a:r>
            <a:endParaRPr lang="en-GB" dirty="0"/>
          </a:p>
        </p:txBody>
      </p:sp>
      <p:sp>
        <p:nvSpPr>
          <p:cNvPr id="3" name="Content Placeholder 2">
            <a:extLst>
              <a:ext uri="{FF2B5EF4-FFF2-40B4-BE49-F238E27FC236}">
                <a16:creationId xmlns:a16="http://schemas.microsoft.com/office/drawing/2014/main" id="{392BA880-C625-3BC2-C922-44F595EAFF4D}"/>
              </a:ext>
            </a:extLst>
          </p:cNvPr>
          <p:cNvSpPr>
            <a:spLocks noGrp="1"/>
          </p:cNvSpPr>
          <p:nvPr>
            <p:ph sz="quarter" idx="13"/>
          </p:nvPr>
        </p:nvSpPr>
        <p:spPr/>
        <p:txBody>
          <a:bodyPr/>
          <a:lstStyle/>
          <a:p>
            <a:pPr algn="l">
              <a:buFont typeface="Arial" panose="020B0604020202020204" pitchFamily="34" charset="0"/>
              <a:buChar char="•"/>
            </a:pPr>
            <a:r>
              <a:rPr lang="en-GB" b="0" i="0" dirty="0">
                <a:solidFill>
                  <a:srgbClr val="323232"/>
                </a:solidFill>
                <a:effectLst/>
                <a:latin typeface="+mj-lt"/>
              </a:rPr>
              <a:t>MLFQ is a pre-emptive priority algorithm where shorter and more critical tasks are processed first</a:t>
            </a:r>
          </a:p>
          <a:p>
            <a:pPr algn="l">
              <a:buFont typeface="Arial" panose="020B0604020202020204" pitchFamily="34" charset="0"/>
              <a:buChar char="•"/>
            </a:pPr>
            <a:r>
              <a:rPr lang="en-GB" b="0" i="0" dirty="0">
                <a:solidFill>
                  <a:srgbClr val="323232"/>
                </a:solidFill>
                <a:effectLst/>
                <a:latin typeface="+mj-lt"/>
              </a:rPr>
              <a:t>Multiple queues are used so that tasks of equal size are grouped together</a:t>
            </a:r>
          </a:p>
          <a:p>
            <a:pPr algn="l">
              <a:buFont typeface="Arial" panose="020B0604020202020204" pitchFamily="34" charset="0"/>
              <a:buChar char="•"/>
            </a:pPr>
            <a:r>
              <a:rPr lang="en-GB" b="0" i="0" dirty="0">
                <a:solidFill>
                  <a:srgbClr val="323232"/>
                </a:solidFill>
                <a:effectLst/>
                <a:latin typeface="+mj-lt"/>
              </a:rPr>
              <a:t>All processes will join the highest priority queue but will trickle down to lower priority queues if they exceed the time quantum</a:t>
            </a:r>
          </a:p>
          <a:p>
            <a:pPr marL="0" indent="0">
              <a:buNone/>
            </a:pPr>
            <a:endParaRPr lang="en-GB" dirty="0"/>
          </a:p>
        </p:txBody>
      </p:sp>
      <p:pic>
        <p:nvPicPr>
          <p:cNvPr id="10242" name="Picture 2" descr="Multi-Level Feedback Queue scheduling algorithm">
            <a:extLst>
              <a:ext uri="{FF2B5EF4-FFF2-40B4-BE49-F238E27FC236}">
                <a16:creationId xmlns:a16="http://schemas.microsoft.com/office/drawing/2014/main" id="{0C849813-404B-D0F9-6C97-0CFBDF7375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79192" y="2669480"/>
            <a:ext cx="6033616" cy="38672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57380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F2EE5-C2C1-0B75-AE40-3CD6A4D4B395}"/>
              </a:ext>
            </a:extLst>
          </p:cNvPr>
          <p:cNvSpPr>
            <a:spLocks noGrp="1"/>
          </p:cNvSpPr>
          <p:nvPr>
            <p:ph type="title"/>
          </p:nvPr>
        </p:nvSpPr>
        <p:spPr/>
        <p:txBody>
          <a:bodyPr>
            <a:normAutofit/>
          </a:bodyPr>
          <a:lstStyle/>
          <a:p>
            <a:r>
              <a:rPr lang="en-GB" dirty="0">
                <a:solidFill>
                  <a:srgbClr val="323232"/>
                </a:solidFill>
              </a:rPr>
              <a:t>Shortest job first (SJF)</a:t>
            </a:r>
            <a:endParaRPr lang="en-GB" dirty="0"/>
          </a:p>
        </p:txBody>
      </p:sp>
      <p:sp>
        <p:nvSpPr>
          <p:cNvPr id="3" name="Content Placeholder 2">
            <a:extLst>
              <a:ext uri="{FF2B5EF4-FFF2-40B4-BE49-F238E27FC236}">
                <a16:creationId xmlns:a16="http://schemas.microsoft.com/office/drawing/2014/main" id="{734809D2-99F7-70B9-C2A0-61EB7D50FD43}"/>
              </a:ext>
            </a:extLst>
          </p:cNvPr>
          <p:cNvSpPr>
            <a:spLocks noGrp="1"/>
          </p:cNvSpPr>
          <p:nvPr>
            <p:ph sz="quarter" idx="13"/>
          </p:nvPr>
        </p:nvSpPr>
        <p:spPr>
          <a:xfrm>
            <a:off x="367748" y="1020159"/>
            <a:ext cx="5501711" cy="5022835"/>
          </a:xfrm>
        </p:spPr>
        <p:txBody>
          <a:bodyPr/>
          <a:lstStyle/>
          <a:p>
            <a:pPr algn="l">
              <a:buFont typeface="Arial" panose="020B0604020202020204" pitchFamily="34" charset="0"/>
              <a:buChar char="•"/>
            </a:pPr>
            <a:r>
              <a:rPr lang="en-GB" sz="2400" b="0" i="0" dirty="0">
                <a:solidFill>
                  <a:srgbClr val="323232"/>
                </a:solidFill>
                <a:effectLst/>
                <a:latin typeface="+mj-lt"/>
              </a:rPr>
              <a:t>SJF is non-</a:t>
            </a:r>
            <a:r>
              <a:rPr lang="en-GB" sz="2400" b="0" i="0" dirty="0" err="1">
                <a:solidFill>
                  <a:srgbClr val="323232"/>
                </a:solidFill>
                <a:effectLst/>
                <a:latin typeface="+mj-lt"/>
              </a:rPr>
              <a:t>preemptive</a:t>
            </a:r>
            <a:r>
              <a:rPr lang="en-GB" sz="2400" b="0" i="0" dirty="0">
                <a:solidFill>
                  <a:srgbClr val="323232"/>
                </a:solidFill>
                <a:effectLst/>
                <a:latin typeface="+mj-lt"/>
              </a:rPr>
              <a:t>, where all processes are continuously sorted by burst time from shortest to longest</a:t>
            </a:r>
          </a:p>
          <a:p>
            <a:pPr algn="l">
              <a:buFont typeface="Arial" panose="020B0604020202020204" pitchFamily="34" charset="0"/>
              <a:buChar char="•"/>
            </a:pPr>
            <a:r>
              <a:rPr lang="en-GB" sz="2400" b="0" i="0" dirty="0">
                <a:solidFill>
                  <a:srgbClr val="323232"/>
                </a:solidFill>
                <a:effectLst/>
                <a:latin typeface="+mj-lt"/>
              </a:rPr>
              <a:t>When new processes arrive on the queue, they are prioritised based on their burst time in the next cycle</a:t>
            </a:r>
          </a:p>
          <a:p>
            <a:pPr algn="l">
              <a:buFont typeface="Arial" panose="020B0604020202020204" pitchFamily="34" charset="0"/>
              <a:buChar char="•"/>
            </a:pPr>
            <a:r>
              <a:rPr lang="en-GB" sz="2400" b="0" i="0" dirty="0">
                <a:solidFill>
                  <a:srgbClr val="323232"/>
                </a:solidFill>
                <a:effectLst/>
                <a:latin typeface="+mj-lt"/>
              </a:rPr>
              <a:t>Shorter jobs are placed at the front of the priority queue</a:t>
            </a:r>
          </a:p>
          <a:p>
            <a:pPr algn="l">
              <a:buFont typeface="Arial" panose="020B0604020202020204" pitchFamily="34" charset="0"/>
              <a:buChar char="•"/>
            </a:pPr>
            <a:r>
              <a:rPr lang="en-GB" sz="2400" b="0" i="0" dirty="0">
                <a:solidFill>
                  <a:srgbClr val="323232"/>
                </a:solidFill>
                <a:effectLst/>
                <a:latin typeface="+mj-lt"/>
              </a:rPr>
              <a:t>Longer jobs have lower priority, so they are placed at the back</a:t>
            </a:r>
          </a:p>
          <a:p>
            <a:pPr marL="0" indent="0">
              <a:buNone/>
            </a:pPr>
            <a:endParaRPr lang="en-GB" dirty="0"/>
          </a:p>
        </p:txBody>
      </p:sp>
      <p:pic>
        <p:nvPicPr>
          <p:cNvPr id="11266" name="Picture 2" descr="Shortest job first scheduling algorithm">
            <a:extLst>
              <a:ext uri="{FF2B5EF4-FFF2-40B4-BE49-F238E27FC236}">
                <a16:creationId xmlns:a16="http://schemas.microsoft.com/office/drawing/2014/main" id="{16DA5DCC-0B04-0604-51FD-29CC1B8532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2543" y="1161333"/>
            <a:ext cx="5294268" cy="40237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48480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FB5623-630B-D46C-4A94-7A3C4E3C3978}"/>
              </a:ext>
            </a:extLst>
          </p:cNvPr>
          <p:cNvSpPr>
            <a:spLocks noGrp="1"/>
          </p:cNvSpPr>
          <p:nvPr>
            <p:ph type="title"/>
          </p:nvPr>
        </p:nvSpPr>
        <p:spPr/>
        <p:txBody>
          <a:bodyPr>
            <a:normAutofit/>
          </a:bodyPr>
          <a:lstStyle/>
          <a:p>
            <a:r>
              <a:rPr lang="en-GB" i="0" dirty="0">
                <a:solidFill>
                  <a:srgbClr val="323232"/>
                </a:solidFill>
                <a:effectLst/>
              </a:rPr>
              <a:t>Shortest remaining time first (SRTF)</a:t>
            </a:r>
            <a:endParaRPr lang="en-GB" dirty="0"/>
          </a:p>
        </p:txBody>
      </p:sp>
      <p:sp>
        <p:nvSpPr>
          <p:cNvPr id="3" name="Content Placeholder 2">
            <a:extLst>
              <a:ext uri="{FF2B5EF4-FFF2-40B4-BE49-F238E27FC236}">
                <a16:creationId xmlns:a16="http://schemas.microsoft.com/office/drawing/2014/main" id="{65E35095-C10F-8CBD-9131-C206B6E4FE12}"/>
              </a:ext>
            </a:extLst>
          </p:cNvPr>
          <p:cNvSpPr>
            <a:spLocks noGrp="1"/>
          </p:cNvSpPr>
          <p:nvPr>
            <p:ph sz="quarter" idx="13"/>
          </p:nvPr>
        </p:nvSpPr>
        <p:spPr>
          <a:xfrm>
            <a:off x="207110" y="847165"/>
            <a:ext cx="11449879" cy="5022835"/>
          </a:xfrm>
        </p:spPr>
        <p:txBody>
          <a:bodyPr/>
          <a:lstStyle/>
          <a:p>
            <a:pPr algn="l">
              <a:buFont typeface="Arial" panose="020B0604020202020204" pitchFamily="34" charset="0"/>
              <a:buChar char="•"/>
            </a:pPr>
            <a:r>
              <a:rPr lang="en-GB" b="0" i="0" dirty="0">
                <a:solidFill>
                  <a:srgbClr val="323232"/>
                </a:solidFill>
                <a:effectLst/>
                <a:latin typeface="+mj-lt"/>
              </a:rPr>
              <a:t>SRTF is a pre-emptive version of SJF, where processes with the shortest remaining time are higher priority</a:t>
            </a:r>
          </a:p>
          <a:p>
            <a:pPr algn="l">
              <a:buFont typeface="Arial" panose="020B0604020202020204" pitchFamily="34" charset="0"/>
              <a:buChar char="•"/>
            </a:pPr>
            <a:r>
              <a:rPr lang="en-GB" b="0" i="0" dirty="0">
                <a:solidFill>
                  <a:srgbClr val="323232"/>
                </a:solidFill>
                <a:effectLst/>
                <a:latin typeface="+mj-lt"/>
              </a:rPr>
              <a:t>Time quantum is set, and if a task doesn’t complete in time, it will be re-queued for further processing</a:t>
            </a:r>
          </a:p>
          <a:p>
            <a:pPr algn="l">
              <a:buFont typeface="Arial" panose="020B0604020202020204" pitchFamily="34" charset="0"/>
              <a:buChar char="•"/>
            </a:pPr>
            <a:r>
              <a:rPr lang="en-GB" b="0" i="0" dirty="0">
                <a:solidFill>
                  <a:srgbClr val="323232"/>
                </a:solidFill>
                <a:effectLst/>
                <a:latin typeface="+mj-lt"/>
              </a:rPr>
              <a:t>Before the next cycle starts, all processes are inspected and ordered by the shortest remaining time to complete</a:t>
            </a:r>
          </a:p>
          <a:p>
            <a:pPr marL="0" indent="0">
              <a:buNone/>
            </a:pPr>
            <a:endParaRPr lang="en-GB" dirty="0"/>
          </a:p>
        </p:txBody>
      </p:sp>
      <p:pic>
        <p:nvPicPr>
          <p:cNvPr id="12290" name="Picture 2" descr="Shortest remaining time first scheduling algorithm part 1">
            <a:extLst>
              <a:ext uri="{FF2B5EF4-FFF2-40B4-BE49-F238E27FC236}">
                <a16:creationId xmlns:a16="http://schemas.microsoft.com/office/drawing/2014/main" id="{CF8170C3-1DE5-65B0-56AB-92D1E8F0E0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106" y="2945692"/>
            <a:ext cx="3265274" cy="3731742"/>
          </a:xfrm>
          <a:prstGeom prst="rect">
            <a:avLst/>
          </a:prstGeom>
          <a:noFill/>
          <a:extLst>
            <a:ext uri="{909E8E84-426E-40DD-AFC4-6F175D3DCCD1}">
              <a14:hiddenFill xmlns:a14="http://schemas.microsoft.com/office/drawing/2010/main">
                <a:solidFill>
                  <a:srgbClr val="FFFFFF"/>
                </a:solidFill>
              </a14:hiddenFill>
            </a:ext>
          </a:extLst>
        </p:spPr>
      </p:pic>
      <p:pic>
        <p:nvPicPr>
          <p:cNvPr id="12292" name="Picture 4" descr="Shortest remaining time first scheduling algorithm part 2">
            <a:extLst>
              <a:ext uri="{FF2B5EF4-FFF2-40B4-BE49-F238E27FC236}">
                <a16:creationId xmlns:a16="http://schemas.microsoft.com/office/drawing/2014/main" id="{8ABC3312-C852-B038-134B-3C761D6AD1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6450" y="2788697"/>
            <a:ext cx="5386837" cy="3731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54610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6EC3C9-C776-84BF-F56C-399E5BD3BEC7}"/>
              </a:ext>
            </a:extLst>
          </p:cNvPr>
          <p:cNvSpPr>
            <a:spLocks noGrp="1"/>
          </p:cNvSpPr>
          <p:nvPr>
            <p:ph type="title"/>
          </p:nvPr>
        </p:nvSpPr>
        <p:spPr/>
        <p:txBody>
          <a:bodyPr>
            <a:normAutofit/>
          </a:bodyPr>
          <a:lstStyle/>
          <a:p>
            <a:r>
              <a:rPr kumimoji="0" lang="en-US" altLang="en-US" sz="2800" b="1" i="0" u="none" strike="noStrike" cap="none" normalizeH="0" baseline="0" dirty="0">
                <a:ln>
                  <a:noFill/>
                </a:ln>
                <a:solidFill>
                  <a:srgbClr val="323232"/>
                </a:solidFill>
                <a:effectLst/>
              </a:rPr>
              <a:t>Comparison and summary of scheduling algorithms</a:t>
            </a:r>
            <a:endParaRPr lang="en-GB" dirty="0"/>
          </a:p>
        </p:txBody>
      </p:sp>
      <p:graphicFrame>
        <p:nvGraphicFramePr>
          <p:cNvPr id="4" name="Content Placeholder 3">
            <a:extLst>
              <a:ext uri="{FF2B5EF4-FFF2-40B4-BE49-F238E27FC236}">
                <a16:creationId xmlns:a16="http://schemas.microsoft.com/office/drawing/2014/main" id="{92568876-7D1A-7E26-B65D-1ABD7F66E144}"/>
              </a:ext>
            </a:extLst>
          </p:cNvPr>
          <p:cNvGraphicFramePr>
            <a:graphicFrameLocks noGrp="1"/>
          </p:cNvGraphicFramePr>
          <p:nvPr>
            <p:ph sz="quarter" idx="13"/>
            <p:extLst>
              <p:ext uri="{D42A27DB-BD31-4B8C-83A1-F6EECF244321}">
                <p14:modId xmlns:p14="http://schemas.microsoft.com/office/powerpoint/2010/main" val="3891234419"/>
              </p:ext>
            </p:extLst>
          </p:nvPr>
        </p:nvGraphicFramePr>
        <p:xfrm>
          <a:off x="430342" y="874104"/>
          <a:ext cx="11222079" cy="4667882"/>
        </p:xfrm>
        <a:graphic>
          <a:graphicData uri="http://schemas.openxmlformats.org/drawingml/2006/table">
            <a:tbl>
              <a:tblPr/>
              <a:tblGrid>
                <a:gridCol w="2337572">
                  <a:extLst>
                    <a:ext uri="{9D8B030D-6E8A-4147-A177-3AD203B41FA5}">
                      <a16:colId xmlns:a16="http://schemas.microsoft.com/office/drawing/2014/main" val="4146220531"/>
                    </a:ext>
                  </a:extLst>
                </a:gridCol>
                <a:gridCol w="4238367">
                  <a:extLst>
                    <a:ext uri="{9D8B030D-6E8A-4147-A177-3AD203B41FA5}">
                      <a16:colId xmlns:a16="http://schemas.microsoft.com/office/drawing/2014/main" val="1019699576"/>
                    </a:ext>
                  </a:extLst>
                </a:gridCol>
                <a:gridCol w="4646140">
                  <a:extLst>
                    <a:ext uri="{9D8B030D-6E8A-4147-A177-3AD203B41FA5}">
                      <a16:colId xmlns:a16="http://schemas.microsoft.com/office/drawing/2014/main" val="2509314469"/>
                    </a:ext>
                  </a:extLst>
                </a:gridCol>
              </a:tblGrid>
              <a:tr h="247978">
                <a:tc>
                  <a:txBody>
                    <a:bodyPr/>
                    <a:lstStyle/>
                    <a:p>
                      <a:pPr algn="ctr">
                        <a:buNone/>
                      </a:pPr>
                      <a:r>
                        <a:rPr lang="en-GB" sz="1400" b="1" dirty="0">
                          <a:solidFill>
                            <a:srgbClr val="323232"/>
                          </a:solidFill>
                          <a:effectLst/>
                          <a:latin typeface="+mj-lt"/>
                        </a:rPr>
                        <a:t>Algorithm</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BFAFA"/>
                    </a:solidFill>
                  </a:tcPr>
                </a:tc>
                <a:tc>
                  <a:txBody>
                    <a:bodyPr/>
                    <a:lstStyle/>
                    <a:p>
                      <a:pPr algn="ctr">
                        <a:buNone/>
                      </a:pPr>
                      <a:r>
                        <a:rPr lang="en-GB" sz="1400" b="1">
                          <a:solidFill>
                            <a:srgbClr val="323232"/>
                          </a:solidFill>
                          <a:effectLst/>
                          <a:latin typeface="+mj-lt"/>
                        </a:rPr>
                        <a:t>Benefits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BFAFA"/>
                    </a:solidFill>
                  </a:tcPr>
                </a:tc>
                <a:tc>
                  <a:txBody>
                    <a:bodyPr/>
                    <a:lstStyle/>
                    <a:p>
                      <a:pPr algn="ctr">
                        <a:buNone/>
                      </a:pPr>
                      <a:r>
                        <a:rPr lang="en-GB" sz="1400" b="1">
                          <a:solidFill>
                            <a:srgbClr val="323232"/>
                          </a:solidFill>
                          <a:effectLst/>
                          <a:latin typeface="+mj-lt"/>
                        </a:rPr>
                        <a:t>Drawbacks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solidFill>
                      <a:srgbClr val="FBFAFA"/>
                    </a:solidFill>
                  </a:tcPr>
                </a:tc>
                <a:extLst>
                  <a:ext uri="{0D108BD9-81ED-4DB2-BD59-A6C34878D82A}">
                    <a16:rowId xmlns:a16="http://schemas.microsoft.com/office/drawing/2014/main" val="2293596928"/>
                  </a:ext>
                </a:extLst>
              </a:tr>
              <a:tr h="870901">
                <a:tc>
                  <a:txBody>
                    <a:bodyPr/>
                    <a:lstStyle/>
                    <a:p>
                      <a:pPr algn="ctr">
                        <a:buNone/>
                      </a:pPr>
                      <a:r>
                        <a:rPr lang="en-GB" sz="1400" b="1" dirty="0">
                          <a:solidFill>
                            <a:srgbClr val="323232"/>
                          </a:solidFill>
                          <a:effectLst/>
                          <a:latin typeface="+mj-lt"/>
                        </a:rPr>
                        <a:t>Round Robin</a:t>
                      </a:r>
                      <a:endParaRPr lang="en-GB" sz="1400" dirty="0">
                        <a:solidFill>
                          <a:srgbClr val="323232"/>
                        </a:solidFill>
                        <a:effectLst/>
                        <a:latin typeface="+mj-lt"/>
                      </a:endParaRP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400" dirty="0">
                          <a:solidFill>
                            <a:srgbClr val="323232"/>
                          </a:solidFill>
                          <a:effectLst/>
                          <a:latin typeface="+mj-lt"/>
                        </a:rPr>
                        <a:t>All processes get a fair share of the CPU</a:t>
                      </a:r>
                    </a:p>
                    <a:p>
                      <a:pPr algn="ctr">
                        <a:buNone/>
                      </a:pPr>
                      <a:r>
                        <a:rPr lang="en-GB" sz="1400" dirty="0">
                          <a:solidFill>
                            <a:srgbClr val="323232"/>
                          </a:solidFill>
                          <a:effectLst/>
                          <a:latin typeface="+mj-lt"/>
                        </a:rPr>
                        <a:t>Good for time-sharing systems</a:t>
                      </a:r>
                    </a:p>
                    <a:p>
                      <a:pPr algn="ctr">
                        <a:buNone/>
                      </a:pPr>
                      <a:r>
                        <a:rPr lang="en-GB" sz="1400" dirty="0">
                          <a:solidFill>
                            <a:srgbClr val="323232"/>
                          </a:solidFill>
                          <a:effectLst/>
                          <a:latin typeface="+mj-lt"/>
                        </a:rPr>
                        <a:t>Predictable, as every process gets equal time</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400">
                          <a:solidFill>
                            <a:srgbClr val="323232"/>
                          </a:solidFill>
                          <a:effectLst/>
                          <a:latin typeface="+mj-lt"/>
                        </a:rPr>
                        <a:t>Choosing the right time quantum can be difficult</a:t>
                      </a:r>
                    </a:p>
                    <a:p>
                      <a:pPr algn="ctr">
                        <a:buNone/>
                      </a:pPr>
                      <a:r>
                        <a:rPr lang="en-GB" sz="1400">
                          <a:solidFill>
                            <a:srgbClr val="323232"/>
                          </a:solidFill>
                          <a:effectLst/>
                          <a:latin typeface="+mj-lt"/>
                        </a:rPr>
                        <a:t>This can lead to a high turnaround time and waiting time for long processes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extLst>
                  <a:ext uri="{0D108BD9-81ED-4DB2-BD59-A6C34878D82A}">
                    <a16:rowId xmlns:a16="http://schemas.microsoft.com/office/drawing/2014/main" val="1268966984"/>
                  </a:ext>
                </a:extLst>
              </a:tr>
              <a:tr h="870901">
                <a:tc>
                  <a:txBody>
                    <a:bodyPr/>
                    <a:lstStyle/>
                    <a:p>
                      <a:pPr algn="ctr">
                        <a:buNone/>
                      </a:pPr>
                      <a:r>
                        <a:rPr lang="en-GB" sz="1400" b="1">
                          <a:solidFill>
                            <a:srgbClr val="323232"/>
                          </a:solidFill>
                          <a:effectLst/>
                          <a:latin typeface="+mj-lt"/>
                        </a:rPr>
                        <a:t>First Come, First Served</a:t>
                      </a:r>
                      <a:endParaRPr lang="en-GB" sz="1400">
                        <a:solidFill>
                          <a:srgbClr val="323232"/>
                        </a:solidFill>
                        <a:effectLst/>
                        <a:latin typeface="+mj-lt"/>
                      </a:endParaRP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400" dirty="0">
                          <a:solidFill>
                            <a:srgbClr val="323232"/>
                          </a:solidFill>
                          <a:effectLst/>
                          <a:latin typeface="+mj-lt"/>
                        </a:rPr>
                        <a:t>Simple and easy to understand</a:t>
                      </a:r>
                    </a:p>
                    <a:p>
                      <a:pPr algn="ctr">
                        <a:buNone/>
                      </a:pPr>
                      <a:r>
                        <a:rPr lang="en-GB" sz="1400" dirty="0">
                          <a:solidFill>
                            <a:srgbClr val="323232"/>
                          </a:solidFill>
                          <a:effectLst/>
                          <a:latin typeface="+mj-lt"/>
                        </a:rPr>
                        <a:t>Fair in the sense that processes are served in the order they arrive</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400">
                          <a:solidFill>
                            <a:srgbClr val="323232"/>
                          </a:solidFill>
                          <a:effectLst/>
                          <a:latin typeface="+mj-lt"/>
                        </a:rPr>
                        <a:t>This can lead to poor performance if a long process arrives before shorter processes</a:t>
                      </a:r>
                    </a:p>
                    <a:p>
                      <a:pPr algn="ctr">
                        <a:buNone/>
                      </a:pPr>
                      <a:r>
                        <a:rPr lang="en-GB" sz="1400">
                          <a:solidFill>
                            <a:srgbClr val="323232"/>
                          </a:solidFill>
                          <a:effectLst/>
                          <a:latin typeface="+mj-lt"/>
                        </a:rPr>
                        <a:t>High-priority tasks wait for their turn in the queue</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extLst>
                  <a:ext uri="{0D108BD9-81ED-4DB2-BD59-A6C34878D82A}">
                    <a16:rowId xmlns:a16="http://schemas.microsoft.com/office/drawing/2014/main" val="3443631710"/>
                  </a:ext>
                </a:extLst>
              </a:tr>
              <a:tr h="715170">
                <a:tc>
                  <a:txBody>
                    <a:bodyPr/>
                    <a:lstStyle/>
                    <a:p>
                      <a:pPr algn="ctr">
                        <a:buNone/>
                      </a:pPr>
                      <a:r>
                        <a:rPr lang="en-GB" sz="1400" b="1">
                          <a:solidFill>
                            <a:srgbClr val="323232"/>
                          </a:solidFill>
                          <a:effectLst/>
                          <a:latin typeface="+mj-lt"/>
                        </a:rPr>
                        <a:t>Multi-Level Feedback Queues</a:t>
                      </a:r>
                      <a:endParaRPr lang="en-GB" sz="1400">
                        <a:solidFill>
                          <a:srgbClr val="323232"/>
                        </a:solidFill>
                        <a:effectLst/>
                        <a:latin typeface="+mj-lt"/>
                      </a:endParaRP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400" dirty="0">
                          <a:solidFill>
                            <a:srgbClr val="323232"/>
                          </a:solidFill>
                          <a:effectLst/>
                          <a:latin typeface="+mj-lt"/>
                        </a:rPr>
                        <a:t>Smaller tasks are prioritised</a:t>
                      </a:r>
                    </a:p>
                    <a:p>
                      <a:pPr algn="ctr">
                        <a:buNone/>
                      </a:pPr>
                      <a:r>
                        <a:rPr lang="en-GB" sz="1400" dirty="0">
                          <a:solidFill>
                            <a:srgbClr val="323232"/>
                          </a:solidFill>
                          <a:effectLst/>
                          <a:latin typeface="+mj-lt"/>
                        </a:rPr>
                        <a:t>Creates a prioritisation system where similar-sized tasks are queued together</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400" dirty="0">
                          <a:solidFill>
                            <a:srgbClr val="323232"/>
                          </a:solidFill>
                          <a:effectLst/>
                          <a:latin typeface="+mj-lt"/>
                        </a:rPr>
                        <a:t>More complex than other algorithms</a:t>
                      </a:r>
                    </a:p>
                    <a:p>
                      <a:pPr algn="ctr">
                        <a:buNone/>
                      </a:pPr>
                      <a:r>
                        <a:rPr lang="en-GB" sz="1400" dirty="0">
                          <a:solidFill>
                            <a:srgbClr val="323232"/>
                          </a:solidFill>
                          <a:effectLst/>
                          <a:latin typeface="+mj-lt"/>
                        </a:rPr>
                        <a:t>Setting the correct parameters (e.g., number of queues, ageing rules) can be complex</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extLst>
                  <a:ext uri="{0D108BD9-81ED-4DB2-BD59-A6C34878D82A}">
                    <a16:rowId xmlns:a16="http://schemas.microsoft.com/office/drawing/2014/main" val="1606316178"/>
                  </a:ext>
                </a:extLst>
              </a:tr>
              <a:tr h="715170">
                <a:tc>
                  <a:txBody>
                    <a:bodyPr/>
                    <a:lstStyle/>
                    <a:p>
                      <a:pPr algn="ctr">
                        <a:buNone/>
                      </a:pPr>
                      <a:r>
                        <a:rPr lang="en-GB" sz="1400" b="1">
                          <a:solidFill>
                            <a:srgbClr val="323232"/>
                          </a:solidFill>
                          <a:effectLst/>
                          <a:latin typeface="+mj-lt"/>
                        </a:rPr>
                        <a:t>Shortest Job First</a:t>
                      </a:r>
                      <a:endParaRPr lang="en-GB" sz="1400">
                        <a:solidFill>
                          <a:srgbClr val="323232"/>
                        </a:solidFill>
                        <a:effectLst/>
                        <a:latin typeface="+mj-lt"/>
                      </a:endParaRP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400">
                          <a:solidFill>
                            <a:srgbClr val="323232"/>
                          </a:solidFill>
                          <a:effectLst/>
                          <a:latin typeface="+mj-lt"/>
                        </a:rPr>
                        <a:t>Minimises waiting time</a:t>
                      </a:r>
                    </a:p>
                    <a:p>
                      <a:pPr algn="ctr">
                        <a:buNone/>
                      </a:pPr>
                      <a:r>
                        <a:rPr lang="en-GB" sz="1400">
                          <a:solidFill>
                            <a:srgbClr val="323232"/>
                          </a:solidFill>
                          <a:effectLst/>
                          <a:latin typeface="+mj-lt"/>
                        </a:rPr>
                        <a:t>Efficient and fast for short processes</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400" dirty="0">
                          <a:solidFill>
                            <a:srgbClr val="323232"/>
                          </a:solidFill>
                          <a:effectLst/>
                          <a:latin typeface="+mj-lt"/>
                        </a:rPr>
                        <a:t>Requires knowing the burst time of processes in advance</a:t>
                      </a:r>
                    </a:p>
                    <a:p>
                      <a:pPr algn="ctr">
                        <a:buNone/>
                      </a:pPr>
                      <a:r>
                        <a:rPr lang="en-GB" sz="1400" dirty="0">
                          <a:solidFill>
                            <a:srgbClr val="323232"/>
                          </a:solidFill>
                          <a:effectLst/>
                          <a:latin typeface="+mj-lt"/>
                        </a:rPr>
                        <a:t>Long processes can starve if short processes keep arriving</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extLst>
                  <a:ext uri="{0D108BD9-81ED-4DB2-BD59-A6C34878D82A}">
                    <a16:rowId xmlns:a16="http://schemas.microsoft.com/office/drawing/2014/main" val="1904506546"/>
                  </a:ext>
                </a:extLst>
              </a:tr>
              <a:tr h="870901">
                <a:tc>
                  <a:txBody>
                    <a:bodyPr/>
                    <a:lstStyle/>
                    <a:p>
                      <a:pPr algn="ctr">
                        <a:buNone/>
                      </a:pPr>
                      <a:r>
                        <a:rPr lang="en-GB" sz="1400" b="1">
                          <a:solidFill>
                            <a:srgbClr val="323232"/>
                          </a:solidFill>
                          <a:effectLst/>
                          <a:latin typeface="+mj-lt"/>
                        </a:rPr>
                        <a:t>Shortest Time Remaining</a:t>
                      </a:r>
                      <a:endParaRPr lang="en-GB" sz="1400">
                        <a:solidFill>
                          <a:srgbClr val="323232"/>
                        </a:solidFill>
                        <a:effectLst/>
                        <a:latin typeface="+mj-lt"/>
                      </a:endParaRP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400">
                          <a:solidFill>
                            <a:srgbClr val="323232"/>
                          </a:solidFill>
                          <a:effectLst/>
                          <a:latin typeface="+mj-lt"/>
                        </a:rPr>
                        <a:t>Ideal for jobs that have shorter burst times</a:t>
                      </a:r>
                    </a:p>
                    <a:p>
                      <a:pPr algn="ctr">
                        <a:buNone/>
                      </a:pPr>
                      <a:r>
                        <a:rPr lang="en-GB" sz="1400">
                          <a:solidFill>
                            <a:srgbClr val="323232"/>
                          </a:solidFill>
                          <a:effectLst/>
                          <a:latin typeface="+mj-lt"/>
                        </a:rPr>
                        <a:t>It is preemptive, so it can be aligned with CPU for best performance (time quantum)</a:t>
                      </a: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tc>
                  <a:txBody>
                    <a:bodyPr/>
                    <a:lstStyle/>
                    <a:p>
                      <a:pPr algn="ctr">
                        <a:buNone/>
                      </a:pPr>
                      <a:r>
                        <a:rPr lang="en-GB" sz="1400" dirty="0">
                          <a:solidFill>
                            <a:srgbClr val="323232"/>
                          </a:solidFill>
                          <a:effectLst/>
                          <a:latin typeface="+mj-lt"/>
                        </a:rPr>
                        <a:t>Like SJF, it requires knowing the burst time of processes in advance</a:t>
                      </a:r>
                    </a:p>
                    <a:p>
                      <a:pPr algn="ctr">
                        <a:buNone/>
                      </a:pPr>
                      <a:r>
                        <a:rPr lang="en-GB" sz="1400" dirty="0">
                          <a:solidFill>
                            <a:srgbClr val="323232"/>
                          </a:solidFill>
                          <a:effectLst/>
                          <a:latin typeface="+mj-lt"/>
                        </a:rPr>
                        <a:t>High context switching overhead due to </a:t>
                      </a:r>
                      <a:r>
                        <a:rPr lang="en-GB" sz="1400" dirty="0" err="1">
                          <a:solidFill>
                            <a:srgbClr val="323232"/>
                          </a:solidFill>
                          <a:effectLst/>
                          <a:latin typeface="+mj-lt"/>
                        </a:rPr>
                        <a:t>preemption</a:t>
                      </a:r>
                      <a:endParaRPr lang="en-GB" sz="1400" dirty="0">
                        <a:solidFill>
                          <a:srgbClr val="323232"/>
                        </a:solidFill>
                        <a:effectLst/>
                        <a:latin typeface="+mj-lt"/>
                      </a:endParaRPr>
                    </a:p>
                  </a:txBody>
                  <a:tcPr>
                    <a:lnL w="9525" cap="flat" cmpd="sng" algn="ctr">
                      <a:solidFill>
                        <a:srgbClr val="323232"/>
                      </a:solidFill>
                      <a:prstDash val="solid"/>
                      <a:round/>
                      <a:headEnd type="none" w="med" len="med"/>
                      <a:tailEnd type="none" w="med" len="med"/>
                    </a:lnL>
                    <a:lnR w="9525" cap="flat" cmpd="sng" algn="ctr">
                      <a:solidFill>
                        <a:srgbClr val="323232"/>
                      </a:solidFill>
                      <a:prstDash val="solid"/>
                      <a:round/>
                      <a:headEnd type="none" w="med" len="med"/>
                      <a:tailEnd type="none" w="med" len="med"/>
                    </a:lnR>
                    <a:lnT w="9525" cap="flat" cmpd="sng" algn="ctr">
                      <a:solidFill>
                        <a:srgbClr val="323232"/>
                      </a:solidFill>
                      <a:prstDash val="solid"/>
                      <a:round/>
                      <a:headEnd type="none" w="med" len="med"/>
                      <a:tailEnd type="none" w="med" len="med"/>
                    </a:lnT>
                    <a:lnB w="9525" cap="flat" cmpd="sng" algn="ctr">
                      <a:solidFill>
                        <a:srgbClr val="323232"/>
                      </a:solidFill>
                      <a:prstDash val="solid"/>
                      <a:round/>
                      <a:headEnd type="none" w="med" len="med"/>
                      <a:tailEnd type="none" w="med" len="med"/>
                    </a:lnB>
                    <a:noFill/>
                  </a:tcPr>
                </a:tc>
                <a:extLst>
                  <a:ext uri="{0D108BD9-81ED-4DB2-BD59-A6C34878D82A}">
                    <a16:rowId xmlns:a16="http://schemas.microsoft.com/office/drawing/2014/main" val="686741909"/>
                  </a:ext>
                </a:extLst>
              </a:tr>
            </a:tbl>
          </a:graphicData>
        </a:graphic>
      </p:graphicFrame>
      <p:sp>
        <p:nvSpPr>
          <p:cNvPr id="5" name="Rectangle 1">
            <a:extLst>
              <a:ext uri="{FF2B5EF4-FFF2-40B4-BE49-F238E27FC236}">
                <a16:creationId xmlns:a16="http://schemas.microsoft.com/office/drawing/2014/main" id="{3D281537-F034-8AB4-09E3-7AB699DFD7E1}"/>
              </a:ext>
            </a:extLst>
          </p:cNvPr>
          <p:cNvSpPr>
            <a:spLocks noChangeArrowheads="1"/>
          </p:cNvSpPr>
          <p:nvPr/>
        </p:nvSpPr>
        <p:spPr bwMode="auto">
          <a:xfrm>
            <a:off x="430342" y="5691509"/>
            <a:ext cx="10577384" cy="1231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323232"/>
                </a:solidFill>
                <a:effectLst/>
                <a:latin typeface="+mj-lt"/>
              </a:rPr>
              <a:t>The suitability of a scheduling algorithm largely depends on the specific scenario and the system requirements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rgbClr val="323232"/>
                </a:solidFill>
                <a:effectLst/>
                <a:latin typeface="+mj-lt"/>
              </a:rPr>
              <a:t>A drawback in one scenario may not be a drawback in another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274526921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FA307-2350-0219-B050-EF558277546F}"/>
              </a:ext>
            </a:extLst>
          </p:cNvPr>
          <p:cNvSpPr>
            <a:spLocks noGrp="1"/>
          </p:cNvSpPr>
          <p:nvPr>
            <p:ph type="title"/>
          </p:nvPr>
        </p:nvSpPr>
        <p:spPr/>
        <p:txBody>
          <a:bodyPr>
            <a:normAutofit/>
          </a:bodyPr>
          <a:lstStyle/>
          <a:p>
            <a:r>
              <a:rPr lang="en-GB" b="1" dirty="0">
                <a:solidFill>
                  <a:srgbClr val="323232"/>
                </a:solidFill>
              </a:rPr>
              <a:t>Worked Example</a:t>
            </a:r>
            <a:endParaRPr lang="en-GB" dirty="0"/>
          </a:p>
        </p:txBody>
      </p:sp>
      <p:sp>
        <p:nvSpPr>
          <p:cNvPr id="3" name="Content Placeholder 2">
            <a:extLst>
              <a:ext uri="{FF2B5EF4-FFF2-40B4-BE49-F238E27FC236}">
                <a16:creationId xmlns:a16="http://schemas.microsoft.com/office/drawing/2014/main" id="{870C22DE-91FD-D29C-E621-C3163EDD6E47}"/>
              </a:ext>
            </a:extLst>
          </p:cNvPr>
          <p:cNvSpPr>
            <a:spLocks noGrp="1"/>
          </p:cNvSpPr>
          <p:nvPr>
            <p:ph sz="quarter" idx="13"/>
          </p:nvPr>
        </p:nvSpPr>
        <p:spPr>
          <a:xfrm>
            <a:off x="367748" y="1020159"/>
            <a:ext cx="11449879" cy="5578349"/>
          </a:xfrm>
        </p:spPr>
        <p:txBody>
          <a:bodyPr>
            <a:normAutofit fontScale="92500" lnSpcReduction="20000"/>
          </a:bodyPr>
          <a:lstStyle/>
          <a:p>
            <a:pPr algn="l">
              <a:buNone/>
            </a:pPr>
            <a:r>
              <a:rPr lang="en-GB" b="1" i="0" dirty="0">
                <a:effectLst/>
                <a:latin typeface="+mj-lt"/>
              </a:rPr>
              <a:t>A company makes anti-virus software. When running anti-virus software, an operating system uses a scheduling algorithm to allocate CPU time to the anti-virus software.</a:t>
            </a:r>
            <a:endParaRPr lang="en-GB" b="0" i="0" dirty="0">
              <a:effectLst/>
              <a:latin typeface="+mj-lt"/>
            </a:endParaRPr>
          </a:p>
          <a:p>
            <a:pPr algn="l">
              <a:buNone/>
            </a:pPr>
            <a:r>
              <a:rPr lang="en-GB" b="1" i="0" dirty="0">
                <a:effectLst/>
                <a:latin typeface="+mj-lt"/>
              </a:rPr>
              <a:t>Explain why a First Come First Served scheduling algorithm would not be suitable in this situation.</a:t>
            </a:r>
            <a:endParaRPr lang="en-GB" b="0" i="0" dirty="0">
              <a:effectLst/>
              <a:latin typeface="+mj-lt"/>
            </a:endParaRPr>
          </a:p>
          <a:p>
            <a:pPr algn="r">
              <a:buNone/>
            </a:pPr>
            <a:r>
              <a:rPr lang="en-GB" b="0" i="0" dirty="0">
                <a:effectLst/>
                <a:latin typeface="+mj-lt"/>
              </a:rPr>
              <a:t>[2]</a:t>
            </a:r>
          </a:p>
          <a:p>
            <a:pPr algn="l">
              <a:buNone/>
            </a:pPr>
            <a:r>
              <a:rPr lang="en-GB" b="1" i="0" dirty="0">
                <a:effectLst/>
                <a:latin typeface="+mj-lt"/>
              </a:rPr>
              <a:t>How to answer this question:</a:t>
            </a:r>
            <a:endParaRPr lang="en-GB" b="0" i="0" dirty="0">
              <a:effectLst/>
              <a:latin typeface="+mj-lt"/>
            </a:endParaRPr>
          </a:p>
          <a:p>
            <a:pPr algn="l">
              <a:buFont typeface="Arial" panose="020B0604020202020204" pitchFamily="34" charset="0"/>
              <a:buChar char="•"/>
            </a:pPr>
            <a:r>
              <a:rPr lang="en-GB" b="0" i="0" dirty="0">
                <a:effectLst/>
                <a:latin typeface="+mj-lt"/>
              </a:rPr>
              <a:t>Think of the conditions that anti-virus software runs optimally</a:t>
            </a:r>
          </a:p>
          <a:p>
            <a:pPr algn="l">
              <a:buFont typeface="Arial" panose="020B0604020202020204" pitchFamily="34" charset="0"/>
              <a:buChar char="•"/>
            </a:pPr>
            <a:r>
              <a:rPr lang="en-GB" b="0" i="0" dirty="0">
                <a:effectLst/>
                <a:latin typeface="+mj-lt"/>
              </a:rPr>
              <a:t>Recall the way the FCFS algorithm works and its benefits and drawbacks</a:t>
            </a:r>
          </a:p>
          <a:p>
            <a:pPr algn="l">
              <a:buFont typeface="Arial" panose="020B0604020202020204" pitchFamily="34" charset="0"/>
              <a:buChar char="•"/>
            </a:pPr>
            <a:r>
              <a:rPr lang="en-GB" b="0" i="0" dirty="0">
                <a:effectLst/>
                <a:latin typeface="+mj-lt"/>
              </a:rPr>
              <a:t>Link how the optimal running of anti-virus is incompatible with FCFS scheduling</a:t>
            </a:r>
          </a:p>
          <a:p>
            <a:pPr algn="l">
              <a:buNone/>
            </a:pPr>
            <a:endParaRPr lang="en-GB" b="1" i="0" dirty="0">
              <a:effectLst/>
              <a:latin typeface="+mj-lt"/>
            </a:endParaRPr>
          </a:p>
          <a:p>
            <a:pPr algn="l">
              <a:buNone/>
            </a:pPr>
            <a:r>
              <a:rPr lang="en-GB" b="1" i="0" dirty="0">
                <a:effectLst/>
                <a:latin typeface="+mj-lt"/>
              </a:rPr>
              <a:t>Example answer that gets full marks:</a:t>
            </a:r>
            <a:endParaRPr lang="en-GB" b="0" i="0" dirty="0">
              <a:effectLst/>
              <a:latin typeface="+mj-lt"/>
            </a:endParaRPr>
          </a:p>
          <a:p>
            <a:pPr algn="l">
              <a:buNone/>
            </a:pPr>
            <a:r>
              <a:rPr lang="en-GB" b="0" i="0" dirty="0">
                <a:effectLst/>
                <a:latin typeface="+mj-lt"/>
              </a:rPr>
              <a:t>Anti-virus software is high-priority because it scans the operating system constantly, looking for threats. When a threat is detected, anti-virus will quarantine or eliminate them. To work effectively, anti-virus software needs high-priority access to CPU time.</a:t>
            </a:r>
          </a:p>
          <a:p>
            <a:pPr algn="l">
              <a:buNone/>
            </a:pPr>
            <a:r>
              <a:rPr lang="en-GB" b="0" i="0" dirty="0">
                <a:effectLst/>
                <a:latin typeface="+mj-lt"/>
              </a:rPr>
              <a:t>Using FCFS could delay these critical tasks if many other processes are in the queue ahead of the anti-virus software. Other less crucial tasks could get CPU time before the anti-virus process, leading to potential security risks.</a:t>
            </a:r>
          </a:p>
          <a:p>
            <a:pPr algn="l">
              <a:buNone/>
            </a:pPr>
            <a:endParaRPr lang="en-GB" b="1" i="0" dirty="0">
              <a:effectLst/>
              <a:latin typeface="+mj-lt"/>
            </a:endParaRPr>
          </a:p>
          <a:p>
            <a:pPr algn="l">
              <a:buNone/>
            </a:pPr>
            <a:r>
              <a:rPr lang="en-GB" b="1" i="0" dirty="0">
                <a:effectLst/>
                <a:latin typeface="+mj-lt"/>
              </a:rPr>
              <a:t>Acceptable answers you could have given instead:</a:t>
            </a:r>
            <a:endParaRPr lang="en-GB" b="0" i="0" dirty="0">
              <a:effectLst/>
              <a:latin typeface="+mj-lt"/>
            </a:endParaRPr>
          </a:p>
          <a:p>
            <a:pPr algn="l"/>
            <a:r>
              <a:rPr lang="en-GB" b="0" i="0" dirty="0">
                <a:effectLst/>
                <a:latin typeface="+mj-lt"/>
              </a:rPr>
              <a:t>The FCFS algorithm is unsuitable because essential antivirus processing would be placed at the back of the queue and wait for its turn.  Lower-priority tasks would use valuable CPU time, meaning the system could be at risk.</a:t>
            </a:r>
          </a:p>
          <a:p>
            <a:pPr marL="0" indent="0">
              <a:buNone/>
            </a:pPr>
            <a:endParaRPr lang="en-GB" dirty="0"/>
          </a:p>
        </p:txBody>
      </p:sp>
    </p:spTree>
    <p:extLst>
      <p:ext uri="{BB962C8B-B14F-4D97-AF65-F5344CB8AC3E}">
        <p14:creationId xmlns:p14="http://schemas.microsoft.com/office/powerpoint/2010/main" val="19978113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FDE63-FB7A-C8FB-92A9-4FC8FB49206E}"/>
              </a:ext>
            </a:extLst>
          </p:cNvPr>
          <p:cNvSpPr>
            <a:spLocks noGrp="1"/>
          </p:cNvSpPr>
          <p:nvPr>
            <p:ph type="title"/>
          </p:nvPr>
        </p:nvSpPr>
        <p:spPr/>
        <p:txBody>
          <a:bodyPr>
            <a:normAutofit/>
          </a:bodyPr>
          <a:lstStyle/>
          <a:p>
            <a:r>
              <a:rPr lang="en-GB" b="1" dirty="0">
                <a:solidFill>
                  <a:srgbClr val="323232"/>
                </a:solidFill>
              </a:rPr>
              <a:t>What is paging?</a:t>
            </a:r>
            <a:endParaRPr lang="en-GB" dirty="0"/>
          </a:p>
        </p:txBody>
      </p:sp>
      <p:sp>
        <p:nvSpPr>
          <p:cNvPr id="3" name="Content Placeholder 2">
            <a:extLst>
              <a:ext uri="{FF2B5EF4-FFF2-40B4-BE49-F238E27FC236}">
                <a16:creationId xmlns:a16="http://schemas.microsoft.com/office/drawing/2014/main" id="{379B17A7-1081-5CA5-9366-7A2A2ABF5168}"/>
              </a:ext>
            </a:extLst>
          </p:cNvPr>
          <p:cNvSpPr>
            <a:spLocks noGrp="1"/>
          </p:cNvSpPr>
          <p:nvPr>
            <p:ph sz="quarter" idx="13"/>
          </p:nvPr>
        </p:nvSpPr>
        <p:spPr>
          <a:xfrm>
            <a:off x="367749" y="1020159"/>
            <a:ext cx="7268728" cy="5022835"/>
          </a:xfrm>
        </p:spPr>
        <p:txBody>
          <a:bodyPr>
            <a:normAutofit fontScale="77500" lnSpcReduction="20000"/>
          </a:bodyPr>
          <a:lstStyle/>
          <a:p>
            <a:pPr algn="l">
              <a:buFont typeface="Arial" panose="020B0604020202020204" pitchFamily="34" charset="0"/>
              <a:buChar char="•"/>
            </a:pPr>
            <a:r>
              <a:rPr lang="en-GB" dirty="0">
                <a:solidFill>
                  <a:srgbClr val="323232"/>
                </a:solidFill>
                <a:latin typeface="+mj-lt"/>
              </a:rPr>
              <a:t>P</a:t>
            </a:r>
            <a:r>
              <a:rPr lang="en-GB" b="0" i="0" dirty="0">
                <a:solidFill>
                  <a:srgbClr val="323232"/>
                </a:solidFill>
                <a:effectLst/>
                <a:latin typeface="+mj-lt"/>
              </a:rPr>
              <a:t>aging is a method of </a:t>
            </a:r>
            <a:r>
              <a:rPr lang="en-GB" b="1" i="0" dirty="0">
                <a:solidFill>
                  <a:srgbClr val="323232"/>
                </a:solidFill>
                <a:effectLst/>
                <a:latin typeface="+mj-lt"/>
              </a:rPr>
              <a:t>chunking</a:t>
            </a:r>
            <a:r>
              <a:rPr lang="en-GB" b="0" i="0" dirty="0">
                <a:solidFill>
                  <a:srgbClr val="323232"/>
                </a:solidFill>
                <a:effectLst/>
                <a:latin typeface="+mj-lt"/>
              </a:rPr>
              <a:t> the primary memory </a:t>
            </a:r>
            <a:r>
              <a:rPr lang="en-GB" b="1" i="0" dirty="0">
                <a:solidFill>
                  <a:srgbClr val="323232"/>
                </a:solidFill>
                <a:effectLst/>
                <a:latin typeface="+mj-lt"/>
              </a:rPr>
              <a:t>into equal-sized blocks</a:t>
            </a:r>
            <a:endParaRPr lang="en-GB" b="0" i="0" dirty="0">
              <a:solidFill>
                <a:srgbClr val="323232"/>
              </a:solidFill>
              <a:effectLst/>
              <a:latin typeface="+mj-lt"/>
            </a:endParaRPr>
          </a:p>
          <a:p>
            <a:pPr algn="l">
              <a:buFont typeface="Arial" panose="020B0604020202020204" pitchFamily="34" charset="0"/>
              <a:buChar char="•"/>
            </a:pPr>
            <a:r>
              <a:rPr lang="en-GB" b="0" i="0" dirty="0">
                <a:solidFill>
                  <a:srgbClr val="323232"/>
                </a:solidFill>
                <a:effectLst/>
                <a:latin typeface="+mj-lt"/>
              </a:rPr>
              <a:t>Data stored in memory will lead to the smooth running of applications</a:t>
            </a:r>
          </a:p>
          <a:p>
            <a:pPr algn="l">
              <a:buFont typeface="Arial" panose="020B0604020202020204" pitchFamily="34" charset="0"/>
              <a:buChar char="•"/>
            </a:pPr>
            <a:r>
              <a:rPr lang="en-GB" b="0" i="0" dirty="0">
                <a:solidFill>
                  <a:srgbClr val="323232"/>
                </a:solidFill>
                <a:effectLst/>
                <a:latin typeface="+mj-lt"/>
              </a:rPr>
              <a:t>When an application is launched, data will be moved from the hard disk into Pages for faster access</a:t>
            </a:r>
          </a:p>
          <a:p>
            <a:pPr algn="l">
              <a:buFont typeface="Arial" panose="020B0604020202020204" pitchFamily="34" charset="0"/>
              <a:buChar char="•"/>
            </a:pPr>
            <a:r>
              <a:rPr lang="en-GB" b="0" i="0" dirty="0">
                <a:solidFill>
                  <a:srgbClr val="323232"/>
                </a:solidFill>
                <a:effectLst/>
                <a:latin typeface="+mj-lt"/>
              </a:rPr>
              <a:t>As users move between applications, memory is dynamically allocated</a:t>
            </a:r>
          </a:p>
          <a:p>
            <a:pPr algn="l">
              <a:buFont typeface="Arial" panose="020B0604020202020204" pitchFamily="34" charset="0"/>
              <a:buChar char="•"/>
            </a:pPr>
            <a:r>
              <a:rPr lang="en-GB" b="0" i="0" dirty="0">
                <a:solidFill>
                  <a:srgbClr val="323232"/>
                </a:solidFill>
                <a:effectLst/>
                <a:latin typeface="+mj-lt"/>
              </a:rPr>
              <a:t>Pages will be taken away from applications not in active use and granted to applications that are in active use</a:t>
            </a:r>
          </a:p>
          <a:p>
            <a:pPr algn="l">
              <a:buFont typeface="Arial" panose="020B0604020202020204" pitchFamily="34" charset="0"/>
              <a:buChar char="•"/>
            </a:pPr>
            <a:r>
              <a:rPr lang="en-GB" b="0" i="0" dirty="0">
                <a:solidFill>
                  <a:srgbClr val="323232"/>
                </a:solidFill>
                <a:effectLst/>
                <a:latin typeface="+mj-lt"/>
              </a:rPr>
              <a:t>Paging can lead to </a:t>
            </a:r>
            <a:r>
              <a:rPr lang="en-GB" b="1" i="0" dirty="0">
                <a:solidFill>
                  <a:srgbClr val="323232"/>
                </a:solidFill>
                <a:effectLst/>
                <a:latin typeface="+mj-lt"/>
              </a:rPr>
              <a:t>internal fragmentation</a:t>
            </a:r>
            <a:endParaRPr lang="en-GB" b="0" i="0" dirty="0">
              <a:solidFill>
                <a:srgbClr val="323232"/>
              </a:solidFill>
              <a:effectLst/>
              <a:latin typeface="+mj-lt"/>
            </a:endParaRPr>
          </a:p>
          <a:p>
            <a:pPr algn="l">
              <a:buFont typeface="Arial" panose="020B0604020202020204" pitchFamily="34" charset="0"/>
              <a:buChar char="•"/>
            </a:pPr>
            <a:r>
              <a:rPr lang="en-GB" b="0" i="0" dirty="0">
                <a:solidFill>
                  <a:srgbClr val="323232"/>
                </a:solidFill>
                <a:effectLst/>
                <a:latin typeface="+mj-lt"/>
              </a:rPr>
              <a:t>If a 200KB file is divided into four 64KB Pages, the last Page would have 56KB of unused space</a:t>
            </a:r>
          </a:p>
          <a:p>
            <a:pPr marL="742950" lvl="1" indent="-285750" algn="l">
              <a:buFont typeface="Arial" panose="020B0604020202020204" pitchFamily="34" charset="0"/>
              <a:buChar char="•"/>
            </a:pPr>
            <a:r>
              <a:rPr lang="en-GB" b="1" i="0" dirty="0">
                <a:solidFill>
                  <a:srgbClr val="323232"/>
                </a:solidFill>
                <a:effectLst/>
                <a:latin typeface="+mj-lt"/>
              </a:rPr>
              <a:t>First 64KB</a:t>
            </a:r>
            <a:r>
              <a:rPr lang="en-GB" b="0" i="0" dirty="0">
                <a:solidFill>
                  <a:srgbClr val="323232"/>
                </a:solidFill>
                <a:effectLst/>
                <a:latin typeface="+mj-lt"/>
              </a:rPr>
              <a:t> → Full page (64KB used, 0KB unused)</a:t>
            </a:r>
          </a:p>
          <a:p>
            <a:pPr marL="742950" lvl="1" indent="-285750" algn="l">
              <a:buFont typeface="Arial" panose="020B0604020202020204" pitchFamily="34" charset="0"/>
              <a:buChar char="•"/>
            </a:pPr>
            <a:r>
              <a:rPr lang="en-GB" b="1" i="0" dirty="0">
                <a:solidFill>
                  <a:srgbClr val="323232"/>
                </a:solidFill>
                <a:effectLst/>
                <a:latin typeface="+mj-lt"/>
              </a:rPr>
              <a:t>Second 64KB</a:t>
            </a:r>
            <a:r>
              <a:rPr lang="en-GB" b="0" i="0" dirty="0">
                <a:solidFill>
                  <a:srgbClr val="323232"/>
                </a:solidFill>
                <a:effectLst/>
                <a:latin typeface="+mj-lt"/>
              </a:rPr>
              <a:t> → Full page (64KB used, 0KB unused)</a:t>
            </a:r>
          </a:p>
          <a:p>
            <a:pPr marL="742950" lvl="1" indent="-285750" algn="l">
              <a:buFont typeface="Arial" panose="020B0604020202020204" pitchFamily="34" charset="0"/>
              <a:buChar char="•"/>
            </a:pPr>
            <a:r>
              <a:rPr lang="en-GB" b="1" i="0" dirty="0">
                <a:solidFill>
                  <a:srgbClr val="323232"/>
                </a:solidFill>
                <a:effectLst/>
                <a:latin typeface="+mj-lt"/>
              </a:rPr>
              <a:t>Third 64KB</a:t>
            </a:r>
            <a:r>
              <a:rPr lang="en-GB" b="0" i="0" dirty="0">
                <a:solidFill>
                  <a:srgbClr val="323232"/>
                </a:solidFill>
                <a:effectLst/>
                <a:latin typeface="+mj-lt"/>
              </a:rPr>
              <a:t> → Full page (64KB used, 0KB unused)</a:t>
            </a:r>
          </a:p>
          <a:p>
            <a:pPr marL="742950" lvl="1" indent="-285750" algn="l">
              <a:buFont typeface="Arial" panose="020B0604020202020204" pitchFamily="34" charset="0"/>
              <a:buChar char="•"/>
            </a:pPr>
            <a:r>
              <a:rPr lang="en-GB" b="1" i="0" dirty="0">
                <a:solidFill>
                  <a:srgbClr val="323232"/>
                </a:solidFill>
                <a:effectLst/>
                <a:latin typeface="+mj-lt"/>
              </a:rPr>
              <a:t>Fourth 64KB </a:t>
            </a:r>
            <a:r>
              <a:rPr lang="en-GB" b="0" i="0" dirty="0">
                <a:solidFill>
                  <a:srgbClr val="323232"/>
                </a:solidFill>
                <a:effectLst/>
                <a:latin typeface="+mj-lt"/>
              </a:rPr>
              <a:t>→ Partial page (</a:t>
            </a:r>
            <a:r>
              <a:rPr lang="en-GB" b="1" i="0" dirty="0">
                <a:solidFill>
                  <a:srgbClr val="323232"/>
                </a:solidFill>
                <a:effectLst/>
                <a:latin typeface="+mj-lt"/>
              </a:rPr>
              <a:t>8KB</a:t>
            </a:r>
            <a:r>
              <a:rPr lang="en-GB" b="0" i="0" dirty="0">
                <a:solidFill>
                  <a:srgbClr val="323232"/>
                </a:solidFill>
                <a:effectLst/>
                <a:latin typeface="+mj-lt"/>
              </a:rPr>
              <a:t> used, </a:t>
            </a:r>
            <a:r>
              <a:rPr lang="en-GB" b="1" i="0" dirty="0">
                <a:solidFill>
                  <a:srgbClr val="323232"/>
                </a:solidFill>
                <a:effectLst/>
                <a:latin typeface="+mj-lt"/>
              </a:rPr>
              <a:t>56KB unused)</a:t>
            </a:r>
            <a:endParaRPr lang="en-GB" b="0" i="0" dirty="0">
              <a:solidFill>
                <a:srgbClr val="323232"/>
              </a:solidFill>
              <a:effectLst/>
              <a:latin typeface="+mj-lt"/>
            </a:endParaRPr>
          </a:p>
          <a:p>
            <a:pPr algn="l">
              <a:buFont typeface="Arial" panose="020B0604020202020204" pitchFamily="34" charset="0"/>
              <a:buChar char="•"/>
            </a:pPr>
            <a:r>
              <a:rPr lang="en-GB" b="0" i="0" dirty="0">
                <a:solidFill>
                  <a:srgbClr val="323232"/>
                </a:solidFill>
                <a:effectLst/>
                <a:latin typeface="+mj-lt"/>
              </a:rPr>
              <a:t>Unused space in a Page is wasteful because other unrelated data cannot be stored in this Page</a:t>
            </a:r>
          </a:p>
          <a:p>
            <a:pPr algn="l">
              <a:buFont typeface="Arial" panose="020B0604020202020204" pitchFamily="34" charset="0"/>
              <a:buChar char="•"/>
            </a:pPr>
            <a:r>
              <a:rPr lang="en-GB" b="0" i="0" dirty="0">
                <a:solidFill>
                  <a:srgbClr val="323232"/>
                </a:solidFill>
                <a:effectLst/>
                <a:latin typeface="+mj-lt"/>
              </a:rPr>
              <a:t>Over time, more pockets of wasted space will exist across the memory; this process is called </a:t>
            </a:r>
            <a:r>
              <a:rPr lang="en-GB" b="1" i="0" dirty="0">
                <a:solidFill>
                  <a:srgbClr val="323232"/>
                </a:solidFill>
                <a:effectLst/>
                <a:latin typeface="+mj-lt"/>
              </a:rPr>
              <a:t>internal fragmentation</a:t>
            </a:r>
            <a:endParaRPr lang="en-GB" b="0" i="0" dirty="0">
              <a:solidFill>
                <a:srgbClr val="323232"/>
              </a:solidFill>
              <a:effectLst/>
              <a:latin typeface="+mj-lt"/>
            </a:endParaRPr>
          </a:p>
          <a:p>
            <a:pPr algn="l">
              <a:buFont typeface="Arial" panose="020B0604020202020204" pitchFamily="34" charset="0"/>
              <a:buChar char="•"/>
            </a:pPr>
            <a:r>
              <a:rPr lang="en-GB" b="0" i="0" dirty="0">
                <a:solidFill>
                  <a:srgbClr val="323232"/>
                </a:solidFill>
                <a:effectLst/>
                <a:latin typeface="+mj-lt"/>
              </a:rPr>
              <a:t>The image below shows a single 64KB Page with 4KB of unoccupied space</a:t>
            </a:r>
          </a:p>
          <a:p>
            <a:pPr algn="l">
              <a:buFont typeface="Arial" panose="020B0604020202020204" pitchFamily="34" charset="0"/>
              <a:buChar char="•"/>
            </a:pPr>
            <a:r>
              <a:rPr lang="en-GB" b="0" i="0" dirty="0">
                <a:solidFill>
                  <a:srgbClr val="323232"/>
                </a:solidFill>
                <a:effectLst/>
                <a:latin typeface="+mj-lt"/>
              </a:rPr>
              <a:t>The box below this shows many Pages, each with varying sizes of internal fragments</a:t>
            </a:r>
          </a:p>
          <a:p>
            <a:pPr marL="0" indent="0">
              <a:buNone/>
            </a:pPr>
            <a:endParaRPr lang="en-GB" dirty="0"/>
          </a:p>
        </p:txBody>
      </p:sp>
      <p:pic>
        <p:nvPicPr>
          <p:cNvPr id="1026" name="Picture 2" descr="Internal fragmentation">
            <a:extLst>
              <a:ext uri="{FF2B5EF4-FFF2-40B4-BE49-F238E27FC236}">
                <a16:creationId xmlns:a16="http://schemas.microsoft.com/office/drawing/2014/main" id="{D9AAE169-332F-A1A0-B9A9-EF289036E0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86502" y="1467997"/>
            <a:ext cx="5236330" cy="4127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99698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D8A488-BA61-59AF-9835-1CB03485F34D}"/>
              </a:ext>
            </a:extLst>
          </p:cNvPr>
          <p:cNvSpPr>
            <a:spLocks noGrp="1"/>
          </p:cNvSpPr>
          <p:nvPr>
            <p:ph type="title"/>
          </p:nvPr>
        </p:nvSpPr>
        <p:spPr/>
        <p:txBody>
          <a:bodyPr>
            <a:normAutofit/>
          </a:bodyPr>
          <a:lstStyle/>
          <a:p>
            <a:pPr algn="l">
              <a:buNone/>
            </a:pPr>
            <a:r>
              <a:rPr lang="en-GB" b="1" i="0" dirty="0">
                <a:solidFill>
                  <a:srgbClr val="323232"/>
                </a:solidFill>
                <a:effectLst/>
                <a:latin typeface="+mj-lt"/>
              </a:rPr>
              <a:t>What is segmentation?</a:t>
            </a:r>
          </a:p>
        </p:txBody>
      </p:sp>
      <p:sp>
        <p:nvSpPr>
          <p:cNvPr id="3" name="Content Placeholder 2">
            <a:extLst>
              <a:ext uri="{FF2B5EF4-FFF2-40B4-BE49-F238E27FC236}">
                <a16:creationId xmlns:a16="http://schemas.microsoft.com/office/drawing/2014/main" id="{36536484-8B19-BB48-675E-48A089720463}"/>
              </a:ext>
            </a:extLst>
          </p:cNvPr>
          <p:cNvSpPr>
            <a:spLocks noGrp="1"/>
          </p:cNvSpPr>
          <p:nvPr>
            <p:ph sz="quarter" idx="13"/>
          </p:nvPr>
        </p:nvSpPr>
        <p:spPr>
          <a:xfrm>
            <a:off x="318321" y="834808"/>
            <a:ext cx="5402857" cy="5837841"/>
          </a:xfrm>
        </p:spPr>
        <p:txBody>
          <a:bodyPr>
            <a:normAutofit fontScale="85000" lnSpcReduction="20000"/>
          </a:bodyPr>
          <a:lstStyle/>
          <a:p>
            <a:pPr algn="l">
              <a:buFont typeface="Arial" panose="020B0604020202020204" pitchFamily="34" charset="0"/>
              <a:buChar char="•"/>
            </a:pPr>
            <a:r>
              <a:rPr lang="en-GB" b="0" i="0" dirty="0">
                <a:solidFill>
                  <a:srgbClr val="323232"/>
                </a:solidFill>
                <a:effectLst/>
                <a:latin typeface="+mj-lt"/>
              </a:rPr>
              <a:t>Segmentation is a method of </a:t>
            </a:r>
            <a:r>
              <a:rPr lang="en-GB" b="1" i="0" dirty="0">
                <a:solidFill>
                  <a:srgbClr val="323232"/>
                </a:solidFill>
                <a:effectLst/>
                <a:latin typeface="+mj-lt"/>
              </a:rPr>
              <a:t>chunking</a:t>
            </a:r>
            <a:r>
              <a:rPr lang="en-GB" b="0" i="0" dirty="0">
                <a:solidFill>
                  <a:srgbClr val="323232"/>
                </a:solidFill>
                <a:effectLst/>
                <a:latin typeface="+mj-lt"/>
              </a:rPr>
              <a:t> memory into </a:t>
            </a:r>
            <a:r>
              <a:rPr lang="en-GB" b="1" i="0" dirty="0">
                <a:solidFill>
                  <a:srgbClr val="323232"/>
                </a:solidFill>
                <a:effectLst/>
                <a:latin typeface="+mj-lt"/>
              </a:rPr>
              <a:t>blocks that correspond to different types of data</a:t>
            </a:r>
            <a:r>
              <a:rPr lang="en-GB" b="0" i="0" dirty="0">
                <a:solidFill>
                  <a:srgbClr val="323232"/>
                </a:solidFill>
                <a:effectLst/>
                <a:latin typeface="+mj-lt"/>
              </a:rPr>
              <a:t> needed by an application</a:t>
            </a:r>
          </a:p>
          <a:p>
            <a:pPr algn="l">
              <a:buFont typeface="Arial" panose="020B0604020202020204" pitchFamily="34" charset="0"/>
              <a:buChar char="•"/>
            </a:pPr>
            <a:r>
              <a:rPr lang="en-GB" b="0" i="0" dirty="0">
                <a:solidFill>
                  <a:srgbClr val="323232"/>
                </a:solidFill>
                <a:effectLst/>
                <a:latin typeface="+mj-lt"/>
              </a:rPr>
              <a:t>A video editing application may have a Segment for video data, audio data and special effects</a:t>
            </a:r>
          </a:p>
          <a:p>
            <a:pPr algn="l">
              <a:buFont typeface="Arial" panose="020B0604020202020204" pitchFamily="34" charset="0"/>
              <a:buChar char="•"/>
            </a:pPr>
            <a:r>
              <a:rPr lang="en-GB" b="0" i="0" dirty="0">
                <a:solidFill>
                  <a:srgbClr val="323232"/>
                </a:solidFill>
                <a:effectLst/>
                <a:latin typeface="+mj-lt"/>
              </a:rPr>
              <a:t>Segments are </a:t>
            </a:r>
            <a:r>
              <a:rPr lang="en-GB" b="1" i="0" dirty="0">
                <a:solidFill>
                  <a:srgbClr val="323232"/>
                </a:solidFill>
                <a:effectLst/>
                <a:latin typeface="+mj-lt"/>
              </a:rPr>
              <a:t>not all the same size</a:t>
            </a:r>
            <a:r>
              <a:rPr lang="en-GB" b="0" i="0" dirty="0">
                <a:solidFill>
                  <a:srgbClr val="323232"/>
                </a:solidFill>
                <a:effectLst/>
                <a:latin typeface="+mj-lt"/>
              </a:rPr>
              <a:t>; they are sized depending on their allocated data</a:t>
            </a:r>
          </a:p>
          <a:p>
            <a:pPr algn="l">
              <a:buFont typeface="Arial" panose="020B0604020202020204" pitchFamily="34" charset="0"/>
              <a:buChar char="•"/>
            </a:pPr>
            <a:r>
              <a:rPr lang="en-GB" b="0" i="0" dirty="0">
                <a:solidFill>
                  <a:srgbClr val="323232"/>
                </a:solidFill>
                <a:effectLst/>
                <a:latin typeface="+mj-lt"/>
              </a:rPr>
              <a:t>Segmentation is space-efficient due to only allocating space depending on the amount an application needs</a:t>
            </a:r>
          </a:p>
          <a:p>
            <a:pPr algn="l">
              <a:buFont typeface="Arial" panose="020B0604020202020204" pitchFamily="34" charset="0"/>
              <a:buChar char="•"/>
            </a:pPr>
            <a:r>
              <a:rPr lang="en-GB" b="0" i="0" dirty="0">
                <a:solidFill>
                  <a:srgbClr val="323232"/>
                </a:solidFill>
                <a:effectLst/>
                <a:latin typeface="+mj-lt"/>
              </a:rPr>
              <a:t>Segmentation can lead to </a:t>
            </a:r>
            <a:r>
              <a:rPr lang="en-GB" b="1" i="0" dirty="0">
                <a:solidFill>
                  <a:srgbClr val="323232"/>
                </a:solidFill>
                <a:effectLst/>
                <a:latin typeface="+mj-lt"/>
              </a:rPr>
              <a:t>external fragmentation</a:t>
            </a:r>
            <a:endParaRPr lang="en-GB" b="0" i="0" dirty="0">
              <a:solidFill>
                <a:srgbClr val="323232"/>
              </a:solidFill>
              <a:effectLst/>
              <a:latin typeface="+mj-lt"/>
            </a:endParaRPr>
          </a:p>
          <a:p>
            <a:pPr algn="l">
              <a:buFont typeface="Arial" panose="020B0604020202020204" pitchFamily="34" charset="0"/>
              <a:buChar char="•"/>
            </a:pPr>
            <a:r>
              <a:rPr lang="en-GB" b="0" i="0" dirty="0">
                <a:solidFill>
                  <a:srgbClr val="323232"/>
                </a:solidFill>
                <a:effectLst/>
                <a:latin typeface="+mj-lt"/>
              </a:rPr>
              <a:t>As Segments fill up the memory, physical gaps reduce the maximum size of new Segments that can be allocated</a:t>
            </a:r>
          </a:p>
          <a:p>
            <a:pPr algn="l">
              <a:buFont typeface="Arial" panose="020B0604020202020204" pitchFamily="34" charset="0"/>
              <a:buChar char="•"/>
            </a:pPr>
            <a:r>
              <a:rPr lang="en-GB" b="0" i="0" dirty="0">
                <a:solidFill>
                  <a:srgbClr val="323232"/>
                </a:solidFill>
                <a:effectLst/>
                <a:latin typeface="+mj-lt"/>
              </a:rPr>
              <a:t>Below (left) shows different application data assigned to a Segment</a:t>
            </a:r>
          </a:p>
          <a:p>
            <a:pPr algn="l">
              <a:buFont typeface="Arial" panose="020B0604020202020204" pitchFamily="34" charset="0"/>
              <a:buChar char="•"/>
            </a:pPr>
            <a:r>
              <a:rPr lang="en-GB" b="0" i="0" dirty="0">
                <a:solidFill>
                  <a:srgbClr val="323232"/>
                </a:solidFill>
                <a:effectLst/>
                <a:latin typeface="+mj-lt"/>
              </a:rPr>
              <a:t>The arrangement of data in the segment </a:t>
            </a:r>
            <a:r>
              <a:rPr lang="en-GB" b="1" i="0" dirty="0">
                <a:solidFill>
                  <a:srgbClr val="323232"/>
                </a:solidFill>
                <a:effectLst/>
                <a:latin typeface="+mj-lt"/>
              </a:rPr>
              <a:t>becomes more fragmented over time</a:t>
            </a:r>
            <a:r>
              <a:rPr lang="en-GB" b="0" i="0" dirty="0">
                <a:solidFill>
                  <a:srgbClr val="323232"/>
                </a:solidFill>
                <a:effectLst/>
                <a:latin typeface="+mj-lt"/>
              </a:rPr>
              <a:t> because as blocks are taken away it's not possible to guarantee a new block will occupy the same amount of space</a:t>
            </a:r>
          </a:p>
          <a:p>
            <a:pPr algn="l">
              <a:buFont typeface="Arial" panose="020B0604020202020204" pitchFamily="34" charset="0"/>
              <a:buChar char="•"/>
            </a:pPr>
            <a:r>
              <a:rPr lang="en-GB" b="0" i="0" dirty="0">
                <a:solidFill>
                  <a:srgbClr val="323232"/>
                </a:solidFill>
                <a:effectLst/>
                <a:latin typeface="+mj-lt"/>
              </a:rPr>
              <a:t>Below (right) shows a defragmented version of the Segment to highlight the total unused space</a:t>
            </a:r>
          </a:p>
          <a:p>
            <a:pPr marL="0" indent="0">
              <a:buNone/>
            </a:pPr>
            <a:endParaRPr lang="en-GB" dirty="0"/>
          </a:p>
        </p:txBody>
      </p:sp>
      <p:pic>
        <p:nvPicPr>
          <p:cNvPr id="2050" name="Picture 2" descr="segmentation-external-fragmentation-alevel">
            <a:extLst>
              <a:ext uri="{FF2B5EF4-FFF2-40B4-BE49-F238E27FC236}">
                <a16:creationId xmlns:a16="http://schemas.microsoft.com/office/drawing/2014/main" id="{B8E91F75-04BA-39F0-D182-3A497E9C2C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94174" y="1222414"/>
            <a:ext cx="5818874" cy="4618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5056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73358-D7C6-4393-E50A-0A25FA905446}"/>
              </a:ext>
            </a:extLst>
          </p:cNvPr>
          <p:cNvSpPr>
            <a:spLocks noGrp="1"/>
          </p:cNvSpPr>
          <p:nvPr>
            <p:ph type="title"/>
          </p:nvPr>
        </p:nvSpPr>
        <p:spPr/>
        <p:txBody>
          <a:bodyPr>
            <a:normAutofit/>
          </a:bodyPr>
          <a:lstStyle/>
          <a:p>
            <a:pPr algn="l">
              <a:buNone/>
            </a:pPr>
            <a:r>
              <a:rPr lang="en-GB" b="1" i="0" dirty="0">
                <a:solidFill>
                  <a:srgbClr val="323232"/>
                </a:solidFill>
                <a:effectLst/>
              </a:rPr>
              <a:t>What is virtual memory?</a:t>
            </a:r>
          </a:p>
        </p:txBody>
      </p:sp>
      <p:sp>
        <p:nvSpPr>
          <p:cNvPr id="3" name="Content Placeholder 2">
            <a:extLst>
              <a:ext uri="{FF2B5EF4-FFF2-40B4-BE49-F238E27FC236}">
                <a16:creationId xmlns:a16="http://schemas.microsoft.com/office/drawing/2014/main" id="{05D688A4-EC2D-F4B5-0CAD-0FD7A4547AB3}"/>
              </a:ext>
            </a:extLst>
          </p:cNvPr>
          <p:cNvSpPr>
            <a:spLocks noGrp="1"/>
          </p:cNvSpPr>
          <p:nvPr>
            <p:ph sz="quarter" idx="13"/>
          </p:nvPr>
        </p:nvSpPr>
        <p:spPr/>
        <p:txBody>
          <a:bodyPr/>
          <a:lstStyle/>
          <a:p>
            <a:pPr algn="l">
              <a:buFont typeface="Arial" panose="020B0604020202020204" pitchFamily="34" charset="0"/>
              <a:buChar char="•"/>
            </a:pPr>
            <a:r>
              <a:rPr lang="en-GB" sz="2400" b="0" i="0" dirty="0">
                <a:effectLst/>
                <a:latin typeface="+mj-lt"/>
              </a:rPr>
              <a:t>If a computer is </a:t>
            </a:r>
            <a:r>
              <a:rPr lang="en-GB" sz="2400" b="1" i="0" dirty="0">
                <a:effectLst/>
                <a:latin typeface="+mj-lt"/>
              </a:rPr>
              <a:t>running low</a:t>
            </a:r>
            <a:r>
              <a:rPr lang="en-GB" sz="2400" b="0" i="0" dirty="0">
                <a:effectLst/>
                <a:latin typeface="+mj-lt"/>
              </a:rPr>
              <a:t> on primary memory, it can make secondary storage act as an 'extension' of the main memory</a:t>
            </a:r>
          </a:p>
          <a:p>
            <a:pPr algn="l">
              <a:buFont typeface="Arial" panose="020B0604020202020204" pitchFamily="34" charset="0"/>
              <a:buChar char="•"/>
            </a:pPr>
            <a:r>
              <a:rPr lang="en-GB" sz="2400" b="0" i="0" dirty="0">
                <a:effectLst/>
                <a:latin typeface="+mj-lt"/>
              </a:rPr>
              <a:t>The operating system can </a:t>
            </a:r>
            <a:r>
              <a:rPr lang="en-GB" sz="2400" b="1" i="0" dirty="0">
                <a:effectLst/>
                <a:latin typeface="+mj-lt"/>
              </a:rPr>
              <a:t>offload data</a:t>
            </a:r>
            <a:r>
              <a:rPr lang="en-GB" sz="2400" b="0" i="0" dirty="0">
                <a:effectLst/>
                <a:latin typeface="+mj-lt"/>
              </a:rPr>
              <a:t> from the primary memory into virtual memory</a:t>
            </a:r>
          </a:p>
          <a:p>
            <a:pPr algn="l">
              <a:buFont typeface="Arial" panose="020B0604020202020204" pitchFamily="34" charset="0"/>
              <a:buChar char="•"/>
            </a:pPr>
            <a:r>
              <a:rPr lang="en-GB" sz="2400" b="0" i="0" dirty="0">
                <a:effectLst/>
                <a:latin typeface="+mj-lt"/>
              </a:rPr>
              <a:t>Virtual memory creates </a:t>
            </a:r>
            <a:r>
              <a:rPr lang="en-GB" sz="2400" b="1" i="0" dirty="0">
                <a:effectLst/>
                <a:latin typeface="+mj-lt"/>
              </a:rPr>
              <a:t>an illusion of a larger memory</a:t>
            </a:r>
            <a:r>
              <a:rPr lang="en-GB" sz="2400" b="0" i="0" dirty="0">
                <a:effectLst/>
                <a:latin typeface="+mj-lt"/>
              </a:rPr>
              <a:t> and enables applications to continue to multitask</a:t>
            </a:r>
          </a:p>
          <a:p>
            <a:pPr algn="l">
              <a:buFont typeface="Arial" panose="020B0604020202020204" pitchFamily="34" charset="0"/>
              <a:buChar char="•"/>
            </a:pPr>
            <a:r>
              <a:rPr lang="en-GB" sz="2400" b="0" i="0" dirty="0">
                <a:effectLst/>
                <a:latin typeface="+mj-lt"/>
              </a:rPr>
              <a:t>However, accessing data in virtual memory is </a:t>
            </a:r>
            <a:r>
              <a:rPr lang="en-GB" sz="2400" b="1" i="0" dirty="0">
                <a:effectLst/>
                <a:latin typeface="+mj-lt"/>
              </a:rPr>
              <a:t>considerably slower</a:t>
            </a:r>
            <a:r>
              <a:rPr lang="en-GB" sz="2400" b="0" i="0" dirty="0">
                <a:effectLst/>
                <a:latin typeface="+mj-lt"/>
              </a:rPr>
              <a:t> compared to RAM</a:t>
            </a:r>
          </a:p>
          <a:p>
            <a:pPr algn="l">
              <a:buFont typeface="Arial" panose="020B0604020202020204" pitchFamily="34" charset="0"/>
              <a:buChar char="•"/>
            </a:pPr>
            <a:r>
              <a:rPr lang="en-GB" sz="2400" b="1" i="0" dirty="0">
                <a:effectLst/>
                <a:latin typeface="+mj-lt"/>
              </a:rPr>
              <a:t>Solid-state drives</a:t>
            </a:r>
            <a:r>
              <a:rPr lang="en-GB" sz="2400" b="0" i="0" dirty="0">
                <a:effectLst/>
                <a:latin typeface="+mj-lt"/>
              </a:rPr>
              <a:t> are faster than traditional hard-disk drives, but </a:t>
            </a:r>
            <a:r>
              <a:rPr lang="en-GB" sz="2400" b="1" i="0" dirty="0">
                <a:effectLst/>
                <a:latin typeface="+mj-lt"/>
              </a:rPr>
              <a:t>neither are as fast</a:t>
            </a:r>
            <a:r>
              <a:rPr lang="en-GB" sz="2400" b="0" i="0" dirty="0">
                <a:effectLst/>
                <a:latin typeface="+mj-lt"/>
              </a:rPr>
              <a:t> as RAM </a:t>
            </a:r>
          </a:p>
          <a:p>
            <a:pPr algn="l">
              <a:buFont typeface="Arial" panose="020B0604020202020204" pitchFamily="34" charset="0"/>
              <a:buChar char="•"/>
            </a:pPr>
            <a:r>
              <a:rPr lang="en-GB" sz="2400" b="1" i="0" dirty="0">
                <a:effectLst/>
                <a:latin typeface="+mj-lt"/>
              </a:rPr>
              <a:t>Over-reliance</a:t>
            </a:r>
            <a:r>
              <a:rPr lang="en-GB" sz="2400" b="0" i="0" dirty="0">
                <a:effectLst/>
                <a:latin typeface="+mj-lt"/>
              </a:rPr>
              <a:t> on virtual memory can lead to </a:t>
            </a:r>
            <a:r>
              <a:rPr lang="en-GB" sz="2400" b="1" i="0" dirty="0">
                <a:effectLst/>
                <a:latin typeface="+mj-lt"/>
              </a:rPr>
              <a:t>performance issues</a:t>
            </a:r>
            <a:endParaRPr lang="en-GB" sz="2400" b="0" i="0" dirty="0">
              <a:effectLst/>
              <a:latin typeface="+mj-lt"/>
            </a:endParaRPr>
          </a:p>
          <a:p>
            <a:pPr marL="0" indent="0">
              <a:buNone/>
            </a:pPr>
            <a:endParaRPr lang="en-GB" dirty="0"/>
          </a:p>
        </p:txBody>
      </p:sp>
    </p:spTree>
    <p:extLst>
      <p:ext uri="{BB962C8B-B14F-4D97-AF65-F5344CB8AC3E}">
        <p14:creationId xmlns:p14="http://schemas.microsoft.com/office/powerpoint/2010/main" val="26643801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50055-23FC-7367-F4E7-586E1DE48995}"/>
              </a:ext>
            </a:extLst>
          </p:cNvPr>
          <p:cNvSpPr>
            <a:spLocks noGrp="1"/>
          </p:cNvSpPr>
          <p:nvPr>
            <p:ph type="title"/>
          </p:nvPr>
        </p:nvSpPr>
        <p:spPr/>
        <p:txBody>
          <a:bodyPr/>
          <a:lstStyle/>
          <a:p>
            <a:r>
              <a:rPr lang="en-GB" b="1" dirty="0">
                <a:solidFill>
                  <a:srgbClr val="323232"/>
                </a:solidFill>
              </a:rPr>
              <a:t>Worked Example</a:t>
            </a:r>
            <a:endParaRPr lang="en-GB" dirty="0"/>
          </a:p>
        </p:txBody>
      </p:sp>
      <p:sp>
        <p:nvSpPr>
          <p:cNvPr id="3" name="Content Placeholder 2">
            <a:extLst>
              <a:ext uri="{FF2B5EF4-FFF2-40B4-BE49-F238E27FC236}">
                <a16:creationId xmlns:a16="http://schemas.microsoft.com/office/drawing/2014/main" id="{6BDF5935-9779-5A1E-B2EA-33532627E07A}"/>
              </a:ext>
            </a:extLst>
          </p:cNvPr>
          <p:cNvSpPr>
            <a:spLocks noGrp="1"/>
          </p:cNvSpPr>
          <p:nvPr>
            <p:ph sz="quarter" idx="13"/>
          </p:nvPr>
        </p:nvSpPr>
        <p:spPr/>
        <p:txBody>
          <a:bodyPr/>
          <a:lstStyle/>
          <a:p>
            <a:pPr algn="l">
              <a:buNone/>
            </a:pPr>
            <a:r>
              <a:rPr lang="en-GB" sz="2000" b="1" i="0" dirty="0">
                <a:solidFill>
                  <a:srgbClr val="323232"/>
                </a:solidFill>
                <a:effectLst/>
                <a:latin typeface="+mj-lt"/>
              </a:rPr>
              <a:t>Describe how the operating system would use virtual memory to load program C when there's not enough space in physical memory.</a:t>
            </a:r>
            <a:endParaRPr lang="en-GB" sz="2000" b="0" i="0" dirty="0">
              <a:solidFill>
                <a:srgbClr val="323232"/>
              </a:solidFill>
              <a:effectLst/>
              <a:latin typeface="+mj-lt"/>
            </a:endParaRPr>
          </a:p>
          <a:p>
            <a:pPr algn="r">
              <a:buNone/>
            </a:pPr>
            <a:r>
              <a:rPr lang="en-GB" sz="2000" b="0" i="0" dirty="0">
                <a:solidFill>
                  <a:srgbClr val="6130B0"/>
                </a:solidFill>
                <a:effectLst/>
                <a:latin typeface="+mj-lt"/>
              </a:rPr>
              <a:t>[3]</a:t>
            </a:r>
            <a:endParaRPr lang="en-GB" sz="2000" b="0" i="0" dirty="0">
              <a:solidFill>
                <a:srgbClr val="323232"/>
              </a:solidFill>
              <a:effectLst/>
              <a:latin typeface="+mj-lt"/>
            </a:endParaRPr>
          </a:p>
          <a:p>
            <a:pPr algn="l">
              <a:buNone/>
            </a:pPr>
            <a:endParaRPr lang="en-GB" sz="2000" b="0" i="0" dirty="0">
              <a:solidFill>
                <a:srgbClr val="323232"/>
              </a:solidFill>
              <a:effectLst/>
              <a:latin typeface="+mj-lt"/>
            </a:endParaRPr>
          </a:p>
          <a:p>
            <a:pPr algn="l">
              <a:buNone/>
            </a:pPr>
            <a:r>
              <a:rPr lang="en-GB" sz="2000" b="0" i="0" dirty="0">
                <a:solidFill>
                  <a:srgbClr val="323232"/>
                </a:solidFill>
                <a:effectLst/>
                <a:latin typeface="+mj-lt"/>
              </a:rPr>
              <a:t> </a:t>
            </a:r>
            <a:r>
              <a:rPr lang="en-GB" sz="2000" b="1" i="0" dirty="0">
                <a:solidFill>
                  <a:srgbClr val="323232"/>
                </a:solidFill>
                <a:effectLst/>
                <a:latin typeface="+mj-lt"/>
              </a:rPr>
              <a:t>Answer that gets full marks:</a:t>
            </a:r>
            <a:endParaRPr lang="en-GB" sz="2000" b="0" i="0" dirty="0">
              <a:solidFill>
                <a:srgbClr val="323232"/>
              </a:solidFill>
              <a:effectLst/>
              <a:latin typeface="+mj-lt"/>
            </a:endParaRPr>
          </a:p>
          <a:p>
            <a:pPr algn="l">
              <a:buNone/>
            </a:pPr>
            <a:r>
              <a:rPr lang="en-GB" sz="2000" b="0" i="0" dirty="0">
                <a:solidFill>
                  <a:srgbClr val="323232"/>
                </a:solidFill>
                <a:effectLst/>
                <a:latin typeface="+mj-lt"/>
              </a:rPr>
              <a:t>The operating system can use virtual memory to act as an extension of the computer's primary memory. This means less-critical data can be offloaded from the primary memory into virtual storage, useful when a higher-priority set of processes require immediate attention. If the OS offloaded data from the RAM into virtual memory, this would free up space for program C to be loaded into RAM.</a:t>
            </a:r>
          </a:p>
          <a:p>
            <a:pPr algn="l">
              <a:buNone/>
            </a:pPr>
            <a:r>
              <a:rPr lang="en-GB" sz="2000" b="1" i="0" dirty="0">
                <a:solidFill>
                  <a:srgbClr val="323232"/>
                </a:solidFill>
                <a:effectLst/>
                <a:latin typeface="+mj-lt"/>
              </a:rPr>
              <a:t>Acceptable answers you could have given instead:</a:t>
            </a:r>
            <a:endParaRPr lang="en-GB" sz="2000" b="0" i="0" dirty="0">
              <a:solidFill>
                <a:srgbClr val="323232"/>
              </a:solidFill>
              <a:effectLst/>
              <a:latin typeface="+mj-lt"/>
            </a:endParaRPr>
          </a:p>
          <a:p>
            <a:pPr algn="l"/>
            <a:r>
              <a:rPr lang="en-GB" sz="2000" b="0" i="0" dirty="0">
                <a:solidFill>
                  <a:srgbClr val="323232"/>
                </a:solidFill>
                <a:effectLst/>
                <a:latin typeface="+mj-lt"/>
              </a:rPr>
              <a:t>Program C can be loaded into the RAM if the operating system moves files and data into virtual memory. Virtual memory acts as an extension of the RAM.</a:t>
            </a:r>
          </a:p>
          <a:p>
            <a:pPr marL="0" indent="0">
              <a:buNone/>
            </a:pPr>
            <a:endParaRPr lang="en-GB" dirty="0"/>
          </a:p>
        </p:txBody>
      </p:sp>
    </p:spTree>
    <p:extLst>
      <p:ext uri="{BB962C8B-B14F-4D97-AF65-F5344CB8AC3E}">
        <p14:creationId xmlns:p14="http://schemas.microsoft.com/office/powerpoint/2010/main" val="29399647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AFB67-ADBB-4319-AFBE-056954F73B6F}"/>
              </a:ext>
            </a:extLst>
          </p:cNvPr>
          <p:cNvSpPr>
            <a:spLocks noGrp="1"/>
          </p:cNvSpPr>
          <p:nvPr>
            <p:ph type="title"/>
          </p:nvPr>
        </p:nvSpPr>
        <p:spPr/>
        <p:txBody>
          <a:bodyPr>
            <a:normAutofit/>
          </a:bodyPr>
          <a:lstStyle/>
          <a:p>
            <a:r>
              <a:rPr lang="en-GB" b="1" dirty="0">
                <a:solidFill>
                  <a:srgbClr val="323232"/>
                </a:solidFill>
              </a:rPr>
              <a:t>Worked Example</a:t>
            </a:r>
            <a:endParaRPr lang="en-GB" dirty="0"/>
          </a:p>
        </p:txBody>
      </p:sp>
      <p:sp>
        <p:nvSpPr>
          <p:cNvPr id="3" name="Content Placeholder 2">
            <a:extLst>
              <a:ext uri="{FF2B5EF4-FFF2-40B4-BE49-F238E27FC236}">
                <a16:creationId xmlns:a16="http://schemas.microsoft.com/office/drawing/2014/main" id="{52996BAA-4B51-7647-8F2B-C6B409543175}"/>
              </a:ext>
            </a:extLst>
          </p:cNvPr>
          <p:cNvSpPr>
            <a:spLocks noGrp="1"/>
          </p:cNvSpPr>
          <p:nvPr>
            <p:ph sz="quarter" idx="13"/>
          </p:nvPr>
        </p:nvSpPr>
        <p:spPr/>
        <p:txBody>
          <a:bodyPr>
            <a:normAutofit fontScale="85000" lnSpcReduction="10000"/>
          </a:bodyPr>
          <a:lstStyle/>
          <a:p>
            <a:pPr algn="l">
              <a:buNone/>
            </a:pPr>
            <a:r>
              <a:rPr lang="en-GB" sz="2000" b="1" i="0" dirty="0">
                <a:solidFill>
                  <a:srgbClr val="323232"/>
                </a:solidFill>
                <a:effectLst/>
                <a:latin typeface="+mj-lt"/>
              </a:rPr>
              <a:t>Imogen buys a desktop computer. It comes with an operating system installed.</a:t>
            </a:r>
            <a:endParaRPr lang="en-GB" sz="2000" b="0" i="0" dirty="0">
              <a:solidFill>
                <a:srgbClr val="323232"/>
              </a:solidFill>
              <a:effectLst/>
              <a:latin typeface="+mj-lt"/>
            </a:endParaRPr>
          </a:p>
          <a:p>
            <a:pPr algn="l">
              <a:buNone/>
            </a:pPr>
            <a:r>
              <a:rPr lang="en-GB" sz="2000" b="1" i="0" dirty="0">
                <a:solidFill>
                  <a:srgbClr val="323232"/>
                </a:solidFill>
                <a:effectLst/>
                <a:latin typeface="+mj-lt"/>
              </a:rPr>
              <a:t>Describe two ways that an operating system could manage physical memory.</a:t>
            </a:r>
            <a:endParaRPr lang="en-GB" sz="2000" b="0" i="0" dirty="0">
              <a:solidFill>
                <a:srgbClr val="323232"/>
              </a:solidFill>
              <a:effectLst/>
              <a:latin typeface="+mj-lt"/>
            </a:endParaRPr>
          </a:p>
          <a:p>
            <a:pPr algn="r">
              <a:buNone/>
            </a:pPr>
            <a:r>
              <a:rPr lang="en-GB" sz="2000" b="0" i="0" dirty="0">
                <a:solidFill>
                  <a:srgbClr val="6130B0"/>
                </a:solidFill>
                <a:effectLst/>
                <a:latin typeface="+mj-lt"/>
              </a:rPr>
              <a:t>[4]</a:t>
            </a:r>
            <a:endParaRPr lang="en-GB" sz="2000" b="0" i="0" dirty="0">
              <a:solidFill>
                <a:srgbClr val="323232"/>
              </a:solidFill>
              <a:effectLst/>
              <a:latin typeface="+mj-lt"/>
            </a:endParaRPr>
          </a:p>
          <a:p>
            <a:pPr algn="l">
              <a:buNone/>
            </a:pPr>
            <a:r>
              <a:rPr lang="en-GB" sz="2000" b="1" i="0" dirty="0">
                <a:effectLst/>
                <a:latin typeface="+mj-lt"/>
              </a:rPr>
              <a:t>How to answer this question</a:t>
            </a:r>
            <a:endParaRPr lang="en-GB" sz="2000" b="0" i="0" dirty="0">
              <a:effectLst/>
              <a:latin typeface="+mj-lt"/>
            </a:endParaRPr>
          </a:p>
          <a:p>
            <a:pPr algn="l">
              <a:buFont typeface="Arial" panose="020B0604020202020204" pitchFamily="34" charset="0"/>
              <a:buChar char="•"/>
            </a:pPr>
            <a:r>
              <a:rPr lang="en-GB" sz="2000" b="0" i="0" dirty="0">
                <a:effectLst/>
                <a:latin typeface="+mj-lt"/>
              </a:rPr>
              <a:t>Recall two methods of memory management (Paging, segmentation, virtual memory)</a:t>
            </a:r>
          </a:p>
          <a:p>
            <a:pPr algn="l">
              <a:buFont typeface="Arial" panose="020B0604020202020204" pitchFamily="34" charset="0"/>
              <a:buChar char="•"/>
            </a:pPr>
            <a:r>
              <a:rPr lang="en-GB" sz="2000" b="0" i="0" dirty="0">
                <a:effectLst/>
                <a:latin typeface="+mj-lt"/>
              </a:rPr>
              <a:t>Explain how each of these works and how they assist in memory management</a:t>
            </a:r>
          </a:p>
          <a:p>
            <a:pPr algn="l">
              <a:buNone/>
            </a:pPr>
            <a:endParaRPr lang="en-GB" sz="2000" dirty="0">
              <a:latin typeface="+mj-lt"/>
            </a:endParaRPr>
          </a:p>
          <a:p>
            <a:pPr algn="l">
              <a:buNone/>
            </a:pPr>
            <a:r>
              <a:rPr lang="en-GB" sz="2000" b="1" i="0" dirty="0">
                <a:effectLst/>
                <a:latin typeface="+mj-lt"/>
              </a:rPr>
              <a:t>Example answer that gets full marks:</a:t>
            </a:r>
            <a:endParaRPr lang="en-GB" sz="2000" b="0" i="0" dirty="0">
              <a:effectLst/>
              <a:latin typeface="+mj-lt"/>
            </a:endParaRPr>
          </a:p>
          <a:p>
            <a:pPr algn="l">
              <a:buNone/>
            </a:pPr>
            <a:r>
              <a:rPr lang="en-GB" sz="2000" b="0" i="0" dirty="0">
                <a:effectLst/>
                <a:latin typeface="+mj-lt"/>
              </a:rPr>
              <a:t>Imogen's operating system could manage physical memory in two ways. Paging, which is a method of dividing memory into fixed-size chunks known as pages. Application data can be allocated and deallocated to pages making it a flexible system depending on the activity of the user.</a:t>
            </a:r>
          </a:p>
          <a:p>
            <a:pPr algn="l">
              <a:buNone/>
            </a:pPr>
            <a:r>
              <a:rPr lang="en-GB" sz="2000" b="0" i="0" dirty="0">
                <a:effectLst/>
                <a:latin typeface="+mj-lt"/>
              </a:rPr>
              <a:t>The system could also use virtual memory, a method of extending the available physical memory by using a portion of the hard drive. This allows more programs to run simultaneously and enhances the overall system performance.</a:t>
            </a:r>
          </a:p>
          <a:p>
            <a:pPr algn="l">
              <a:buNone/>
            </a:pPr>
            <a:r>
              <a:rPr lang="en-GB" sz="2000" b="1" i="0" dirty="0">
                <a:effectLst/>
                <a:latin typeface="+mj-lt"/>
              </a:rPr>
              <a:t>Acceptable answers you could have given instead:</a:t>
            </a:r>
            <a:endParaRPr lang="en-GB" sz="2000" b="0" i="0" dirty="0">
              <a:effectLst/>
              <a:latin typeface="+mj-lt"/>
            </a:endParaRPr>
          </a:p>
          <a:p>
            <a:pPr algn="l">
              <a:buNone/>
            </a:pPr>
            <a:r>
              <a:rPr lang="en-GB" sz="2000" b="0" i="0" dirty="0">
                <a:effectLst/>
                <a:latin typeface="+mj-lt"/>
              </a:rPr>
              <a:t>Imogen's computer uses paging to manage memory. This means it breaks down the memory into fixed-size pieces and swaps them in and out as needed.</a:t>
            </a:r>
          </a:p>
          <a:p>
            <a:pPr algn="l"/>
            <a:r>
              <a:rPr lang="en-GB" sz="2000" b="0" i="0" dirty="0">
                <a:effectLst/>
                <a:latin typeface="+mj-lt"/>
              </a:rPr>
              <a:t>The computer also uses something called virtual memory. It uses part of the hard drive to act like extra memory, so more programs can run at the same time, and everything works faster.</a:t>
            </a:r>
          </a:p>
          <a:p>
            <a:pPr marL="0" indent="0">
              <a:buNone/>
            </a:pPr>
            <a:endParaRPr lang="en-GB" dirty="0"/>
          </a:p>
        </p:txBody>
      </p:sp>
    </p:spTree>
    <p:extLst>
      <p:ext uri="{BB962C8B-B14F-4D97-AF65-F5344CB8AC3E}">
        <p14:creationId xmlns:p14="http://schemas.microsoft.com/office/powerpoint/2010/main" val="27747389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691B7-9DB4-032B-1F66-4E912CF2B15E}"/>
              </a:ext>
            </a:extLst>
          </p:cNvPr>
          <p:cNvSpPr>
            <a:spLocks noGrp="1"/>
          </p:cNvSpPr>
          <p:nvPr>
            <p:ph type="title"/>
          </p:nvPr>
        </p:nvSpPr>
        <p:spPr/>
        <p:txBody>
          <a:bodyPr>
            <a:normAutofit/>
          </a:bodyPr>
          <a:lstStyle/>
          <a:p>
            <a:r>
              <a:rPr lang="en-GB" dirty="0">
                <a:solidFill>
                  <a:srgbClr val="323232"/>
                </a:solidFill>
              </a:rPr>
              <a:t>What does BIOS mean?</a:t>
            </a:r>
            <a:endParaRPr lang="en-GB" dirty="0"/>
          </a:p>
        </p:txBody>
      </p:sp>
      <p:sp>
        <p:nvSpPr>
          <p:cNvPr id="3" name="Content Placeholder 2">
            <a:extLst>
              <a:ext uri="{FF2B5EF4-FFF2-40B4-BE49-F238E27FC236}">
                <a16:creationId xmlns:a16="http://schemas.microsoft.com/office/drawing/2014/main" id="{0EC3E99C-0E89-BDC0-EEBA-A73CE4C83FCE}"/>
              </a:ext>
            </a:extLst>
          </p:cNvPr>
          <p:cNvSpPr>
            <a:spLocks noGrp="1"/>
          </p:cNvSpPr>
          <p:nvPr>
            <p:ph sz="quarter" idx="13"/>
          </p:nvPr>
        </p:nvSpPr>
        <p:spPr/>
        <p:txBody>
          <a:bodyPr/>
          <a:lstStyle/>
          <a:p>
            <a:pPr algn="l">
              <a:buFont typeface="Arial" panose="020B0604020202020204" pitchFamily="34" charset="0"/>
              <a:buChar char="•"/>
            </a:pPr>
            <a:r>
              <a:rPr lang="en-GB" sz="2000" b="0" i="0" dirty="0">
                <a:effectLst/>
                <a:latin typeface="+mj-lt"/>
              </a:rPr>
              <a:t>BIOS refers to the Basic Input/Output System of a computer</a:t>
            </a:r>
          </a:p>
          <a:p>
            <a:pPr algn="l">
              <a:buFont typeface="Arial" panose="020B0604020202020204" pitchFamily="34" charset="0"/>
              <a:buChar char="•"/>
            </a:pPr>
            <a:r>
              <a:rPr lang="en-GB" sz="2000" b="0" i="0" dirty="0">
                <a:effectLst/>
                <a:latin typeface="+mj-lt"/>
              </a:rPr>
              <a:t>BIOS is a piece of </a:t>
            </a:r>
            <a:r>
              <a:rPr lang="en-GB" sz="2000" b="1" i="0" dirty="0">
                <a:effectLst/>
                <a:latin typeface="+mj-lt"/>
              </a:rPr>
              <a:t>firmware</a:t>
            </a:r>
            <a:r>
              <a:rPr lang="en-GB" sz="2000" b="0" i="0" dirty="0">
                <a:effectLst/>
                <a:latin typeface="+mj-lt"/>
              </a:rPr>
              <a:t> stored on a small memory chip on the motherboard</a:t>
            </a:r>
          </a:p>
          <a:p>
            <a:pPr algn="l">
              <a:buFont typeface="Arial" panose="020B0604020202020204" pitchFamily="34" charset="0"/>
              <a:buChar char="•"/>
            </a:pPr>
            <a:r>
              <a:rPr lang="en-GB" sz="2000" b="0" i="0" dirty="0">
                <a:effectLst/>
                <a:latin typeface="+mj-lt"/>
              </a:rPr>
              <a:t>On system start, the BIOS is the first software to run</a:t>
            </a:r>
          </a:p>
          <a:p>
            <a:pPr algn="l">
              <a:buFont typeface="Arial" panose="020B0604020202020204" pitchFamily="34" charset="0"/>
              <a:buChar char="•"/>
            </a:pPr>
            <a:r>
              <a:rPr lang="en-GB" sz="2000" b="0" i="0" dirty="0">
                <a:effectLst/>
                <a:latin typeface="+mj-lt"/>
              </a:rPr>
              <a:t>It performs a </a:t>
            </a:r>
            <a:r>
              <a:rPr lang="en-GB" sz="2000" b="1" i="0" dirty="0">
                <a:effectLst/>
                <a:latin typeface="+mj-lt"/>
              </a:rPr>
              <a:t>POST (Power-On Self-Test)</a:t>
            </a:r>
            <a:r>
              <a:rPr lang="en-GB" sz="2000" b="0" i="0" dirty="0">
                <a:effectLst/>
                <a:latin typeface="+mj-lt"/>
              </a:rPr>
              <a:t>, a diagnostic testing sequence that ensures all the hardware components are working properly</a:t>
            </a:r>
          </a:p>
          <a:p>
            <a:pPr algn="l">
              <a:buFont typeface="Arial" panose="020B0604020202020204" pitchFamily="34" charset="0"/>
              <a:buChar char="•"/>
            </a:pPr>
            <a:r>
              <a:rPr lang="en-GB" sz="2000" b="0" i="0" dirty="0">
                <a:effectLst/>
                <a:latin typeface="+mj-lt"/>
              </a:rPr>
              <a:t>If the BIOS encounters any errors during this test, it will either halt the boot process or issue an error message</a:t>
            </a:r>
          </a:p>
          <a:p>
            <a:pPr algn="l">
              <a:buFont typeface="Arial" panose="020B0604020202020204" pitchFamily="34" charset="0"/>
              <a:buChar char="•"/>
            </a:pPr>
            <a:r>
              <a:rPr lang="en-GB" sz="2000" b="0" i="0" dirty="0">
                <a:effectLst/>
                <a:latin typeface="+mj-lt"/>
              </a:rPr>
              <a:t>If the POST succeeds, the BIOS will run the </a:t>
            </a:r>
            <a:r>
              <a:rPr lang="en-GB" sz="2000" b="1" i="0" dirty="0">
                <a:effectLst/>
                <a:latin typeface="+mj-lt"/>
              </a:rPr>
              <a:t>Bootstrap loading sequence</a:t>
            </a:r>
            <a:r>
              <a:rPr lang="en-GB" sz="2000" b="0" i="0" dirty="0">
                <a:effectLst/>
                <a:latin typeface="+mj-lt"/>
              </a:rPr>
              <a:t>, which is the program responsible for starting the operating system</a:t>
            </a:r>
          </a:p>
          <a:p>
            <a:pPr marL="0" indent="0">
              <a:buNone/>
            </a:pPr>
            <a:endParaRPr lang="en-GB" dirty="0"/>
          </a:p>
        </p:txBody>
      </p:sp>
    </p:spTree>
    <p:extLst>
      <p:ext uri="{BB962C8B-B14F-4D97-AF65-F5344CB8AC3E}">
        <p14:creationId xmlns:p14="http://schemas.microsoft.com/office/powerpoint/2010/main" val="8970799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7CE4C-369E-28A7-4809-094333E64B61}"/>
              </a:ext>
            </a:extLst>
          </p:cNvPr>
          <p:cNvSpPr>
            <a:spLocks noGrp="1"/>
          </p:cNvSpPr>
          <p:nvPr>
            <p:ph type="title"/>
          </p:nvPr>
        </p:nvSpPr>
        <p:spPr/>
        <p:txBody>
          <a:bodyPr>
            <a:normAutofit/>
          </a:bodyPr>
          <a:lstStyle/>
          <a:p>
            <a:r>
              <a:rPr lang="en-GB" dirty="0">
                <a:solidFill>
                  <a:srgbClr val="323232"/>
                </a:solidFill>
              </a:rPr>
              <a:t>Worked Example</a:t>
            </a:r>
            <a:endParaRPr lang="en-GB" dirty="0"/>
          </a:p>
        </p:txBody>
      </p:sp>
      <p:sp>
        <p:nvSpPr>
          <p:cNvPr id="3" name="Content Placeholder 2">
            <a:extLst>
              <a:ext uri="{FF2B5EF4-FFF2-40B4-BE49-F238E27FC236}">
                <a16:creationId xmlns:a16="http://schemas.microsoft.com/office/drawing/2014/main" id="{4D7210B3-25E3-0F79-7DEA-1F986852733E}"/>
              </a:ext>
            </a:extLst>
          </p:cNvPr>
          <p:cNvSpPr>
            <a:spLocks noGrp="1"/>
          </p:cNvSpPr>
          <p:nvPr>
            <p:ph sz="quarter" idx="13"/>
          </p:nvPr>
        </p:nvSpPr>
        <p:spPr/>
        <p:txBody>
          <a:bodyPr>
            <a:normAutofit lnSpcReduction="10000"/>
          </a:bodyPr>
          <a:lstStyle/>
          <a:p>
            <a:pPr algn="l">
              <a:buNone/>
            </a:pPr>
            <a:r>
              <a:rPr lang="en-GB" b="1" i="0" dirty="0">
                <a:effectLst/>
                <a:latin typeface="+mj-lt"/>
              </a:rPr>
              <a:t>In the late 1990s, the CIH virus hit the headlines because it could overwrite and destroy the contents of a computer’s BIOS.</a:t>
            </a:r>
            <a:endParaRPr lang="en-GB" b="0" i="0" dirty="0">
              <a:effectLst/>
              <a:latin typeface="+mj-lt"/>
            </a:endParaRPr>
          </a:p>
          <a:p>
            <a:pPr algn="l">
              <a:buNone/>
            </a:pPr>
            <a:r>
              <a:rPr lang="en-GB" b="1" i="0" dirty="0">
                <a:effectLst/>
                <a:latin typeface="+mj-lt"/>
              </a:rPr>
              <a:t>Describe the effect of a computer having its BIOS overwritten.</a:t>
            </a:r>
            <a:endParaRPr lang="en-GB" b="0" i="0" dirty="0">
              <a:effectLst/>
              <a:latin typeface="+mj-lt"/>
            </a:endParaRPr>
          </a:p>
          <a:p>
            <a:pPr algn="r">
              <a:buNone/>
            </a:pPr>
            <a:r>
              <a:rPr lang="en-GB" b="0" i="0" dirty="0">
                <a:effectLst/>
                <a:latin typeface="+mj-lt"/>
              </a:rPr>
              <a:t>[2]</a:t>
            </a:r>
          </a:p>
          <a:p>
            <a:pPr algn="l">
              <a:buNone/>
            </a:pPr>
            <a:r>
              <a:rPr lang="en-GB" b="1" i="0" dirty="0">
                <a:effectLst/>
                <a:latin typeface="+mj-lt"/>
              </a:rPr>
              <a:t>How to answer this question:</a:t>
            </a:r>
            <a:endParaRPr lang="en-GB" b="0" i="0" dirty="0">
              <a:effectLst/>
              <a:latin typeface="+mj-lt"/>
            </a:endParaRPr>
          </a:p>
          <a:p>
            <a:pPr algn="l">
              <a:buFont typeface="Arial" panose="020B0604020202020204" pitchFamily="34" charset="0"/>
              <a:buChar char="•"/>
            </a:pPr>
            <a:r>
              <a:rPr lang="en-GB" b="0" i="0" dirty="0">
                <a:effectLst/>
                <a:latin typeface="+mj-lt"/>
              </a:rPr>
              <a:t>Explain the role of BIOS in a computer system</a:t>
            </a:r>
          </a:p>
          <a:p>
            <a:pPr algn="l">
              <a:buFont typeface="Arial" panose="020B0604020202020204" pitchFamily="34" charset="0"/>
              <a:buChar char="•"/>
            </a:pPr>
            <a:r>
              <a:rPr lang="en-GB" b="0" i="0" dirty="0">
                <a:effectLst/>
                <a:latin typeface="+mj-lt"/>
              </a:rPr>
              <a:t>Explain the consequence of having a destroyed BIOS</a:t>
            </a:r>
          </a:p>
          <a:p>
            <a:pPr algn="l">
              <a:buNone/>
            </a:pPr>
            <a:endParaRPr lang="en-GB" b="1" i="0" dirty="0">
              <a:effectLst/>
              <a:latin typeface="+mj-lt"/>
            </a:endParaRPr>
          </a:p>
          <a:p>
            <a:pPr algn="l">
              <a:buNone/>
            </a:pPr>
            <a:r>
              <a:rPr lang="en-GB" b="1" i="0" dirty="0">
                <a:effectLst/>
                <a:latin typeface="+mj-lt"/>
              </a:rPr>
              <a:t>Example answer that gets full marks:</a:t>
            </a:r>
            <a:endParaRPr lang="en-GB" b="0" i="0" dirty="0">
              <a:effectLst/>
              <a:latin typeface="+mj-lt"/>
            </a:endParaRPr>
          </a:p>
          <a:p>
            <a:pPr algn="l">
              <a:buNone/>
            </a:pPr>
            <a:r>
              <a:rPr lang="en-GB" b="0" i="0" dirty="0">
                <a:effectLst/>
                <a:latin typeface="+mj-lt"/>
              </a:rPr>
              <a:t>The BIOS is crucial in initialising the hardware components and operating the system. If a virus, such as the CIH virus, overwrites or destroys the contents of a computer's BIOS, it will be unable to perform the Power-On Self-Test (POST) and fail to load the bootstrap program. This would mean the computer will not be able to initialise the operating system.</a:t>
            </a:r>
          </a:p>
          <a:p>
            <a:pPr algn="l">
              <a:buNone/>
            </a:pPr>
            <a:r>
              <a:rPr lang="en-GB" b="1" i="0" dirty="0">
                <a:effectLst/>
                <a:latin typeface="+mj-lt"/>
              </a:rPr>
              <a:t>Acceptable answers you could have given instead:</a:t>
            </a:r>
            <a:endParaRPr lang="en-GB" b="0" i="0" dirty="0">
              <a:effectLst/>
              <a:latin typeface="+mj-lt"/>
            </a:endParaRPr>
          </a:p>
          <a:p>
            <a:pPr algn="l"/>
            <a:r>
              <a:rPr lang="en-GB" b="0" i="0" dirty="0">
                <a:effectLst/>
                <a:latin typeface="+mj-lt"/>
              </a:rPr>
              <a:t>If the BIOS has been overwritten, it will not be able to perform the Power-On Self-Test (POST) and, therefore, unable to load the bootstrap program. This would mean the operating system would fail to start.</a:t>
            </a:r>
          </a:p>
          <a:p>
            <a:pPr marL="0" indent="0">
              <a:buNone/>
            </a:pPr>
            <a:endParaRPr lang="en-GB" dirty="0"/>
          </a:p>
        </p:txBody>
      </p:sp>
    </p:spTree>
    <p:extLst>
      <p:ext uri="{BB962C8B-B14F-4D97-AF65-F5344CB8AC3E}">
        <p14:creationId xmlns:p14="http://schemas.microsoft.com/office/powerpoint/2010/main" val="241618271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182E13-7BAB-65CB-F643-A6F60ECD3DAA}"/>
              </a:ext>
            </a:extLst>
          </p:cNvPr>
          <p:cNvSpPr>
            <a:spLocks noGrp="1"/>
          </p:cNvSpPr>
          <p:nvPr>
            <p:ph type="title"/>
          </p:nvPr>
        </p:nvSpPr>
        <p:spPr/>
        <p:txBody>
          <a:bodyPr>
            <a:normAutofit/>
          </a:bodyPr>
          <a:lstStyle/>
          <a:p>
            <a:r>
              <a:rPr lang="en-GB" b="1" dirty="0">
                <a:solidFill>
                  <a:srgbClr val="323232"/>
                </a:solidFill>
              </a:rPr>
              <a:t>What is a Device Driver?</a:t>
            </a:r>
            <a:endParaRPr lang="en-GB" dirty="0"/>
          </a:p>
        </p:txBody>
      </p:sp>
      <p:sp>
        <p:nvSpPr>
          <p:cNvPr id="3" name="Content Placeholder 2">
            <a:extLst>
              <a:ext uri="{FF2B5EF4-FFF2-40B4-BE49-F238E27FC236}">
                <a16:creationId xmlns:a16="http://schemas.microsoft.com/office/drawing/2014/main" id="{4CADC5E3-C821-2D6B-C604-0BB7B8824FF9}"/>
              </a:ext>
            </a:extLst>
          </p:cNvPr>
          <p:cNvSpPr>
            <a:spLocks noGrp="1"/>
          </p:cNvSpPr>
          <p:nvPr>
            <p:ph sz="quarter" idx="13"/>
          </p:nvPr>
        </p:nvSpPr>
        <p:spPr/>
        <p:txBody>
          <a:bodyPr/>
          <a:lstStyle/>
          <a:p>
            <a:pPr algn="l">
              <a:buFont typeface="Arial" panose="020B0604020202020204" pitchFamily="34" charset="0"/>
              <a:buChar char="•"/>
            </a:pPr>
            <a:r>
              <a:rPr lang="en-GB" sz="2000" b="0" i="0" dirty="0">
                <a:solidFill>
                  <a:srgbClr val="323232"/>
                </a:solidFill>
                <a:effectLst/>
                <a:latin typeface="+mj-lt"/>
              </a:rPr>
              <a:t>A device driver is a piece of software that enables communication between an operating system and specific hardware devices such as:</a:t>
            </a:r>
          </a:p>
          <a:p>
            <a:pPr marL="742950" lvl="1" indent="-285750" algn="l">
              <a:buFont typeface="Arial" panose="020B0604020202020204" pitchFamily="34" charset="0"/>
              <a:buChar char="•"/>
            </a:pPr>
            <a:r>
              <a:rPr lang="en-GB" sz="2000" b="0" i="0" dirty="0">
                <a:solidFill>
                  <a:srgbClr val="323232"/>
                </a:solidFill>
                <a:effectLst/>
                <a:latin typeface="+mj-lt"/>
              </a:rPr>
              <a:t>Printers</a:t>
            </a:r>
          </a:p>
          <a:p>
            <a:pPr marL="742950" lvl="1" indent="-285750" algn="l">
              <a:buFont typeface="Arial" panose="020B0604020202020204" pitchFamily="34" charset="0"/>
              <a:buChar char="•"/>
            </a:pPr>
            <a:r>
              <a:rPr lang="en-GB" sz="2000" b="0" i="0" dirty="0">
                <a:solidFill>
                  <a:srgbClr val="323232"/>
                </a:solidFill>
                <a:effectLst/>
                <a:latin typeface="+mj-lt"/>
              </a:rPr>
              <a:t>Graphics cards</a:t>
            </a:r>
          </a:p>
          <a:p>
            <a:pPr marL="742950" lvl="1" indent="-285750" algn="l">
              <a:buFont typeface="Arial" panose="020B0604020202020204" pitchFamily="34" charset="0"/>
              <a:buChar char="•"/>
            </a:pPr>
            <a:r>
              <a:rPr lang="en-GB" sz="2000" b="0" i="0" dirty="0">
                <a:solidFill>
                  <a:srgbClr val="323232"/>
                </a:solidFill>
                <a:effectLst/>
                <a:latin typeface="+mj-lt"/>
              </a:rPr>
              <a:t>Network cards</a:t>
            </a:r>
          </a:p>
          <a:p>
            <a:pPr algn="l">
              <a:buFont typeface="Arial" panose="020B0604020202020204" pitchFamily="34" charset="0"/>
              <a:buChar char="•"/>
            </a:pPr>
            <a:r>
              <a:rPr lang="en-GB" sz="2000" b="0" i="0" dirty="0">
                <a:solidFill>
                  <a:srgbClr val="323232"/>
                </a:solidFill>
                <a:effectLst/>
                <a:latin typeface="+mj-lt"/>
              </a:rPr>
              <a:t>Device drivers allow the OS to </a:t>
            </a:r>
            <a:r>
              <a:rPr lang="en-GB" sz="2000" b="1" i="0" dirty="0">
                <a:solidFill>
                  <a:srgbClr val="323232"/>
                </a:solidFill>
                <a:effectLst/>
                <a:latin typeface="+mj-lt"/>
              </a:rPr>
              <a:t>control and interact</a:t>
            </a:r>
            <a:r>
              <a:rPr lang="en-GB" sz="2000" b="0" i="0" dirty="0">
                <a:solidFill>
                  <a:srgbClr val="323232"/>
                </a:solidFill>
                <a:effectLst/>
                <a:latin typeface="+mj-lt"/>
              </a:rPr>
              <a:t> with those devices</a:t>
            </a:r>
          </a:p>
          <a:p>
            <a:pPr algn="l">
              <a:buFont typeface="Arial" panose="020B0604020202020204" pitchFamily="34" charset="0"/>
              <a:buChar char="•"/>
            </a:pPr>
            <a:r>
              <a:rPr lang="en-GB" sz="2000" b="0" i="0" dirty="0">
                <a:solidFill>
                  <a:srgbClr val="323232"/>
                </a:solidFill>
                <a:effectLst/>
                <a:latin typeface="+mj-lt"/>
              </a:rPr>
              <a:t>Because many external devices have embedded system software, a driver </a:t>
            </a:r>
            <a:r>
              <a:rPr lang="en-GB" sz="2000" b="1" i="0" dirty="0">
                <a:solidFill>
                  <a:srgbClr val="323232"/>
                </a:solidFill>
                <a:effectLst/>
                <a:latin typeface="+mj-lt"/>
              </a:rPr>
              <a:t>bridges the gap</a:t>
            </a:r>
            <a:r>
              <a:rPr lang="en-GB" sz="2000" b="0" i="0" dirty="0">
                <a:solidFill>
                  <a:srgbClr val="323232"/>
                </a:solidFill>
                <a:effectLst/>
                <a:latin typeface="+mj-lt"/>
              </a:rPr>
              <a:t> between a major operating system and a tiny hardware OS</a:t>
            </a:r>
          </a:p>
          <a:p>
            <a:pPr algn="l">
              <a:buFont typeface="Arial" panose="020B0604020202020204" pitchFamily="34" charset="0"/>
              <a:buChar char="•"/>
            </a:pPr>
            <a:r>
              <a:rPr lang="en-GB" sz="2000" b="0" i="0" dirty="0">
                <a:solidFill>
                  <a:srgbClr val="323232"/>
                </a:solidFill>
                <a:effectLst/>
                <a:latin typeface="+mj-lt"/>
              </a:rPr>
              <a:t>Device drivers make it possible to </a:t>
            </a:r>
            <a:r>
              <a:rPr lang="en-GB" sz="2000" b="1" i="0" dirty="0">
                <a:solidFill>
                  <a:srgbClr val="323232"/>
                </a:solidFill>
                <a:effectLst/>
                <a:latin typeface="+mj-lt"/>
              </a:rPr>
              <a:t>perform specific operations</a:t>
            </a:r>
            <a:r>
              <a:rPr lang="en-GB" sz="2000" b="0" i="0" dirty="0">
                <a:solidFill>
                  <a:srgbClr val="323232"/>
                </a:solidFill>
                <a:effectLst/>
                <a:latin typeface="+mj-lt"/>
              </a:rPr>
              <a:t> on the hardware e.g. a printer driver enables the OS to send print commands and manage print jobs</a:t>
            </a:r>
          </a:p>
          <a:p>
            <a:pPr algn="l">
              <a:buFont typeface="Arial" panose="020B0604020202020204" pitchFamily="34" charset="0"/>
              <a:buChar char="•"/>
            </a:pPr>
            <a:r>
              <a:rPr lang="en-GB" sz="2000" b="0" i="0" dirty="0">
                <a:solidFill>
                  <a:srgbClr val="323232"/>
                </a:solidFill>
                <a:effectLst/>
                <a:latin typeface="+mj-lt"/>
              </a:rPr>
              <a:t>Most hardware manufacturers write their own device driver software, meaning a single operating system may have </a:t>
            </a:r>
            <a:r>
              <a:rPr lang="en-GB" sz="2000" b="1" i="0" dirty="0">
                <a:solidFill>
                  <a:srgbClr val="323232"/>
                </a:solidFill>
                <a:effectLst/>
                <a:latin typeface="+mj-lt"/>
              </a:rPr>
              <a:t>several printer drivers</a:t>
            </a:r>
            <a:r>
              <a:rPr lang="en-GB" sz="2000" b="0" i="0" dirty="0">
                <a:solidFill>
                  <a:srgbClr val="323232"/>
                </a:solidFill>
                <a:effectLst/>
                <a:latin typeface="+mj-lt"/>
              </a:rPr>
              <a:t> installed</a:t>
            </a:r>
          </a:p>
          <a:p>
            <a:pPr marL="0" indent="0">
              <a:buNone/>
            </a:pPr>
            <a:endParaRPr lang="en-GB" dirty="0"/>
          </a:p>
        </p:txBody>
      </p:sp>
    </p:spTree>
    <p:extLst>
      <p:ext uri="{BB962C8B-B14F-4D97-AF65-F5344CB8AC3E}">
        <p14:creationId xmlns:p14="http://schemas.microsoft.com/office/powerpoint/2010/main" val="227608397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CA70F-3640-DD3B-2868-D3897D46362B}"/>
              </a:ext>
            </a:extLst>
          </p:cNvPr>
          <p:cNvSpPr>
            <a:spLocks noGrp="1"/>
          </p:cNvSpPr>
          <p:nvPr>
            <p:ph type="title"/>
          </p:nvPr>
        </p:nvSpPr>
        <p:spPr/>
        <p:txBody>
          <a:bodyPr>
            <a:normAutofit/>
          </a:bodyPr>
          <a:lstStyle/>
          <a:p>
            <a:r>
              <a:rPr lang="en-GB" dirty="0">
                <a:solidFill>
                  <a:srgbClr val="323232"/>
                </a:solidFill>
              </a:rPr>
              <a:t>Worked Example</a:t>
            </a:r>
            <a:endParaRPr lang="en-GB" dirty="0"/>
          </a:p>
        </p:txBody>
      </p:sp>
      <p:sp>
        <p:nvSpPr>
          <p:cNvPr id="3" name="Content Placeholder 2">
            <a:extLst>
              <a:ext uri="{FF2B5EF4-FFF2-40B4-BE49-F238E27FC236}">
                <a16:creationId xmlns:a16="http://schemas.microsoft.com/office/drawing/2014/main" id="{C2598AEB-14C4-FC2B-72D8-17AB886F9900}"/>
              </a:ext>
            </a:extLst>
          </p:cNvPr>
          <p:cNvSpPr>
            <a:spLocks noGrp="1"/>
          </p:cNvSpPr>
          <p:nvPr>
            <p:ph sz="quarter" idx="13"/>
          </p:nvPr>
        </p:nvSpPr>
        <p:spPr/>
        <p:txBody>
          <a:bodyPr>
            <a:normAutofit lnSpcReduction="10000"/>
          </a:bodyPr>
          <a:lstStyle/>
          <a:p>
            <a:pPr algn="l">
              <a:buNone/>
            </a:pPr>
            <a:r>
              <a:rPr lang="en-GB" b="1" i="0" dirty="0">
                <a:effectLst/>
                <a:latin typeface="+mj-lt"/>
              </a:rPr>
              <a:t>Adding a DVD drive to a computer often requires the installation of a piece of software called a device driver.</a:t>
            </a:r>
            <a:endParaRPr lang="en-GB" b="0" i="0" dirty="0">
              <a:effectLst/>
              <a:latin typeface="+mj-lt"/>
            </a:endParaRPr>
          </a:p>
          <a:p>
            <a:pPr algn="l">
              <a:buNone/>
            </a:pPr>
            <a:r>
              <a:rPr lang="en-GB" b="1" i="0" dirty="0">
                <a:effectLst/>
                <a:latin typeface="+mj-lt"/>
              </a:rPr>
              <a:t>State the purpose of a device driver.</a:t>
            </a:r>
            <a:endParaRPr lang="en-GB" b="0" i="0" dirty="0">
              <a:effectLst/>
              <a:latin typeface="+mj-lt"/>
            </a:endParaRPr>
          </a:p>
          <a:p>
            <a:pPr algn="r">
              <a:buNone/>
            </a:pPr>
            <a:r>
              <a:rPr lang="en-GB" b="0" i="0" dirty="0">
                <a:effectLst/>
                <a:latin typeface="+mj-lt"/>
              </a:rPr>
              <a:t>[1]</a:t>
            </a:r>
          </a:p>
          <a:p>
            <a:pPr algn="l">
              <a:buNone/>
            </a:pPr>
            <a:r>
              <a:rPr lang="en-GB" b="1" i="0" dirty="0">
                <a:effectLst/>
                <a:latin typeface="+mj-lt"/>
              </a:rPr>
              <a:t>How to answer this question:</a:t>
            </a:r>
            <a:endParaRPr lang="en-GB" b="0" i="0" dirty="0">
              <a:effectLst/>
              <a:latin typeface="+mj-lt"/>
            </a:endParaRPr>
          </a:p>
          <a:p>
            <a:pPr algn="l">
              <a:buFont typeface="Arial" panose="020B0604020202020204" pitchFamily="34" charset="0"/>
              <a:buChar char="•"/>
            </a:pPr>
            <a:r>
              <a:rPr lang="en-GB" b="0" i="0" dirty="0">
                <a:effectLst/>
                <a:latin typeface="+mj-lt"/>
              </a:rPr>
              <a:t>Pick one example of a hardware device and describe what happens between it and the operating system</a:t>
            </a:r>
          </a:p>
          <a:p>
            <a:pPr algn="l">
              <a:buFont typeface="Arial" panose="020B0604020202020204" pitchFamily="34" charset="0"/>
              <a:buChar char="•"/>
            </a:pPr>
            <a:r>
              <a:rPr lang="en-GB" b="0" i="0" dirty="0">
                <a:effectLst/>
                <a:latin typeface="+mj-lt"/>
              </a:rPr>
              <a:t>Explain that this is made possible through device driver software</a:t>
            </a:r>
          </a:p>
          <a:p>
            <a:pPr algn="l">
              <a:buNone/>
            </a:pPr>
            <a:endParaRPr lang="en-GB" b="0" i="0" dirty="0">
              <a:effectLst/>
              <a:latin typeface="+mj-lt"/>
            </a:endParaRPr>
          </a:p>
          <a:p>
            <a:pPr algn="l">
              <a:buNone/>
            </a:pPr>
            <a:r>
              <a:rPr lang="en-GB" b="0" i="0" dirty="0">
                <a:effectLst/>
                <a:latin typeface="+mj-lt"/>
              </a:rPr>
              <a:t> </a:t>
            </a:r>
            <a:r>
              <a:rPr lang="en-GB" b="1" i="0" dirty="0">
                <a:effectLst/>
                <a:latin typeface="+mj-lt"/>
              </a:rPr>
              <a:t>Example answer that gets full marks:</a:t>
            </a:r>
            <a:endParaRPr lang="en-GB" b="0" i="0" dirty="0">
              <a:effectLst/>
              <a:latin typeface="+mj-lt"/>
            </a:endParaRPr>
          </a:p>
          <a:p>
            <a:pPr algn="l">
              <a:buNone/>
            </a:pPr>
            <a:r>
              <a:rPr lang="en-GB" b="0" i="0" dirty="0">
                <a:effectLst/>
                <a:latin typeface="+mj-lt"/>
              </a:rPr>
              <a:t>The purpose of a device driver is to enable the operating system to interact with and control a hardware device. For example, a printer would have an associated device driver so the OS could send or receive data from a printer system.</a:t>
            </a:r>
          </a:p>
          <a:p>
            <a:pPr algn="l">
              <a:buNone/>
            </a:pPr>
            <a:r>
              <a:rPr lang="en-GB" b="1" i="0" dirty="0">
                <a:effectLst/>
                <a:latin typeface="+mj-lt"/>
              </a:rPr>
              <a:t>Acceptable answers you could have given instead:</a:t>
            </a:r>
            <a:endParaRPr lang="en-GB" b="0" i="0" dirty="0">
              <a:effectLst/>
              <a:latin typeface="+mj-lt"/>
            </a:endParaRPr>
          </a:p>
          <a:p>
            <a:pPr algn="l"/>
            <a:r>
              <a:rPr lang="en-GB" b="0" i="0" dirty="0">
                <a:effectLst/>
                <a:latin typeface="+mj-lt"/>
              </a:rPr>
              <a:t>The purpose of a device driver is to enable communication between an operating system and external hardware.</a:t>
            </a:r>
          </a:p>
          <a:p>
            <a:pPr marL="0" indent="0">
              <a:buNone/>
            </a:pPr>
            <a:endParaRPr lang="en-GB" dirty="0"/>
          </a:p>
        </p:txBody>
      </p:sp>
    </p:spTree>
    <p:extLst>
      <p:ext uri="{BB962C8B-B14F-4D97-AF65-F5344CB8AC3E}">
        <p14:creationId xmlns:p14="http://schemas.microsoft.com/office/powerpoint/2010/main" val="37660362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23D3E-DA6A-D863-9BC9-DFFFF2B77708}"/>
              </a:ext>
            </a:extLst>
          </p:cNvPr>
          <p:cNvSpPr>
            <a:spLocks noGrp="1"/>
          </p:cNvSpPr>
          <p:nvPr>
            <p:ph type="title"/>
          </p:nvPr>
        </p:nvSpPr>
        <p:spPr/>
        <p:txBody>
          <a:bodyPr>
            <a:normAutofit/>
          </a:bodyPr>
          <a:lstStyle/>
          <a:p>
            <a:r>
              <a:rPr lang="en-GB" dirty="0">
                <a:solidFill>
                  <a:srgbClr val="323232"/>
                </a:solidFill>
              </a:rPr>
              <a:t>What are virtual machines?</a:t>
            </a:r>
            <a:endParaRPr lang="en-GB" dirty="0"/>
          </a:p>
        </p:txBody>
      </p:sp>
      <p:sp>
        <p:nvSpPr>
          <p:cNvPr id="3" name="Content Placeholder 2">
            <a:extLst>
              <a:ext uri="{FF2B5EF4-FFF2-40B4-BE49-F238E27FC236}">
                <a16:creationId xmlns:a16="http://schemas.microsoft.com/office/drawing/2014/main" id="{19FF98E8-0C22-1A32-B3E5-B5F29FE464A7}"/>
              </a:ext>
            </a:extLst>
          </p:cNvPr>
          <p:cNvSpPr>
            <a:spLocks noGrp="1"/>
          </p:cNvSpPr>
          <p:nvPr>
            <p:ph sz="quarter" idx="13"/>
          </p:nvPr>
        </p:nvSpPr>
        <p:spPr/>
        <p:txBody>
          <a:bodyPr/>
          <a:lstStyle/>
          <a:p>
            <a:pPr algn="l">
              <a:buFont typeface="Arial" panose="020B0604020202020204" pitchFamily="34" charset="0"/>
              <a:buChar char="•"/>
            </a:pPr>
            <a:r>
              <a:rPr lang="en-GB" sz="2400" b="0" i="0" dirty="0">
                <a:solidFill>
                  <a:srgbClr val="323232"/>
                </a:solidFill>
                <a:effectLst/>
                <a:latin typeface="+mj-lt"/>
              </a:rPr>
              <a:t>Virtual machines (VMs) are entire operating systems </a:t>
            </a:r>
            <a:r>
              <a:rPr lang="en-GB" sz="2400" b="1" i="0" dirty="0">
                <a:solidFill>
                  <a:srgbClr val="323232"/>
                </a:solidFill>
                <a:effectLst/>
                <a:latin typeface="+mj-lt"/>
              </a:rPr>
              <a:t>running inside another operating system</a:t>
            </a:r>
            <a:endParaRPr lang="en-GB" sz="2400" b="0" i="0" dirty="0">
              <a:solidFill>
                <a:srgbClr val="323232"/>
              </a:solidFill>
              <a:effectLst/>
              <a:latin typeface="+mj-lt"/>
            </a:endParaRPr>
          </a:p>
          <a:p>
            <a:pPr algn="l">
              <a:buFont typeface="Arial" panose="020B0604020202020204" pitchFamily="34" charset="0"/>
              <a:buChar char="•"/>
            </a:pPr>
            <a:r>
              <a:rPr lang="en-GB" sz="2400" b="0" i="0" dirty="0">
                <a:solidFill>
                  <a:srgbClr val="323232"/>
                </a:solidFill>
                <a:effectLst/>
                <a:latin typeface="+mj-lt"/>
              </a:rPr>
              <a:t>A user running Windows 11 could run a virtual machine of MacOS</a:t>
            </a:r>
          </a:p>
          <a:p>
            <a:pPr algn="l">
              <a:buFont typeface="Arial" panose="020B0604020202020204" pitchFamily="34" charset="0"/>
              <a:buChar char="•"/>
            </a:pPr>
            <a:r>
              <a:rPr lang="en-GB" sz="2400" b="0" i="0" dirty="0">
                <a:solidFill>
                  <a:srgbClr val="323232"/>
                </a:solidFill>
                <a:effectLst/>
                <a:latin typeface="+mj-lt"/>
              </a:rPr>
              <a:t>This would allow them to navigate the GUI of MacOS and install software on it</a:t>
            </a:r>
          </a:p>
          <a:p>
            <a:pPr algn="l">
              <a:buFont typeface="Arial" panose="020B0604020202020204" pitchFamily="34" charset="0"/>
              <a:buChar char="•"/>
            </a:pPr>
            <a:r>
              <a:rPr lang="en-GB" sz="2400" b="0" i="0" dirty="0">
                <a:solidFill>
                  <a:srgbClr val="323232"/>
                </a:solidFill>
                <a:effectLst/>
                <a:latin typeface="+mj-lt"/>
              </a:rPr>
              <a:t>Running a virtual machine helps access software that is only designed to run on specific operating systems</a:t>
            </a:r>
          </a:p>
          <a:p>
            <a:pPr marL="0" indent="0">
              <a:buNone/>
            </a:pPr>
            <a:endParaRPr lang="en-GB" dirty="0"/>
          </a:p>
        </p:txBody>
      </p:sp>
    </p:spTree>
    <p:extLst>
      <p:ext uri="{BB962C8B-B14F-4D97-AF65-F5344CB8AC3E}">
        <p14:creationId xmlns:p14="http://schemas.microsoft.com/office/powerpoint/2010/main" val="34785677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F39C06-5D95-F6E8-D3D1-98D2EBAAE3E9}"/>
              </a:ext>
            </a:extLst>
          </p:cNvPr>
          <p:cNvSpPr>
            <a:spLocks noGrp="1"/>
          </p:cNvSpPr>
          <p:nvPr>
            <p:ph type="title"/>
          </p:nvPr>
        </p:nvSpPr>
        <p:spPr/>
        <p:txBody>
          <a:bodyPr/>
          <a:lstStyle/>
          <a:p>
            <a:r>
              <a:rPr lang="en-GB" dirty="0"/>
              <a:t>Benefits and drawbacks</a:t>
            </a:r>
          </a:p>
        </p:txBody>
      </p:sp>
      <p:graphicFrame>
        <p:nvGraphicFramePr>
          <p:cNvPr id="4" name="Table 3">
            <a:extLst>
              <a:ext uri="{FF2B5EF4-FFF2-40B4-BE49-F238E27FC236}">
                <a16:creationId xmlns:a16="http://schemas.microsoft.com/office/drawing/2014/main" id="{84AE8C9F-DF26-69E1-6EC6-C4A9E175C1A9}"/>
              </a:ext>
            </a:extLst>
          </p:cNvPr>
          <p:cNvGraphicFramePr>
            <a:graphicFrameLocks noGrp="1"/>
          </p:cNvGraphicFramePr>
          <p:nvPr>
            <p:extLst>
              <p:ext uri="{D42A27DB-BD31-4B8C-83A1-F6EECF244321}">
                <p14:modId xmlns:p14="http://schemas.microsoft.com/office/powerpoint/2010/main" val="3756754953"/>
              </p:ext>
            </p:extLst>
          </p:nvPr>
        </p:nvGraphicFramePr>
        <p:xfrm>
          <a:off x="351481" y="837742"/>
          <a:ext cx="11424508" cy="5128885"/>
        </p:xfrm>
        <a:graphic>
          <a:graphicData uri="http://schemas.openxmlformats.org/drawingml/2006/table">
            <a:tbl>
              <a:tblPr firstRow="1" bandRow="1">
                <a:tableStyleId>{5940675A-B579-460E-94D1-54222C63F5DA}</a:tableStyleId>
              </a:tblPr>
              <a:tblGrid>
                <a:gridCol w="5712254">
                  <a:extLst>
                    <a:ext uri="{9D8B030D-6E8A-4147-A177-3AD203B41FA5}">
                      <a16:colId xmlns:a16="http://schemas.microsoft.com/office/drawing/2014/main" val="1633651036"/>
                    </a:ext>
                  </a:extLst>
                </a:gridCol>
                <a:gridCol w="5712254">
                  <a:extLst>
                    <a:ext uri="{9D8B030D-6E8A-4147-A177-3AD203B41FA5}">
                      <a16:colId xmlns:a16="http://schemas.microsoft.com/office/drawing/2014/main" val="1415472160"/>
                    </a:ext>
                  </a:extLst>
                </a:gridCol>
              </a:tblGrid>
              <a:tr h="493956">
                <a:tc>
                  <a:txBody>
                    <a:bodyPr/>
                    <a:lstStyle/>
                    <a:p>
                      <a:r>
                        <a:rPr lang="en-GB" sz="1800" b="1" dirty="0"/>
                        <a:t>Benefits</a:t>
                      </a:r>
                    </a:p>
                  </a:txBody>
                  <a:tcPr/>
                </a:tc>
                <a:tc>
                  <a:txBody>
                    <a:bodyPr/>
                    <a:lstStyle/>
                    <a:p>
                      <a:r>
                        <a:rPr lang="en-GB" sz="1800" b="1" dirty="0"/>
                        <a:t>Drawbacks</a:t>
                      </a:r>
                    </a:p>
                  </a:txBody>
                  <a:tcPr/>
                </a:tc>
                <a:extLst>
                  <a:ext uri="{0D108BD9-81ED-4DB2-BD59-A6C34878D82A}">
                    <a16:rowId xmlns:a16="http://schemas.microsoft.com/office/drawing/2014/main" val="3099198628"/>
                  </a:ext>
                </a:extLst>
              </a:tr>
              <a:tr h="4031134">
                <a:tc>
                  <a:txBody>
                    <a:bodyPr/>
                    <a:lstStyle/>
                    <a:p>
                      <a:pPr marL="342900" lvl="0" indent="-342900">
                        <a:buFont typeface="Symbol" pitchFamily="2" charset="2"/>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GB" sz="1800" b="0" kern="0" dirty="0">
                          <a:effectLst/>
                        </a:rPr>
                        <a:t>Virtual machines (VMs) are entire operating systems running inside another operating system</a:t>
                      </a:r>
                      <a:endParaRPr lang="en-GB" sz="1800" b="0" kern="100" dirty="0">
                        <a:effectLst/>
                      </a:endParaRPr>
                    </a:p>
                    <a:p>
                      <a:pPr marL="342900" lvl="0" indent="-342900">
                        <a:buFont typeface="Symbol" pitchFamily="2" charset="2"/>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GB" sz="1800" b="0" kern="100" dirty="0">
                          <a:effectLst/>
                        </a:rPr>
                        <a:t>Allows running different operating systems (e.g. Linux on Windows) simultaneously on a single machine.</a:t>
                      </a:r>
                    </a:p>
                    <a:p>
                      <a:pPr marL="342900" lvl="0" indent="-342900">
                        <a:buFont typeface="Symbol" pitchFamily="2" charset="2"/>
                        <a:buChar char=""/>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pPr>
                      <a:r>
                        <a:rPr lang="en-GB" sz="1800" b="0" kern="0" dirty="0">
                          <a:effectLst/>
                        </a:rPr>
                        <a:t>VMs are a way to create isolated test environments, that leave the host operating system unaffected</a:t>
                      </a:r>
                      <a:endParaRPr lang="en-GB" sz="1800" b="0" kern="100" dirty="0">
                        <a:effectLst/>
                      </a:endParaRPr>
                    </a:p>
                    <a:p>
                      <a:pPr marL="342900" lvl="0" indent="-342900">
                        <a:buFont typeface="Symbol" pitchFamily="2" charset="2"/>
                        <a:buChar char=""/>
                      </a:pPr>
                      <a:r>
                        <a:rPr lang="en-GB" sz="1800" b="0" dirty="0">
                          <a:effectLst/>
                        </a:rPr>
                        <a:t>Multiple VMs can run on one physical machine, maximising hardware usage and reducing the need for multiple physical devices.</a:t>
                      </a:r>
                    </a:p>
                    <a:p>
                      <a:pPr marL="342900" lvl="0" indent="-342900">
                        <a:buFont typeface="Symbol" pitchFamily="2" charset="2"/>
                        <a:buChar char=""/>
                      </a:pPr>
                      <a:r>
                        <a:rPr lang="en-GB" sz="1800" b="0" dirty="0">
                          <a:effectLst/>
                        </a:rPr>
                        <a:t>deal for running potentially unsafe software or malware for analysis in a controlled environment.</a:t>
                      </a:r>
                    </a:p>
                    <a:p>
                      <a:endParaRPr lang="en-GB" b="0" dirty="0"/>
                    </a:p>
                  </a:txBody>
                  <a:tcPr/>
                </a:tc>
                <a:tc>
                  <a:txBody>
                    <a:bodyPr/>
                    <a:lstStyle/>
                    <a:p>
                      <a:pPr marL="171450" marR="0" lvl="0" indent="-171450" algn="l" defTabSz="51435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000" b="0" dirty="0"/>
                        <a:t>VMs are slower than physical machines because resources (CPU, RAM, disk) are shared with the host system and other VMs.</a:t>
                      </a:r>
                    </a:p>
                    <a:p>
                      <a:pPr marL="171450" marR="0" lvl="0" indent="-171450" algn="l" defTabSz="51435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2000" b="0" dirty="0"/>
                        <a:t>Running multiple VMs can consume significant system resources, leading to slower performance or system crashes if not managed properly</a:t>
                      </a:r>
                    </a:p>
                    <a:p>
                      <a:endParaRPr lang="en-GB" b="0" dirty="0"/>
                    </a:p>
                  </a:txBody>
                  <a:tcPr/>
                </a:tc>
                <a:extLst>
                  <a:ext uri="{0D108BD9-81ED-4DB2-BD59-A6C34878D82A}">
                    <a16:rowId xmlns:a16="http://schemas.microsoft.com/office/drawing/2014/main" val="11952321"/>
                  </a:ext>
                </a:extLst>
              </a:tr>
            </a:tbl>
          </a:graphicData>
        </a:graphic>
      </p:graphicFrame>
    </p:spTree>
    <p:extLst>
      <p:ext uri="{BB962C8B-B14F-4D97-AF65-F5344CB8AC3E}">
        <p14:creationId xmlns:p14="http://schemas.microsoft.com/office/powerpoint/2010/main" val="7761501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A237A-55B4-5496-DE98-20CAEB343106}"/>
              </a:ext>
            </a:extLst>
          </p:cNvPr>
          <p:cNvSpPr>
            <a:spLocks noGrp="1"/>
          </p:cNvSpPr>
          <p:nvPr>
            <p:ph type="title"/>
          </p:nvPr>
        </p:nvSpPr>
        <p:spPr/>
        <p:txBody>
          <a:bodyPr>
            <a:normAutofit/>
          </a:bodyPr>
          <a:lstStyle/>
          <a:p>
            <a:r>
              <a:rPr lang="en-GB" dirty="0">
                <a:solidFill>
                  <a:srgbClr val="323232"/>
                </a:solidFill>
              </a:rPr>
              <a:t>Worked Example</a:t>
            </a:r>
            <a:endParaRPr lang="en-GB" dirty="0"/>
          </a:p>
        </p:txBody>
      </p:sp>
      <p:sp>
        <p:nvSpPr>
          <p:cNvPr id="3" name="Content Placeholder 2">
            <a:extLst>
              <a:ext uri="{FF2B5EF4-FFF2-40B4-BE49-F238E27FC236}">
                <a16:creationId xmlns:a16="http://schemas.microsoft.com/office/drawing/2014/main" id="{0C06586D-BA2B-1044-D877-657F7DC48A50}"/>
              </a:ext>
            </a:extLst>
          </p:cNvPr>
          <p:cNvSpPr>
            <a:spLocks noGrp="1"/>
          </p:cNvSpPr>
          <p:nvPr>
            <p:ph sz="quarter" idx="13"/>
          </p:nvPr>
        </p:nvSpPr>
        <p:spPr/>
        <p:txBody>
          <a:bodyPr>
            <a:normAutofit fontScale="92500" lnSpcReduction="20000"/>
          </a:bodyPr>
          <a:lstStyle/>
          <a:p>
            <a:pPr algn="l">
              <a:buNone/>
            </a:pPr>
            <a:r>
              <a:rPr lang="en-GB" b="1" i="0" dirty="0">
                <a:effectLst/>
                <a:latin typeface="+mj-lt"/>
              </a:rPr>
              <a:t>Explain why the programmers of anti-virus software may make use of virtual machines when developing the updates.</a:t>
            </a:r>
            <a:endParaRPr lang="en-GB" b="0" i="0" dirty="0">
              <a:effectLst/>
              <a:latin typeface="+mj-lt"/>
            </a:endParaRPr>
          </a:p>
          <a:p>
            <a:pPr algn="r">
              <a:buNone/>
            </a:pPr>
            <a:r>
              <a:rPr lang="en-GB" b="0" i="0" dirty="0">
                <a:effectLst/>
                <a:latin typeface="+mj-lt"/>
              </a:rPr>
              <a:t>[3]</a:t>
            </a:r>
          </a:p>
          <a:p>
            <a:pPr algn="l">
              <a:buNone/>
            </a:pPr>
            <a:r>
              <a:rPr lang="en-GB" b="1" i="0" dirty="0">
                <a:effectLst/>
                <a:latin typeface="+mj-lt"/>
              </a:rPr>
              <a:t>How to answer this question:</a:t>
            </a:r>
            <a:endParaRPr lang="en-GB" b="0" i="0" dirty="0">
              <a:effectLst/>
              <a:latin typeface="+mj-lt"/>
            </a:endParaRPr>
          </a:p>
          <a:p>
            <a:pPr algn="l">
              <a:buFont typeface="Arial" panose="020B0604020202020204" pitchFamily="34" charset="0"/>
              <a:buChar char="•"/>
            </a:pPr>
            <a:r>
              <a:rPr lang="en-GB" b="0" i="0" dirty="0">
                <a:effectLst/>
                <a:latin typeface="+mj-lt"/>
              </a:rPr>
              <a:t>Recall two benefits of using virtual machines in developing software</a:t>
            </a:r>
          </a:p>
          <a:p>
            <a:pPr algn="l">
              <a:buFont typeface="Arial" panose="020B0604020202020204" pitchFamily="34" charset="0"/>
              <a:buChar char="•"/>
            </a:pPr>
            <a:r>
              <a:rPr lang="en-GB" b="0" i="0" dirty="0">
                <a:effectLst/>
                <a:latin typeface="+mj-lt"/>
              </a:rPr>
              <a:t>Link these benefits to some considerations needed when developing anti-virus software</a:t>
            </a:r>
          </a:p>
          <a:p>
            <a:pPr algn="l">
              <a:buNone/>
            </a:pPr>
            <a:endParaRPr lang="en-GB" b="0" i="0" dirty="0">
              <a:effectLst/>
              <a:latin typeface="+mj-lt"/>
            </a:endParaRPr>
          </a:p>
          <a:p>
            <a:pPr algn="l">
              <a:buNone/>
            </a:pPr>
            <a:r>
              <a:rPr lang="en-GB" b="0" i="0" dirty="0">
                <a:effectLst/>
                <a:latin typeface="+mj-lt"/>
              </a:rPr>
              <a:t> </a:t>
            </a:r>
            <a:r>
              <a:rPr lang="en-GB" b="1" i="0" dirty="0">
                <a:effectLst/>
                <a:latin typeface="+mj-lt"/>
              </a:rPr>
              <a:t>Example answer that gets full marks:</a:t>
            </a:r>
            <a:endParaRPr lang="en-GB" b="0" i="0" dirty="0">
              <a:effectLst/>
              <a:latin typeface="+mj-lt"/>
            </a:endParaRPr>
          </a:p>
          <a:p>
            <a:pPr algn="l">
              <a:buNone/>
            </a:pPr>
            <a:r>
              <a:rPr lang="en-GB" b="0" i="0" dirty="0">
                <a:effectLst/>
                <a:latin typeface="+mj-lt"/>
              </a:rPr>
              <a:t>Virtual machines (VMs) are essential in developing anti-virus software updates for several reasons. VMs create an isolated environment that is separate from the host operating system. This enables developers to safely work with virus test code that could risk the integrity of their own operating system. VMs can also be configured to emulate various types of hardware. This allows developers to understand how their anti-virus software will perform on different devices and under different conditions, ensuring a wider range of compatibility.</a:t>
            </a:r>
          </a:p>
          <a:p>
            <a:pPr algn="l">
              <a:buNone/>
            </a:pPr>
            <a:r>
              <a:rPr lang="en-GB" b="1" i="0" dirty="0">
                <a:effectLst/>
                <a:latin typeface="+mj-lt"/>
              </a:rPr>
              <a:t>Acceptable answers you could have given instead:</a:t>
            </a:r>
            <a:endParaRPr lang="en-GB" b="0" i="0" dirty="0">
              <a:effectLst/>
              <a:latin typeface="+mj-lt"/>
            </a:endParaRPr>
          </a:p>
          <a:p>
            <a:pPr algn="l"/>
            <a:r>
              <a:rPr lang="en-GB" b="0" i="0" dirty="0">
                <a:effectLst/>
                <a:latin typeface="+mj-lt"/>
              </a:rPr>
              <a:t>Virtual machines create an isolated test environment from the host operating system. This means working with harmful test code carries less risk. Virtual machine management software can monitor the VM through the Hypervisor. This will show how the software affects VM system performance, allowing the programmer to make changes where needed.</a:t>
            </a:r>
          </a:p>
          <a:p>
            <a:pPr marL="0" indent="0">
              <a:buNone/>
            </a:pPr>
            <a:endParaRPr lang="en-GB" dirty="0"/>
          </a:p>
        </p:txBody>
      </p:sp>
    </p:spTree>
    <p:extLst>
      <p:ext uri="{BB962C8B-B14F-4D97-AF65-F5344CB8AC3E}">
        <p14:creationId xmlns:p14="http://schemas.microsoft.com/office/powerpoint/2010/main" val="3329454142"/>
      </p:ext>
    </p:extLst>
  </p:cSld>
  <p:clrMapOvr>
    <a:masterClrMapping/>
  </p:clrMapOvr>
</p:sld>
</file>

<file path=ppt/theme/theme1.xml><?xml version="1.0" encoding="utf-8"?>
<a:theme xmlns:a="http://schemas.openxmlformats.org/drawingml/2006/main" name="CSc">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Sc" id="{DC355E4F-C040-4046-ACF4-B999AB9AE40D}" vid="{97551B84-1EE0-5249-9F44-37861ECDB9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850CF4CB767594CAB58E67B9F0BE67A" ma:contentTypeVersion="19" ma:contentTypeDescription="Create a new document." ma:contentTypeScope="" ma:versionID="5cff12300fb04d348c343d2364591736">
  <xsd:schema xmlns:xsd="http://www.w3.org/2001/XMLSchema" xmlns:xs="http://www.w3.org/2001/XMLSchema" xmlns:p="http://schemas.microsoft.com/office/2006/metadata/properties" xmlns:ns2="af5a9b6f-90d1-4e94-ad6a-4d32e435a3f7" xmlns:ns3="ba822b70-6078-407b-9df2-075fd966bc17" targetNamespace="http://schemas.microsoft.com/office/2006/metadata/properties" ma:root="true" ma:fieldsID="7795a4dd6dbaf42fe83b868fab0ccd7e" ns2:_="" ns3:_="">
    <xsd:import namespace="af5a9b6f-90d1-4e94-ad6a-4d32e435a3f7"/>
    <xsd:import namespace="ba822b70-6078-407b-9df2-075fd966bc1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LengthInSeconds" minOccurs="0"/>
                <xsd:element ref="ns2:MediaServiceLocation"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f5a9b6f-90d1-4e94-ad6a-4d32e435a3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e2842fe2-0384-4868-9911-293adc3c594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a822b70-6078-407b-9df2-075fd966bc17"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b1fcce3-66d6-45c3-acef-c5498900e25c}" ma:internalName="TaxCatchAll" ma:showField="CatchAllData" ma:web="ba822b70-6078-407b-9df2-075fd966bc1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MediaLengthInSeconds xmlns="af5a9b6f-90d1-4e94-ad6a-4d32e435a3f7" xsi:nil="true"/>
    <SharedWithUsers xmlns="ba822b70-6078-407b-9df2-075fd966bc17">
      <UserInfo>
        <DisplayName/>
        <AccountId xsi:nil="true"/>
        <AccountType/>
      </UserInfo>
    </SharedWithUsers>
    <TaxCatchAll xmlns="ba822b70-6078-407b-9df2-075fd966bc17" xsi:nil="true"/>
    <lcf76f155ced4ddcb4097134ff3c332f xmlns="af5a9b6f-90d1-4e94-ad6a-4d32e435a3f7">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AED74E3-20E1-458E-9DF6-FE13A5F7A16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f5a9b6f-90d1-4e94-ad6a-4d32e435a3f7"/>
    <ds:schemaRef ds:uri="ba822b70-6078-407b-9df2-075fd966bc1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57F3073-BED0-4907-91BE-796A17247ED6}">
  <ds:schemaRefs>
    <ds:schemaRef ds:uri="http://schemas.microsoft.com/sharepoint/v3/contenttype/forms"/>
  </ds:schemaRefs>
</ds:datastoreItem>
</file>

<file path=customXml/itemProps3.xml><?xml version="1.0" encoding="utf-8"?>
<ds:datastoreItem xmlns:ds="http://schemas.openxmlformats.org/officeDocument/2006/customXml" ds:itemID="{88E1C377-323A-49CA-A243-4E3AF2C46FD5}">
  <ds:schemaRefs>
    <ds:schemaRef ds:uri="http://schemas.openxmlformats.org/package/2006/metadata/core-properties"/>
    <ds:schemaRef ds:uri="ba822b70-6078-407b-9df2-075fd966bc17"/>
    <ds:schemaRef ds:uri="http://schemas.microsoft.com/office/2006/documentManagement/types"/>
    <ds:schemaRef ds:uri="http://purl.org/dc/terms/"/>
    <ds:schemaRef ds:uri="http://purl.org/dc/dcmitype/"/>
    <ds:schemaRef ds:uri="http://schemas.microsoft.com/office/infopath/2007/PartnerControls"/>
    <ds:schemaRef ds:uri="af5a9b6f-90d1-4e94-ad6a-4d32e435a3f7"/>
    <ds:schemaRef ds:uri="http://schemas.microsoft.com/office/2006/metadata/propertie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CSc</Template>
  <TotalTime>777</TotalTime>
  <Words>5161</Words>
  <Application>Microsoft Macintosh PowerPoint</Application>
  <PresentationFormat>Widescreen</PresentationFormat>
  <Paragraphs>426</Paragraphs>
  <Slides>42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42</vt:i4>
      </vt:variant>
    </vt:vector>
  </HeadingPairs>
  <TitlesOfParts>
    <vt:vector size="48" baseType="lpstr">
      <vt:lpstr>Aptos</vt:lpstr>
      <vt:lpstr>Arial</vt:lpstr>
      <vt:lpstr>Century Gothic</vt:lpstr>
      <vt:lpstr>jakarta</vt:lpstr>
      <vt:lpstr>Symbol</vt:lpstr>
      <vt:lpstr>CSc</vt:lpstr>
      <vt:lpstr>Learning Aims</vt:lpstr>
      <vt:lpstr>Operating system</vt:lpstr>
      <vt:lpstr>What is an operating system?</vt:lpstr>
      <vt:lpstr>Functions of an operating system</vt:lpstr>
      <vt:lpstr>The basic functions of an operating system include the following:</vt:lpstr>
      <vt:lpstr>PowerPoint Presentation</vt:lpstr>
      <vt:lpstr>PowerPoint Presentation</vt:lpstr>
      <vt:lpstr>What is an OS?</vt:lpstr>
      <vt:lpstr>What are the different types of operating systems?</vt:lpstr>
      <vt:lpstr>Examples</vt:lpstr>
      <vt:lpstr>Worked Example</vt:lpstr>
      <vt:lpstr>Worked Example</vt:lpstr>
      <vt:lpstr>What is memory management?</vt:lpstr>
      <vt:lpstr>What are interrupts?</vt:lpstr>
      <vt:lpstr>Types of interrupts</vt:lpstr>
      <vt:lpstr>The interrupt process</vt:lpstr>
      <vt:lpstr>PowerPoint Presentation</vt:lpstr>
      <vt:lpstr>What is an ISR?</vt:lpstr>
      <vt:lpstr>Interrupt priority and nesting</vt:lpstr>
      <vt:lpstr>Interrupt priority handling</vt:lpstr>
      <vt:lpstr>Interrupt sequence </vt:lpstr>
      <vt:lpstr>Scheduling</vt:lpstr>
      <vt:lpstr>Scheduling categories</vt:lpstr>
      <vt:lpstr>Round robin (RR)</vt:lpstr>
      <vt:lpstr>First-Come-First-Served (FCFS)</vt:lpstr>
      <vt:lpstr>Multi-Level Feedback Queue (MLFQ)</vt:lpstr>
      <vt:lpstr>Shortest job first (SJF)</vt:lpstr>
      <vt:lpstr>Shortest remaining time first (SRTF)</vt:lpstr>
      <vt:lpstr>Comparison and summary of scheduling algorithms</vt:lpstr>
      <vt:lpstr>Worked Example</vt:lpstr>
      <vt:lpstr>What is paging?</vt:lpstr>
      <vt:lpstr>What is segmentation?</vt:lpstr>
      <vt:lpstr>What is virtual memory?</vt:lpstr>
      <vt:lpstr>Worked Example</vt:lpstr>
      <vt:lpstr>Worked Example</vt:lpstr>
      <vt:lpstr>What does BIOS mean?</vt:lpstr>
      <vt:lpstr>Worked Example</vt:lpstr>
      <vt:lpstr>What is a Device Driver?</vt:lpstr>
      <vt:lpstr>Worked Example</vt:lpstr>
      <vt:lpstr>What are virtual machines?</vt:lpstr>
      <vt:lpstr>Benefits and drawbacks</vt:lpstr>
      <vt:lpstr>Worked Example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Elizabeth Allgar</dc:creator>
  <cp:lastModifiedBy>E. Allgar</cp:lastModifiedBy>
  <cp:revision>4</cp:revision>
  <dcterms:created xsi:type="dcterms:W3CDTF">2024-07-24T08:40:06Z</dcterms:created>
  <dcterms:modified xsi:type="dcterms:W3CDTF">2025-12-02T14:45:57Z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0x0101004850CF4CB767594CAB58E67B9F0BE67A</vt:lpwstr>
  </property>
  <property fmtid="{D5CDD505-2E9C-101B-9397-08002B2CF9AE}" pid="3" name="_SourceUrl">
    <vt:lpwstr/>
  </property>
  <property fmtid="{D5CDD505-2E9C-101B-9397-08002B2CF9AE}" pid="4" name="_SharedFileIndex">
    <vt:lpwstr/>
  </property>
  <property fmtid="{D5CDD505-2E9C-101B-9397-08002B2CF9AE}" pid="5" name="ComplianceAssetId">
    <vt:lpwstr/>
  </property>
  <property fmtid="{D5CDD505-2E9C-101B-9397-08002B2CF9AE}" pid="6" name="_ExtendedDescription">
    <vt:lpwstr/>
  </property>
  <property fmtid="{D5CDD505-2E9C-101B-9397-08002B2CF9AE}" pid="7" name="TriggerFlowInfo">
    <vt:lpwstr/>
  </property>
  <property fmtid="{D5CDD505-2E9C-101B-9397-08002B2CF9AE}" pid="8" name="MediaServiceImageTags">
    <vt:lpwstr/>
  </property>
</Properties>
</file>